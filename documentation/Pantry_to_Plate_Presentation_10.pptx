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3" r:id="rId8"/>
    <p:sldId id="264"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2367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 0:20]
Hello, we are Aryan and Shreyash. Our project is Pantry-to-Plate, an intelligent nutrition, pantry and grocery planning system.
We'll cover the problem, the architecture and techniques, the data, what we optimise and how we evaluate it, and how the system explains itself.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 1:00]
Households usually plan meals without considering, all at once, what is already at home, how long perishables will last, nutrition, dietary restrictions and preferences.
Recipe search solves a single meal. Pantry-to-Plate plans a constrained week: it uses pantry and perishable items first, meets diet and nutrition constraints, respects preferences and minimises extra groceries. Commercially, it becomes a grocery subscription that sends only the missing ingredients.
Our five objectives are at the bottom, and the MVP is deliberately narrow: one user, one seven-day plan, mainly dinners.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 1:45]
This is the end-to-end flow. The user gives a profile and a free-text pantry. The NLP layer normalises every item into a canonical ingredient.
We then enrich from the knowledge layer (expiry knowledge, recipe candidates and nutrition), backed by Food.com, USDA FoodData Central and FoodKeeper.
The decision stage applies hard rules, then preference scoring, then the weekly optimiser. The output is seven dinners, a grocery box of only the missing items, and a plain-English explanation.
Key design choice: the LLM is only the interface and explanation layer. Rules and optimisation make the decisions, so they stay measurable and reproducible.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 | 2:50]
We combine four techniques.
A, machine learning: a preference model learns from likes and dislikes, cuisine preferences, meal ratings and accepted or rejected recommendations. We start with content-based recommendation, and its preference score feeds the optimiser. Collaborative filtering is a future extension once we have multi-user data.
B, rule-based reasoning: domain knowledge is encoded as explicit rules, for example excluding peanut recipes for a peanut allergy, or allowing milk plus lemon when buttermilk is missing. This keeps hard constraints separate from soft preferences.
C, the core engine: multi-objective optimisation, using constraint programming with OR-Tools or a genetic algorithm, picks the best combination of meals for the whole week, and we compare it with greedy baselines.
D, the NLP or LLM layer turns free text into structured pantry data. It never makes the final decision; it only explains the result.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 3:30]
For data, we don't look for one dataset that has everything. Three public sources: Food.com for candidate recipes, USDA FoodData Central for nutrition, and USDA FoodKeeper for shelf-life estimates. Two team-built datasets are for evaluation.
The central challenge is ingredient normalisation: "2 cups chopped baby spinach", "fresh spinach leaves" and "spinach" must all map to one canonical ingredient before we can join nutrition and shelf-life data.
Recipe nutrition is then computed from grams, never estimated by an LLM, and user-entered shelf life stays an estimate with a confidence level.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 5:00]
The optimiser picks one dinner per day by minimising a weighted sum of four costs.
Waste comes from simulating the week: food still unused when it expires counts as waste, so the pantry gets used and urgent items are cooked first. Grocery requirements are what the recipes need minus the pantry. Nutrition deviation compares intake, computed from USDA values, with the target range. The penalties cover cooking time, dislikes, cuisine and variety.
Safety is not in the sum: allergy, diet and known use-by dates are hard constraints. We scale each cost to 0–1 and tune the weights on a validation split, never the test set. We evaluate on these same costs on purpose, because our claim is that joint weekly planning beats greedy planning on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 5:45]
We evaluate with eight measures, each against a simple baseline. Pantry utilisation, food waste and extra groceries measure planning efficiency. Constraint safety must be zero violations. Nutrition adherence and preference quality check health and personal fit. The NLP component gets precision, recall and F1 on held-out labels, and robustness measures how much the plan degrades under expiry and quantity changes.
The process has three stages: gate the data quality first, then compare against the baselines, then remove expiry awareness, nutrition optimisation and preference scoring one at a time to see what each contributes.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 6:35]
Explainability matters because users should understand why a meal was chosen and scheduled on a given day, instead of receiving a black-box plan, and should see the trade-offs between nutrition, expiry, preferences and groceries.
For every recommended meal we expose the factors behind the optimiser's choice. For example, Palak Paneer on Monday: spinach has the shortest shelf life, it uses 300 grams of pantry ingredients, matches the vegetarian preference, fits the nutrition target and needs only one extra grocery item.
We support six types of explanation, from expiry to substitution. And counterfactual explanations answer questions like "why wasn't Recipe X selected?" or "what if I don't want paneer?" by showing what would change.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 7:05]
In the demo, the user types their pantry in plain English, the system optimises the week, shows seven dinners with the key metrics, explains each meal and produces the grocery box.
Our next steps are data first: inspect the sources, define schemas, build normalisation, join to USDA and FoodKeeper, and freeze the test sets. Only then do we compare methods.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2.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2.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2.png"/><Relationship Id="rId10" Type="http://schemas.openxmlformats.org/officeDocument/2006/relationships/image" Target="../media/image36.png"/><Relationship Id="rId4" Type="http://schemas.openxmlformats.org/officeDocument/2006/relationships/image" Target="../media/image33.png"/><Relationship Id="rId9" Type="http://schemas.openxmlformats.org/officeDocument/2006/relationships/image" Target="../media/image35.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42A"/>
        </a:solidFill>
        <a:effectLst/>
      </p:bgPr>
    </p:bg>
    <p:spTree>
      <p:nvGrpSpPr>
        <p:cNvPr id="1" name=""/>
        <p:cNvGrpSpPr/>
        <p:nvPr/>
      </p:nvGrpSpPr>
      <p:grpSpPr>
        <a:xfrm>
          <a:off x="0" y="0"/>
          <a:ext cx="0" cy="0"/>
          <a:chOff x="0" y="0"/>
          <a:chExt cx="0" cy="0"/>
        </a:xfrm>
      </p:grpSpPr>
      <p:sp>
        <p:nvSpPr>
          <p:cNvPr id="2" name="Text 0"/>
          <p:cNvSpPr txBox="1"/>
          <p:nvPr/>
        </p:nvSpPr>
        <p:spPr>
          <a:xfrm>
            <a:off x="685800" y="1188720"/>
            <a:ext cx="6766560" cy="274320"/>
          </a:xfrm>
          <a:prstGeom prst="rect">
            <a:avLst/>
          </a:prstGeom>
          <a:noFill/>
          <a:ln/>
        </p:spPr>
        <p:txBody>
          <a:bodyPr wrap="square" lIns="0" tIns="0" rIns="0" bIns="0" rtlCol="0" anchor="t"/>
          <a:lstStyle/>
          <a:p>
            <a:pPr marL="0" indent="0">
              <a:buNone/>
            </a:pPr>
            <a:r>
              <a:rPr lang="en-US" sz="1200" b="1" kern="0" spc="150" dirty="0">
                <a:solidFill>
                  <a:srgbClr val="F4A261"/>
                </a:solidFill>
                <a:latin typeface="Calibri" pitchFamily="34" charset="0"/>
                <a:ea typeface="Calibri" pitchFamily="34" charset="-122"/>
                <a:cs typeface="Calibri" pitchFamily="34" charset="-120"/>
              </a:rPr>
              <a:t>NUS-ISS  ·  INTELLIGENT REASONING SYSTEMS  ·  PRACTICE MODULE</a:t>
            </a:r>
            <a:endParaRPr lang="en-US" sz="1200" dirty="0"/>
          </a:p>
        </p:txBody>
      </p:sp>
      <p:sp>
        <p:nvSpPr>
          <p:cNvPr id="3" name="Text 1"/>
          <p:cNvSpPr txBox="1"/>
          <p:nvPr/>
        </p:nvSpPr>
        <p:spPr>
          <a:xfrm>
            <a:off x="685800" y="1572768"/>
            <a:ext cx="6766560" cy="100584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Pantry-to-Plate</a:t>
            </a:r>
            <a:endParaRPr lang="en-US" sz="6000" dirty="0"/>
          </a:p>
        </p:txBody>
      </p:sp>
      <p:sp>
        <p:nvSpPr>
          <p:cNvPr id="4" name="Text 2"/>
          <p:cNvSpPr txBox="1"/>
          <p:nvPr/>
        </p:nvSpPr>
        <p:spPr>
          <a:xfrm>
            <a:off x="685800" y="2670048"/>
            <a:ext cx="6309360" cy="822960"/>
          </a:xfrm>
          <a:prstGeom prst="rect">
            <a:avLst/>
          </a:prstGeom>
          <a:noFill/>
          <a:ln/>
        </p:spPr>
        <p:txBody>
          <a:bodyPr wrap="square" lIns="0" tIns="0" rIns="0" bIns="0" rtlCol="0" anchor="t"/>
          <a:lstStyle/>
          <a:p>
            <a:pPr marL="0" indent="0">
              <a:buNone/>
            </a:pPr>
            <a:r>
              <a:rPr lang="en-US" sz="2400" dirty="0">
                <a:solidFill>
                  <a:srgbClr val="CFE3D8"/>
                </a:solidFill>
                <a:latin typeface="Calibri" pitchFamily="34" charset="0"/>
                <a:ea typeface="Calibri" pitchFamily="34" charset="-122"/>
                <a:cs typeface="Calibri" pitchFamily="34" charset="-120"/>
              </a:rPr>
              <a:t>Intelligent Nutrition, Pantry &amp;</a:t>
            </a:r>
            <a:endParaRPr lang="en-US" sz="2400" dirty="0"/>
          </a:p>
          <a:p>
            <a:pPr marL="0" indent="0">
              <a:buNone/>
            </a:pPr>
            <a:r>
              <a:rPr lang="en-US" sz="2400" dirty="0">
                <a:solidFill>
                  <a:srgbClr val="CFE3D8"/>
                </a:solidFill>
                <a:latin typeface="Calibri" pitchFamily="34" charset="0"/>
                <a:ea typeface="Calibri" pitchFamily="34" charset="-122"/>
                <a:cs typeface="Calibri" pitchFamily="34" charset="-120"/>
              </a:rPr>
              <a:t>Grocery Planning System</a:t>
            </a:r>
            <a:endParaRPr lang="en-US" sz="2400" dirty="0"/>
          </a:p>
        </p:txBody>
      </p:sp>
      <p:sp>
        <p:nvSpPr>
          <p:cNvPr id="5" name="Text 3"/>
          <p:cNvSpPr txBox="1"/>
          <p:nvPr/>
        </p:nvSpPr>
        <p:spPr>
          <a:xfrm>
            <a:off x="685800" y="3675888"/>
            <a:ext cx="6035040" cy="685800"/>
          </a:xfrm>
          <a:prstGeom prst="rect">
            <a:avLst/>
          </a:prstGeom>
          <a:noFill/>
          <a:ln/>
        </p:spPr>
        <p:txBody>
          <a:bodyPr wrap="square" lIns="0" tIns="0" rIns="0" bIns="0" rtlCol="0" anchor="t"/>
          <a:lstStyle/>
          <a:p>
            <a:pPr marL="0" indent="0">
              <a:buNone/>
            </a:pPr>
            <a:r>
              <a:rPr lang="en-US" sz="1600" i="1" dirty="0">
                <a:solidFill>
                  <a:srgbClr val="A9C9B8"/>
                </a:solidFill>
                <a:latin typeface="Calibri" pitchFamily="34" charset="0"/>
                <a:ea typeface="Calibri" pitchFamily="34" charset="-122"/>
                <a:cs typeface="Calibri" pitchFamily="34" charset="-120"/>
              </a:rPr>
              <a:t>A seven-day meal planner that uses what is already in the kitchen first, and orders only what is missing.</a:t>
            </a:r>
            <a:endParaRPr lang="en-US" sz="1600" dirty="0"/>
          </a:p>
        </p:txBody>
      </p:sp>
      <p:sp>
        <p:nvSpPr>
          <p:cNvPr id="6" name="Text 4"/>
          <p:cNvSpPr txBox="1"/>
          <p:nvPr/>
        </p:nvSpPr>
        <p:spPr>
          <a:xfrm>
            <a:off x="685800" y="4892040"/>
            <a:ext cx="640080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Aryan Chopra  ·  Shreyash Sarade</a:t>
            </a:r>
            <a:endParaRPr lang="en-US" sz="1800" dirty="0"/>
          </a:p>
        </p:txBody>
      </p:sp>
      <p:sp>
        <p:nvSpPr>
          <p:cNvPr id="7" name="Text 5"/>
          <p:cNvSpPr txBox="1"/>
          <p:nvPr/>
        </p:nvSpPr>
        <p:spPr>
          <a:xfrm>
            <a:off x="685800" y="5303520"/>
            <a:ext cx="6400800" cy="320040"/>
          </a:xfrm>
          <a:prstGeom prst="rect">
            <a:avLst/>
          </a:prstGeom>
          <a:noFill/>
          <a:ln/>
        </p:spPr>
        <p:txBody>
          <a:bodyPr wrap="square" lIns="0" tIns="0" rIns="0" bIns="0" rtlCol="0" anchor="t"/>
          <a:lstStyle/>
          <a:p>
            <a:pPr marL="0" indent="0">
              <a:buNone/>
            </a:pPr>
            <a:r>
              <a:rPr lang="en-US" sz="1300" dirty="0">
                <a:solidFill>
                  <a:srgbClr val="A9C9B8"/>
                </a:solidFill>
                <a:latin typeface="Calibri" pitchFamily="34" charset="0"/>
                <a:ea typeface="Calibri" pitchFamily="34" charset="-122"/>
                <a:cs typeface="Calibri" pitchFamily="34" charset="-120"/>
              </a:rPr>
              <a:t>Project proposal  ·  September 2026</a:t>
            </a:r>
            <a:endParaRPr lang="en-US" sz="1300" dirty="0"/>
          </a:p>
        </p:txBody>
      </p:sp>
      <p:sp>
        <p:nvSpPr>
          <p:cNvPr id="8" name="Shape 6"/>
          <p:cNvSpPr/>
          <p:nvPr/>
        </p:nvSpPr>
        <p:spPr>
          <a:xfrm>
            <a:off x="7726680" y="914400"/>
            <a:ext cx="3840480" cy="5029200"/>
          </a:xfrm>
          <a:prstGeom prst="roundRect">
            <a:avLst>
              <a:gd name="adj" fmla="val 3810"/>
            </a:avLst>
          </a:prstGeom>
          <a:solidFill>
            <a:srgbClr val="FFFFFF"/>
          </a:solidFill>
          <a:ln/>
          <a:effectLst>
            <a:outerShdw blurRad="101600" dist="25400" dir="54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8001000" y="1188720"/>
            <a:ext cx="329184" cy="329184"/>
          </a:xfrm>
          <a:prstGeom prst="rect">
            <a:avLst/>
          </a:prstGeom>
        </p:spPr>
      </p:pic>
      <p:sp>
        <p:nvSpPr>
          <p:cNvPr id="10" name="Text 7"/>
          <p:cNvSpPr txBox="1"/>
          <p:nvPr/>
        </p:nvSpPr>
        <p:spPr>
          <a:xfrm>
            <a:off x="8430768" y="1152144"/>
            <a:ext cx="2926080" cy="402336"/>
          </a:xfrm>
          <a:prstGeom prst="rect">
            <a:avLst/>
          </a:prstGeom>
          <a:noFill/>
          <a:ln/>
        </p:spPr>
        <p:txBody>
          <a:bodyPr wrap="square" lIns="0" tIns="0" rIns="0" bIns="0" rtlCol="0" anchor="ctr"/>
          <a:lstStyle/>
          <a:p>
            <a:pPr marL="0" indent="0">
              <a:buNone/>
            </a:pPr>
            <a:r>
              <a:rPr lang="en-US" sz="1600" b="1" dirty="0">
                <a:solidFill>
                  <a:srgbClr val="13342A"/>
                </a:solidFill>
                <a:latin typeface="Calibri" pitchFamily="34" charset="0"/>
                <a:ea typeface="Calibri" pitchFamily="34" charset="-122"/>
                <a:cs typeface="Calibri" pitchFamily="34" charset="-120"/>
              </a:rPr>
              <a:t>This week's dinners</a:t>
            </a:r>
            <a:endParaRPr lang="en-US" sz="1600" dirty="0"/>
          </a:p>
        </p:txBody>
      </p:sp>
      <p:sp>
        <p:nvSpPr>
          <p:cNvPr id="11" name="Text 8"/>
          <p:cNvSpPr txBox="1"/>
          <p:nvPr/>
        </p:nvSpPr>
        <p:spPr>
          <a:xfrm>
            <a:off x="8001000" y="1810512"/>
            <a:ext cx="566928" cy="329184"/>
          </a:xfrm>
          <a:prstGeom prst="rect">
            <a:avLst/>
          </a:prstGeom>
          <a:noFill/>
          <a:ln/>
        </p:spPr>
        <p:txBody>
          <a:bodyPr wrap="square" lIns="0" tIns="0" rIns="0" bIns="0" rtlCol="0" anchor="ctr"/>
          <a:lstStyle/>
          <a:p>
            <a:pPr marL="0" indent="0">
              <a:buNone/>
            </a:pPr>
            <a:r>
              <a:rPr lang="en-US" sz="1200" b="1" dirty="0">
                <a:solidFill>
                  <a:srgbClr val="5A6B63"/>
                </a:solidFill>
                <a:latin typeface="Calibri" pitchFamily="34" charset="0"/>
                <a:ea typeface="Calibri" pitchFamily="34" charset="-122"/>
                <a:cs typeface="Calibri" pitchFamily="34" charset="-120"/>
              </a:rPr>
              <a:t>Mon</a:t>
            </a:r>
            <a:endParaRPr lang="en-US" sz="1200" dirty="0"/>
          </a:p>
        </p:txBody>
      </p:sp>
      <p:sp>
        <p:nvSpPr>
          <p:cNvPr id="12" name="Text 9"/>
          <p:cNvSpPr/>
          <p:nvPr/>
        </p:nvSpPr>
        <p:spPr>
          <a:xfrm>
            <a:off x="8613648" y="1828800"/>
            <a:ext cx="2743200" cy="292608"/>
          </a:xfrm>
          <a:prstGeom prst="roundRect">
            <a:avLst>
              <a:gd name="adj" fmla="val 31250"/>
            </a:avLst>
          </a:prstGeom>
          <a:solidFill>
            <a:srgbClr val="FCE3D0"/>
          </a:solidFill>
          <a:ln/>
        </p:spPr>
        <p:txBody>
          <a:bodyPr wrap="square" lIns="101600" tIns="0" rIns="50800" bIns="0" rtlCol="0" anchor="ctr"/>
          <a:lstStyle/>
          <a:p>
            <a:pPr marL="0" indent="0">
              <a:buNone/>
            </a:pPr>
            <a:r>
              <a:rPr lang="en-US" sz="1100" b="1" dirty="0">
                <a:solidFill>
                  <a:srgbClr val="A84B1A"/>
                </a:solidFill>
                <a:latin typeface="Calibri" pitchFamily="34" charset="0"/>
                <a:ea typeface="Calibri" pitchFamily="34" charset="-122"/>
                <a:cs typeface="Calibri" pitchFamily="34" charset="-120"/>
              </a:rPr>
              <a:t>Spinach first: expires soonest</a:t>
            </a:r>
            <a:endParaRPr lang="en-US" sz="1100" dirty="0"/>
          </a:p>
        </p:txBody>
      </p:sp>
      <p:sp>
        <p:nvSpPr>
          <p:cNvPr id="13" name="Text 10"/>
          <p:cNvSpPr txBox="1"/>
          <p:nvPr/>
        </p:nvSpPr>
        <p:spPr>
          <a:xfrm>
            <a:off x="8001000" y="2295144"/>
            <a:ext cx="566928" cy="329184"/>
          </a:xfrm>
          <a:prstGeom prst="rect">
            <a:avLst/>
          </a:prstGeom>
          <a:noFill/>
          <a:ln/>
        </p:spPr>
        <p:txBody>
          <a:bodyPr wrap="square" lIns="0" tIns="0" rIns="0" bIns="0" rtlCol="0" anchor="ctr"/>
          <a:lstStyle/>
          <a:p>
            <a:pPr marL="0" indent="0">
              <a:buNone/>
            </a:pPr>
            <a:r>
              <a:rPr lang="en-US" sz="1200" b="1" dirty="0">
                <a:solidFill>
                  <a:srgbClr val="5A6B63"/>
                </a:solidFill>
                <a:latin typeface="Calibri" pitchFamily="34" charset="0"/>
                <a:ea typeface="Calibri" pitchFamily="34" charset="-122"/>
                <a:cs typeface="Calibri" pitchFamily="34" charset="-120"/>
              </a:rPr>
              <a:t>Tue</a:t>
            </a:r>
            <a:endParaRPr lang="en-US" sz="1200" dirty="0"/>
          </a:p>
        </p:txBody>
      </p:sp>
      <p:sp>
        <p:nvSpPr>
          <p:cNvPr id="14" name="Shape 11"/>
          <p:cNvSpPr/>
          <p:nvPr/>
        </p:nvSpPr>
        <p:spPr>
          <a:xfrm>
            <a:off x="8613648" y="2313432"/>
            <a:ext cx="2286000" cy="292608"/>
          </a:xfrm>
          <a:prstGeom prst="roundRect">
            <a:avLst>
              <a:gd name="adj" fmla="val 31250"/>
            </a:avLst>
          </a:prstGeom>
          <a:solidFill>
            <a:srgbClr val="E3EFE8"/>
          </a:solidFill>
          <a:ln/>
        </p:spPr>
      </p:sp>
      <p:sp>
        <p:nvSpPr>
          <p:cNvPr id="15" name="Text 12"/>
          <p:cNvSpPr txBox="1"/>
          <p:nvPr/>
        </p:nvSpPr>
        <p:spPr>
          <a:xfrm>
            <a:off x="8001000" y="2779776"/>
            <a:ext cx="566928" cy="329184"/>
          </a:xfrm>
          <a:prstGeom prst="rect">
            <a:avLst/>
          </a:prstGeom>
          <a:noFill/>
          <a:ln/>
        </p:spPr>
        <p:txBody>
          <a:bodyPr wrap="square" lIns="0" tIns="0" rIns="0" bIns="0" rtlCol="0" anchor="ctr"/>
          <a:lstStyle/>
          <a:p>
            <a:pPr marL="0" indent="0">
              <a:buNone/>
            </a:pPr>
            <a:r>
              <a:rPr lang="en-US" sz="1200" b="1" dirty="0">
                <a:solidFill>
                  <a:srgbClr val="5A6B63"/>
                </a:solidFill>
                <a:latin typeface="Calibri" pitchFamily="34" charset="0"/>
                <a:ea typeface="Calibri" pitchFamily="34" charset="-122"/>
                <a:cs typeface="Calibri" pitchFamily="34" charset="-120"/>
              </a:rPr>
              <a:t>Wed</a:t>
            </a:r>
            <a:endParaRPr lang="en-US" sz="1200" dirty="0"/>
          </a:p>
        </p:txBody>
      </p:sp>
      <p:sp>
        <p:nvSpPr>
          <p:cNvPr id="16" name="Shape 13"/>
          <p:cNvSpPr/>
          <p:nvPr/>
        </p:nvSpPr>
        <p:spPr>
          <a:xfrm>
            <a:off x="8613648" y="2798064"/>
            <a:ext cx="2560320" cy="292608"/>
          </a:xfrm>
          <a:prstGeom prst="roundRect">
            <a:avLst>
              <a:gd name="adj" fmla="val 31250"/>
            </a:avLst>
          </a:prstGeom>
          <a:solidFill>
            <a:srgbClr val="E3EFE8"/>
          </a:solidFill>
          <a:ln/>
        </p:spPr>
      </p:sp>
      <p:sp>
        <p:nvSpPr>
          <p:cNvPr id="17" name="Text 14"/>
          <p:cNvSpPr txBox="1"/>
          <p:nvPr/>
        </p:nvSpPr>
        <p:spPr>
          <a:xfrm>
            <a:off x="8001000" y="3264408"/>
            <a:ext cx="566928" cy="329184"/>
          </a:xfrm>
          <a:prstGeom prst="rect">
            <a:avLst/>
          </a:prstGeom>
          <a:noFill/>
          <a:ln/>
        </p:spPr>
        <p:txBody>
          <a:bodyPr wrap="square" lIns="0" tIns="0" rIns="0" bIns="0" rtlCol="0" anchor="ctr"/>
          <a:lstStyle/>
          <a:p>
            <a:pPr marL="0" indent="0">
              <a:buNone/>
            </a:pPr>
            <a:r>
              <a:rPr lang="en-US" sz="1200" b="1" dirty="0">
                <a:solidFill>
                  <a:srgbClr val="5A6B63"/>
                </a:solidFill>
                <a:latin typeface="Calibri" pitchFamily="34" charset="0"/>
                <a:ea typeface="Calibri" pitchFamily="34" charset="-122"/>
                <a:cs typeface="Calibri" pitchFamily="34" charset="-120"/>
              </a:rPr>
              <a:t>Thu</a:t>
            </a:r>
            <a:endParaRPr lang="en-US" sz="1200" dirty="0"/>
          </a:p>
        </p:txBody>
      </p:sp>
      <p:sp>
        <p:nvSpPr>
          <p:cNvPr id="18" name="Shape 15"/>
          <p:cNvSpPr/>
          <p:nvPr/>
        </p:nvSpPr>
        <p:spPr>
          <a:xfrm>
            <a:off x="8613648" y="3282696"/>
            <a:ext cx="2011680" cy="292608"/>
          </a:xfrm>
          <a:prstGeom prst="roundRect">
            <a:avLst>
              <a:gd name="adj" fmla="val 31250"/>
            </a:avLst>
          </a:prstGeom>
          <a:solidFill>
            <a:srgbClr val="E3EFE8"/>
          </a:solidFill>
          <a:ln/>
        </p:spPr>
      </p:sp>
      <p:sp>
        <p:nvSpPr>
          <p:cNvPr id="19" name="Text 16"/>
          <p:cNvSpPr txBox="1"/>
          <p:nvPr/>
        </p:nvSpPr>
        <p:spPr>
          <a:xfrm>
            <a:off x="8001000" y="3749040"/>
            <a:ext cx="566928" cy="329184"/>
          </a:xfrm>
          <a:prstGeom prst="rect">
            <a:avLst/>
          </a:prstGeom>
          <a:noFill/>
          <a:ln/>
        </p:spPr>
        <p:txBody>
          <a:bodyPr wrap="square" lIns="0" tIns="0" rIns="0" bIns="0" rtlCol="0" anchor="ctr"/>
          <a:lstStyle/>
          <a:p>
            <a:pPr marL="0" indent="0">
              <a:buNone/>
            </a:pPr>
            <a:r>
              <a:rPr lang="en-US" sz="1200" b="1" dirty="0">
                <a:solidFill>
                  <a:srgbClr val="5A6B63"/>
                </a:solidFill>
                <a:latin typeface="Calibri" pitchFamily="34" charset="0"/>
                <a:ea typeface="Calibri" pitchFamily="34" charset="-122"/>
                <a:cs typeface="Calibri" pitchFamily="34" charset="-120"/>
              </a:rPr>
              <a:t>Fri</a:t>
            </a:r>
            <a:endParaRPr lang="en-US" sz="1200" dirty="0"/>
          </a:p>
        </p:txBody>
      </p:sp>
      <p:sp>
        <p:nvSpPr>
          <p:cNvPr id="20" name="Shape 17"/>
          <p:cNvSpPr/>
          <p:nvPr/>
        </p:nvSpPr>
        <p:spPr>
          <a:xfrm>
            <a:off x="8613648" y="3767328"/>
            <a:ext cx="2423160" cy="292608"/>
          </a:xfrm>
          <a:prstGeom prst="roundRect">
            <a:avLst>
              <a:gd name="adj" fmla="val 31250"/>
            </a:avLst>
          </a:prstGeom>
          <a:solidFill>
            <a:srgbClr val="E3EFE8"/>
          </a:solidFill>
          <a:ln/>
        </p:spPr>
      </p:sp>
      <p:sp>
        <p:nvSpPr>
          <p:cNvPr id="21" name="Text 18"/>
          <p:cNvSpPr txBox="1"/>
          <p:nvPr/>
        </p:nvSpPr>
        <p:spPr>
          <a:xfrm>
            <a:off x="8001000" y="4233672"/>
            <a:ext cx="566928" cy="329184"/>
          </a:xfrm>
          <a:prstGeom prst="rect">
            <a:avLst/>
          </a:prstGeom>
          <a:noFill/>
          <a:ln/>
        </p:spPr>
        <p:txBody>
          <a:bodyPr wrap="square" lIns="0" tIns="0" rIns="0" bIns="0" rtlCol="0" anchor="ctr"/>
          <a:lstStyle/>
          <a:p>
            <a:pPr marL="0" indent="0">
              <a:buNone/>
            </a:pPr>
            <a:r>
              <a:rPr lang="en-US" sz="1200" b="1" dirty="0">
                <a:solidFill>
                  <a:srgbClr val="5A6B63"/>
                </a:solidFill>
                <a:latin typeface="Calibri" pitchFamily="34" charset="0"/>
                <a:ea typeface="Calibri" pitchFamily="34" charset="-122"/>
                <a:cs typeface="Calibri" pitchFamily="34" charset="-120"/>
              </a:rPr>
              <a:t>Sat</a:t>
            </a:r>
            <a:endParaRPr lang="en-US" sz="1200" dirty="0"/>
          </a:p>
        </p:txBody>
      </p:sp>
      <p:sp>
        <p:nvSpPr>
          <p:cNvPr id="22" name="Shape 19"/>
          <p:cNvSpPr/>
          <p:nvPr/>
        </p:nvSpPr>
        <p:spPr>
          <a:xfrm>
            <a:off x="8613648" y="4251960"/>
            <a:ext cx="2148840" cy="292608"/>
          </a:xfrm>
          <a:prstGeom prst="roundRect">
            <a:avLst>
              <a:gd name="adj" fmla="val 31250"/>
            </a:avLst>
          </a:prstGeom>
          <a:solidFill>
            <a:srgbClr val="E3EFE8"/>
          </a:solidFill>
          <a:ln/>
        </p:spPr>
      </p:sp>
      <p:sp>
        <p:nvSpPr>
          <p:cNvPr id="23" name="Text 20"/>
          <p:cNvSpPr txBox="1"/>
          <p:nvPr/>
        </p:nvSpPr>
        <p:spPr>
          <a:xfrm>
            <a:off x="8001000" y="4718304"/>
            <a:ext cx="566928" cy="329184"/>
          </a:xfrm>
          <a:prstGeom prst="rect">
            <a:avLst/>
          </a:prstGeom>
          <a:noFill/>
          <a:ln/>
        </p:spPr>
        <p:txBody>
          <a:bodyPr wrap="square" lIns="0" tIns="0" rIns="0" bIns="0" rtlCol="0" anchor="ctr"/>
          <a:lstStyle/>
          <a:p>
            <a:pPr marL="0" indent="0">
              <a:buNone/>
            </a:pPr>
            <a:r>
              <a:rPr lang="en-US" sz="1200" b="1" dirty="0">
                <a:solidFill>
                  <a:srgbClr val="5A6B63"/>
                </a:solidFill>
                <a:latin typeface="Calibri" pitchFamily="34" charset="0"/>
                <a:ea typeface="Calibri" pitchFamily="34" charset="-122"/>
                <a:cs typeface="Calibri" pitchFamily="34" charset="-120"/>
              </a:rPr>
              <a:t>Sun</a:t>
            </a:r>
            <a:endParaRPr lang="en-US" sz="1200" dirty="0"/>
          </a:p>
        </p:txBody>
      </p:sp>
      <p:sp>
        <p:nvSpPr>
          <p:cNvPr id="24" name="Shape 21"/>
          <p:cNvSpPr/>
          <p:nvPr/>
        </p:nvSpPr>
        <p:spPr>
          <a:xfrm>
            <a:off x="8613648" y="4736592"/>
            <a:ext cx="2514600" cy="292608"/>
          </a:xfrm>
          <a:prstGeom prst="roundRect">
            <a:avLst>
              <a:gd name="adj" fmla="val 31250"/>
            </a:avLst>
          </a:prstGeom>
          <a:solidFill>
            <a:srgbClr val="E3EFE8"/>
          </a:solidFill>
          <a:ln/>
        </p:spPr>
      </p:sp>
      <p:sp>
        <p:nvSpPr>
          <p:cNvPr id="25" name="Shape 22"/>
          <p:cNvSpPr/>
          <p:nvPr/>
        </p:nvSpPr>
        <p:spPr>
          <a:xfrm>
            <a:off x="8001000" y="5257800"/>
            <a:ext cx="3310128" cy="457200"/>
          </a:xfrm>
          <a:prstGeom prst="roundRect">
            <a:avLst>
              <a:gd name="adj" fmla="val 20000"/>
            </a:avLst>
          </a:prstGeom>
          <a:solidFill>
            <a:srgbClr val="1F5C45"/>
          </a:solidFill>
          <a:ln/>
        </p:spPr>
      </p:sp>
      <p:pic>
        <p:nvPicPr>
          <p:cNvPr id="26" name="Image 1" descr="preencoded.png"/>
          <p:cNvPicPr>
            <a:picLocks noChangeAspect="1"/>
          </p:cNvPicPr>
          <p:nvPr/>
        </p:nvPicPr>
        <p:blipFill>
          <a:blip r:embed="rId4"/>
          <a:stretch>
            <a:fillRect/>
          </a:stretch>
        </p:blipFill>
        <p:spPr>
          <a:xfrm>
            <a:off x="8156448" y="5340096"/>
            <a:ext cx="292608" cy="292608"/>
          </a:xfrm>
          <a:prstGeom prst="rect">
            <a:avLst/>
          </a:prstGeom>
        </p:spPr>
      </p:pic>
      <p:sp>
        <p:nvSpPr>
          <p:cNvPr id="27" name="Text 23"/>
          <p:cNvSpPr txBox="1"/>
          <p:nvPr/>
        </p:nvSpPr>
        <p:spPr>
          <a:xfrm>
            <a:off x="8540496" y="5257800"/>
            <a:ext cx="27432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Grocery box: only what's missing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150" dirty="0">
                <a:solidFill>
                  <a:srgbClr val="D2652A"/>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200" b="1" dirty="0">
                <a:solidFill>
                  <a:srgbClr val="13342A"/>
                </a:solidFill>
                <a:latin typeface="Cambria" pitchFamily="34" charset="0"/>
                <a:ea typeface="Cambria" pitchFamily="34" charset="-122"/>
                <a:cs typeface="Cambria" pitchFamily="34" charset="-120"/>
              </a:rPr>
              <a:t>A week of meals is a constraint problem</a:t>
            </a:r>
            <a:endParaRPr lang="en-US" sz="3200" dirty="0"/>
          </a:p>
        </p:txBody>
      </p:sp>
      <p:sp>
        <p:nvSpPr>
          <p:cNvPr id="4" name="Text 2"/>
          <p:cNvSpPr txBox="1"/>
          <p:nvPr/>
        </p:nvSpPr>
        <p:spPr>
          <a:xfrm>
            <a:off x="548640" y="1444752"/>
            <a:ext cx="5440680" cy="310896"/>
          </a:xfrm>
          <a:prstGeom prst="rect">
            <a:avLst/>
          </a:prstGeom>
          <a:noFill/>
          <a:ln/>
        </p:spPr>
        <p:txBody>
          <a:bodyPr wrap="square" lIns="0" tIns="0" rIns="0" bIns="0" rtlCol="0" anchor="t"/>
          <a:lstStyle/>
          <a:p>
            <a:pPr marL="0" indent="0">
              <a:buNone/>
            </a:pPr>
            <a:r>
              <a:rPr lang="en-US" sz="1500" dirty="0">
                <a:solidFill>
                  <a:srgbClr val="1E2B26"/>
                </a:solidFill>
                <a:latin typeface="Calibri" pitchFamily="34" charset="0"/>
                <a:ea typeface="Calibri" pitchFamily="34" charset="-122"/>
                <a:cs typeface="Calibri" pitchFamily="34" charset="-120"/>
              </a:rPr>
              <a:t>Households rarely weigh all five of these at the same time:</a:t>
            </a:r>
            <a:endParaRPr lang="en-US" sz="1500" dirty="0"/>
          </a:p>
        </p:txBody>
      </p:sp>
      <p:sp>
        <p:nvSpPr>
          <p:cNvPr id="5" name="Shape 3"/>
          <p:cNvSpPr/>
          <p:nvPr/>
        </p:nvSpPr>
        <p:spPr>
          <a:xfrm>
            <a:off x="548640" y="1865376"/>
            <a:ext cx="420624" cy="420624"/>
          </a:xfrm>
          <a:prstGeom prst="ellipse">
            <a:avLst/>
          </a:prstGeom>
          <a:solidFill>
            <a:srgbClr val="EEF5F1"/>
          </a:solidFill>
          <a:ln/>
        </p:spPr>
      </p:sp>
      <p:pic>
        <p:nvPicPr>
          <p:cNvPr id="6" name="Image 0" descr="preencoded.png"/>
          <p:cNvPicPr>
            <a:picLocks noChangeAspect="1"/>
          </p:cNvPicPr>
          <p:nvPr/>
        </p:nvPicPr>
        <p:blipFill>
          <a:blip r:embed="rId3"/>
          <a:stretch>
            <a:fillRect/>
          </a:stretch>
        </p:blipFill>
        <p:spPr>
          <a:xfrm>
            <a:off x="645384" y="1962120"/>
            <a:ext cx="227137" cy="227137"/>
          </a:xfrm>
          <a:prstGeom prst="rect">
            <a:avLst/>
          </a:prstGeom>
        </p:spPr>
      </p:pic>
      <p:sp>
        <p:nvSpPr>
          <p:cNvPr id="7" name="Text 4"/>
          <p:cNvSpPr txBox="1"/>
          <p:nvPr/>
        </p:nvSpPr>
        <p:spPr>
          <a:xfrm>
            <a:off x="1115568" y="1828800"/>
            <a:ext cx="4846320" cy="256032"/>
          </a:xfrm>
          <a:prstGeom prst="rect">
            <a:avLst/>
          </a:prstGeom>
          <a:noFill/>
          <a:ln/>
        </p:spPr>
        <p:txBody>
          <a:bodyPr wrap="square" lIns="0" tIns="0" rIns="0" bIns="0" rtlCol="0" anchor="t"/>
          <a:lstStyle/>
          <a:p>
            <a:pPr marL="0" indent="0">
              <a:buNone/>
            </a:pPr>
            <a:r>
              <a:rPr lang="en-US" sz="1400" b="1" dirty="0">
                <a:solidFill>
                  <a:srgbClr val="13342A"/>
                </a:solidFill>
                <a:latin typeface="Calibri" pitchFamily="34" charset="0"/>
                <a:ea typeface="Calibri" pitchFamily="34" charset="-122"/>
                <a:cs typeface="Calibri" pitchFamily="34" charset="-120"/>
              </a:rPr>
              <a:t>Food already at home</a:t>
            </a:r>
            <a:endParaRPr lang="en-US" sz="1400" dirty="0"/>
          </a:p>
        </p:txBody>
      </p:sp>
      <p:sp>
        <p:nvSpPr>
          <p:cNvPr id="8" name="Text 5"/>
          <p:cNvSpPr txBox="1"/>
          <p:nvPr/>
        </p:nvSpPr>
        <p:spPr>
          <a:xfrm>
            <a:off x="1115568" y="2075688"/>
            <a:ext cx="4846320" cy="237744"/>
          </a:xfrm>
          <a:prstGeom prst="rect">
            <a:avLst/>
          </a:prstGeom>
          <a:noFill/>
          <a:ln/>
        </p:spPr>
        <p:txBody>
          <a:bodyPr wrap="square" lIns="0" tIns="0" rIns="0" bIns="0" rtlCol="0" anchor="t"/>
          <a:lstStyle/>
          <a:p>
            <a:pPr marL="0" indent="0">
              <a:buNone/>
            </a:pPr>
            <a:r>
              <a:rPr lang="en-US" sz="1200" dirty="0">
                <a:solidFill>
                  <a:srgbClr val="5A6B63"/>
                </a:solidFill>
                <a:latin typeface="Calibri" pitchFamily="34" charset="0"/>
                <a:ea typeface="Calibri" pitchFamily="34" charset="-122"/>
                <a:cs typeface="Calibri" pitchFamily="34" charset="-120"/>
              </a:rPr>
              <a:t>What is in the pantry and fridge right now</a:t>
            </a:r>
            <a:endParaRPr lang="en-US" sz="1200" dirty="0"/>
          </a:p>
        </p:txBody>
      </p:sp>
      <p:sp>
        <p:nvSpPr>
          <p:cNvPr id="9" name="Shape 6"/>
          <p:cNvSpPr/>
          <p:nvPr/>
        </p:nvSpPr>
        <p:spPr>
          <a:xfrm>
            <a:off x="548640" y="2414016"/>
            <a:ext cx="420624" cy="420624"/>
          </a:xfrm>
          <a:prstGeom prst="ellipse">
            <a:avLst/>
          </a:prstGeom>
          <a:solidFill>
            <a:srgbClr val="EEF5F1"/>
          </a:solidFill>
          <a:ln/>
        </p:spPr>
      </p:sp>
      <p:pic>
        <p:nvPicPr>
          <p:cNvPr id="10" name="Image 1" descr="preencoded.png"/>
          <p:cNvPicPr>
            <a:picLocks noChangeAspect="1"/>
          </p:cNvPicPr>
          <p:nvPr/>
        </p:nvPicPr>
        <p:blipFill>
          <a:blip r:embed="rId4"/>
          <a:stretch>
            <a:fillRect/>
          </a:stretch>
        </p:blipFill>
        <p:spPr>
          <a:xfrm>
            <a:off x="645384" y="2510760"/>
            <a:ext cx="227137" cy="227137"/>
          </a:xfrm>
          <a:prstGeom prst="rect">
            <a:avLst/>
          </a:prstGeom>
        </p:spPr>
      </p:pic>
      <p:sp>
        <p:nvSpPr>
          <p:cNvPr id="11" name="Text 7"/>
          <p:cNvSpPr txBox="1"/>
          <p:nvPr/>
        </p:nvSpPr>
        <p:spPr>
          <a:xfrm>
            <a:off x="1115568" y="2377440"/>
            <a:ext cx="4846320" cy="256032"/>
          </a:xfrm>
          <a:prstGeom prst="rect">
            <a:avLst/>
          </a:prstGeom>
          <a:noFill/>
          <a:ln/>
        </p:spPr>
        <p:txBody>
          <a:bodyPr wrap="square" lIns="0" tIns="0" rIns="0" bIns="0" rtlCol="0" anchor="t"/>
          <a:lstStyle/>
          <a:p>
            <a:pPr marL="0" indent="0">
              <a:buNone/>
            </a:pPr>
            <a:r>
              <a:rPr lang="en-US" sz="1400" b="1" dirty="0">
                <a:solidFill>
                  <a:srgbClr val="13342A"/>
                </a:solidFill>
                <a:latin typeface="Calibri" pitchFamily="34" charset="0"/>
                <a:ea typeface="Calibri" pitchFamily="34" charset="-122"/>
                <a:cs typeface="Calibri" pitchFamily="34" charset="-120"/>
              </a:rPr>
              <a:t>Shelf life of perishables</a:t>
            </a:r>
            <a:endParaRPr lang="en-US" sz="1400" dirty="0"/>
          </a:p>
        </p:txBody>
      </p:sp>
      <p:sp>
        <p:nvSpPr>
          <p:cNvPr id="12" name="Text 8"/>
          <p:cNvSpPr txBox="1"/>
          <p:nvPr/>
        </p:nvSpPr>
        <p:spPr>
          <a:xfrm>
            <a:off x="1115568" y="2624328"/>
            <a:ext cx="4846320" cy="237744"/>
          </a:xfrm>
          <a:prstGeom prst="rect">
            <a:avLst/>
          </a:prstGeom>
          <a:noFill/>
          <a:ln/>
        </p:spPr>
        <p:txBody>
          <a:bodyPr wrap="square" lIns="0" tIns="0" rIns="0" bIns="0" rtlCol="0" anchor="t"/>
          <a:lstStyle/>
          <a:p>
            <a:pPr marL="0" indent="0">
              <a:buNone/>
            </a:pPr>
            <a:r>
              <a:rPr lang="en-US" sz="1200" dirty="0">
                <a:solidFill>
                  <a:srgbClr val="5A6B63"/>
                </a:solidFill>
                <a:latin typeface="Calibri" pitchFamily="34" charset="0"/>
                <a:ea typeface="Calibri" pitchFamily="34" charset="-122"/>
                <a:cs typeface="Calibri" pitchFamily="34" charset="-120"/>
              </a:rPr>
              <a:t>What will spoil first if it is not used</a:t>
            </a:r>
            <a:endParaRPr lang="en-US" sz="1200" dirty="0"/>
          </a:p>
        </p:txBody>
      </p:sp>
      <p:sp>
        <p:nvSpPr>
          <p:cNvPr id="13" name="Shape 9"/>
          <p:cNvSpPr/>
          <p:nvPr/>
        </p:nvSpPr>
        <p:spPr>
          <a:xfrm>
            <a:off x="548640" y="2962656"/>
            <a:ext cx="420624" cy="420624"/>
          </a:xfrm>
          <a:prstGeom prst="ellipse">
            <a:avLst/>
          </a:prstGeom>
          <a:solidFill>
            <a:srgbClr val="EEF5F1"/>
          </a:solidFill>
          <a:ln/>
        </p:spPr>
      </p:sp>
      <p:pic>
        <p:nvPicPr>
          <p:cNvPr id="14" name="Image 2" descr="preencoded.png"/>
          <p:cNvPicPr>
            <a:picLocks noChangeAspect="1"/>
          </p:cNvPicPr>
          <p:nvPr/>
        </p:nvPicPr>
        <p:blipFill>
          <a:blip r:embed="rId5"/>
          <a:stretch>
            <a:fillRect/>
          </a:stretch>
        </p:blipFill>
        <p:spPr>
          <a:xfrm>
            <a:off x="645384" y="3059400"/>
            <a:ext cx="227137" cy="227137"/>
          </a:xfrm>
          <a:prstGeom prst="rect">
            <a:avLst/>
          </a:prstGeom>
        </p:spPr>
      </p:pic>
      <p:sp>
        <p:nvSpPr>
          <p:cNvPr id="15" name="Text 10"/>
          <p:cNvSpPr txBox="1"/>
          <p:nvPr/>
        </p:nvSpPr>
        <p:spPr>
          <a:xfrm>
            <a:off x="1115568" y="2926080"/>
            <a:ext cx="4846320" cy="256032"/>
          </a:xfrm>
          <a:prstGeom prst="rect">
            <a:avLst/>
          </a:prstGeom>
          <a:noFill/>
          <a:ln/>
        </p:spPr>
        <p:txBody>
          <a:bodyPr wrap="square" lIns="0" tIns="0" rIns="0" bIns="0" rtlCol="0" anchor="t"/>
          <a:lstStyle/>
          <a:p>
            <a:pPr marL="0" indent="0">
              <a:buNone/>
            </a:pPr>
            <a:r>
              <a:rPr lang="en-US" sz="1400" b="1" dirty="0">
                <a:solidFill>
                  <a:srgbClr val="13342A"/>
                </a:solidFill>
                <a:latin typeface="Calibri" pitchFamily="34" charset="0"/>
                <a:ea typeface="Calibri" pitchFamily="34" charset="-122"/>
                <a:cs typeface="Calibri" pitchFamily="34" charset="-120"/>
              </a:rPr>
              <a:t>Nutritional balance</a:t>
            </a:r>
            <a:endParaRPr lang="en-US" sz="1400" dirty="0"/>
          </a:p>
        </p:txBody>
      </p:sp>
      <p:sp>
        <p:nvSpPr>
          <p:cNvPr id="16" name="Text 11"/>
          <p:cNvSpPr txBox="1"/>
          <p:nvPr/>
        </p:nvSpPr>
        <p:spPr>
          <a:xfrm>
            <a:off x="1115568" y="3172968"/>
            <a:ext cx="4846320" cy="237744"/>
          </a:xfrm>
          <a:prstGeom prst="rect">
            <a:avLst/>
          </a:prstGeom>
          <a:noFill/>
          <a:ln/>
        </p:spPr>
        <p:txBody>
          <a:bodyPr wrap="square" lIns="0" tIns="0" rIns="0" bIns="0" rtlCol="0" anchor="t"/>
          <a:lstStyle/>
          <a:p>
            <a:pPr marL="0" indent="0">
              <a:buNone/>
            </a:pPr>
            <a:r>
              <a:rPr lang="en-US" sz="1200" dirty="0">
                <a:solidFill>
                  <a:srgbClr val="5A6B63"/>
                </a:solidFill>
                <a:latin typeface="Calibri" pitchFamily="34" charset="0"/>
                <a:ea typeface="Calibri" pitchFamily="34" charset="-122"/>
                <a:cs typeface="Calibri" pitchFamily="34" charset="-120"/>
              </a:rPr>
              <a:t>Calories and nutrients across the whole week</a:t>
            </a:r>
            <a:endParaRPr lang="en-US" sz="1200" dirty="0"/>
          </a:p>
        </p:txBody>
      </p:sp>
      <p:sp>
        <p:nvSpPr>
          <p:cNvPr id="17" name="Shape 12"/>
          <p:cNvSpPr/>
          <p:nvPr/>
        </p:nvSpPr>
        <p:spPr>
          <a:xfrm>
            <a:off x="548640" y="3511296"/>
            <a:ext cx="420624" cy="420624"/>
          </a:xfrm>
          <a:prstGeom prst="ellipse">
            <a:avLst/>
          </a:prstGeom>
          <a:solidFill>
            <a:srgbClr val="EEF5F1"/>
          </a:solidFill>
          <a:ln/>
        </p:spPr>
      </p:sp>
      <p:pic>
        <p:nvPicPr>
          <p:cNvPr id="18" name="Image 3" descr="preencoded.png"/>
          <p:cNvPicPr>
            <a:picLocks noChangeAspect="1"/>
          </p:cNvPicPr>
          <p:nvPr/>
        </p:nvPicPr>
        <p:blipFill>
          <a:blip r:embed="rId6"/>
          <a:stretch>
            <a:fillRect/>
          </a:stretch>
        </p:blipFill>
        <p:spPr>
          <a:xfrm>
            <a:off x="645384" y="3608040"/>
            <a:ext cx="227137" cy="227137"/>
          </a:xfrm>
          <a:prstGeom prst="rect">
            <a:avLst/>
          </a:prstGeom>
        </p:spPr>
      </p:pic>
      <p:sp>
        <p:nvSpPr>
          <p:cNvPr id="19" name="Text 13"/>
          <p:cNvSpPr txBox="1"/>
          <p:nvPr/>
        </p:nvSpPr>
        <p:spPr>
          <a:xfrm>
            <a:off x="1115568" y="3474720"/>
            <a:ext cx="4846320" cy="256032"/>
          </a:xfrm>
          <a:prstGeom prst="rect">
            <a:avLst/>
          </a:prstGeom>
          <a:noFill/>
          <a:ln/>
        </p:spPr>
        <p:txBody>
          <a:bodyPr wrap="square" lIns="0" tIns="0" rIns="0" bIns="0" rtlCol="0" anchor="t"/>
          <a:lstStyle/>
          <a:p>
            <a:pPr marL="0" indent="0">
              <a:buNone/>
            </a:pPr>
            <a:r>
              <a:rPr lang="en-US" sz="1400" b="1" dirty="0">
                <a:solidFill>
                  <a:srgbClr val="13342A"/>
                </a:solidFill>
                <a:latin typeface="Calibri" pitchFamily="34" charset="0"/>
                <a:ea typeface="Calibri" pitchFamily="34" charset="-122"/>
                <a:cs typeface="Calibri" pitchFamily="34" charset="-120"/>
              </a:rPr>
              <a:t>Dietary restrictions &amp; allergies</a:t>
            </a:r>
            <a:endParaRPr lang="en-US" sz="1400" dirty="0"/>
          </a:p>
        </p:txBody>
      </p:sp>
      <p:sp>
        <p:nvSpPr>
          <p:cNvPr id="20" name="Text 14"/>
          <p:cNvSpPr txBox="1"/>
          <p:nvPr/>
        </p:nvSpPr>
        <p:spPr>
          <a:xfrm>
            <a:off x="1115568" y="3721608"/>
            <a:ext cx="4846320" cy="237744"/>
          </a:xfrm>
          <a:prstGeom prst="rect">
            <a:avLst/>
          </a:prstGeom>
          <a:noFill/>
          <a:ln/>
        </p:spPr>
        <p:txBody>
          <a:bodyPr wrap="square" lIns="0" tIns="0" rIns="0" bIns="0" rtlCol="0" anchor="t"/>
          <a:lstStyle/>
          <a:p>
            <a:pPr marL="0" indent="0">
              <a:buNone/>
            </a:pPr>
            <a:r>
              <a:rPr lang="en-US" sz="1200" dirty="0">
                <a:solidFill>
                  <a:srgbClr val="5A6B63"/>
                </a:solidFill>
                <a:latin typeface="Calibri" pitchFamily="34" charset="0"/>
                <a:ea typeface="Calibri" pitchFamily="34" charset="-122"/>
                <a:cs typeface="Calibri" pitchFamily="34" charset="-120"/>
              </a:rPr>
              <a:t>Rules that must never be broken</a:t>
            </a:r>
            <a:endParaRPr lang="en-US" sz="1200" dirty="0"/>
          </a:p>
        </p:txBody>
      </p:sp>
      <p:sp>
        <p:nvSpPr>
          <p:cNvPr id="21" name="Shape 15"/>
          <p:cNvSpPr/>
          <p:nvPr/>
        </p:nvSpPr>
        <p:spPr>
          <a:xfrm>
            <a:off x="548640" y="4059936"/>
            <a:ext cx="420624" cy="420624"/>
          </a:xfrm>
          <a:prstGeom prst="ellipse">
            <a:avLst/>
          </a:prstGeom>
          <a:solidFill>
            <a:srgbClr val="EEF5F1"/>
          </a:solidFill>
          <a:ln/>
        </p:spPr>
      </p:sp>
      <p:pic>
        <p:nvPicPr>
          <p:cNvPr id="22" name="Image 4" descr="preencoded.png"/>
          <p:cNvPicPr>
            <a:picLocks noChangeAspect="1"/>
          </p:cNvPicPr>
          <p:nvPr/>
        </p:nvPicPr>
        <p:blipFill>
          <a:blip r:embed="rId7"/>
          <a:stretch>
            <a:fillRect/>
          </a:stretch>
        </p:blipFill>
        <p:spPr>
          <a:xfrm>
            <a:off x="645384" y="4156680"/>
            <a:ext cx="227137" cy="227137"/>
          </a:xfrm>
          <a:prstGeom prst="rect">
            <a:avLst/>
          </a:prstGeom>
        </p:spPr>
      </p:pic>
      <p:sp>
        <p:nvSpPr>
          <p:cNvPr id="23" name="Text 16"/>
          <p:cNvSpPr txBox="1"/>
          <p:nvPr/>
        </p:nvSpPr>
        <p:spPr>
          <a:xfrm>
            <a:off x="1115568" y="4023360"/>
            <a:ext cx="4846320" cy="256032"/>
          </a:xfrm>
          <a:prstGeom prst="rect">
            <a:avLst/>
          </a:prstGeom>
          <a:noFill/>
          <a:ln/>
        </p:spPr>
        <p:txBody>
          <a:bodyPr wrap="square" lIns="0" tIns="0" rIns="0" bIns="0" rtlCol="0" anchor="t"/>
          <a:lstStyle/>
          <a:p>
            <a:pPr marL="0" indent="0">
              <a:buNone/>
            </a:pPr>
            <a:r>
              <a:rPr lang="en-US" sz="1400" b="1" dirty="0">
                <a:solidFill>
                  <a:srgbClr val="13342A"/>
                </a:solidFill>
                <a:latin typeface="Calibri" pitchFamily="34" charset="0"/>
                <a:ea typeface="Calibri" pitchFamily="34" charset="-122"/>
                <a:cs typeface="Calibri" pitchFamily="34" charset="-120"/>
              </a:rPr>
              <a:t>Personal preferences</a:t>
            </a:r>
            <a:endParaRPr lang="en-US" sz="1400" dirty="0"/>
          </a:p>
        </p:txBody>
      </p:sp>
      <p:sp>
        <p:nvSpPr>
          <p:cNvPr id="24" name="Text 17"/>
          <p:cNvSpPr txBox="1"/>
          <p:nvPr/>
        </p:nvSpPr>
        <p:spPr>
          <a:xfrm>
            <a:off x="1115568" y="4270248"/>
            <a:ext cx="4846320" cy="237744"/>
          </a:xfrm>
          <a:prstGeom prst="rect">
            <a:avLst/>
          </a:prstGeom>
          <a:noFill/>
          <a:ln/>
        </p:spPr>
        <p:txBody>
          <a:bodyPr wrap="square" lIns="0" tIns="0" rIns="0" bIns="0" rtlCol="0" anchor="t"/>
          <a:lstStyle/>
          <a:p>
            <a:pPr marL="0" indent="0">
              <a:buNone/>
            </a:pPr>
            <a:r>
              <a:rPr lang="en-US" sz="1200" dirty="0">
                <a:solidFill>
                  <a:srgbClr val="5A6B63"/>
                </a:solidFill>
                <a:latin typeface="Calibri" pitchFamily="34" charset="0"/>
                <a:ea typeface="Calibri" pitchFamily="34" charset="-122"/>
                <a:cs typeface="Calibri" pitchFamily="34" charset="-120"/>
              </a:rPr>
              <a:t>Liked and disliked foods, cuisines, cooking time</a:t>
            </a:r>
            <a:endParaRPr lang="en-US" sz="1200" dirty="0"/>
          </a:p>
        </p:txBody>
      </p:sp>
      <p:sp>
        <p:nvSpPr>
          <p:cNvPr id="25" name="Shape 18"/>
          <p:cNvSpPr/>
          <p:nvPr/>
        </p:nvSpPr>
        <p:spPr>
          <a:xfrm>
            <a:off x="6263640" y="1444752"/>
            <a:ext cx="5379415" cy="2240280"/>
          </a:xfrm>
          <a:prstGeom prst="roundRect">
            <a:avLst>
              <a:gd name="adj" fmla="val 4898"/>
            </a:avLst>
          </a:prstGeom>
          <a:solidFill>
            <a:srgbClr val="1F5C45"/>
          </a:solidFill>
          <a:ln/>
        </p:spPr>
      </p:sp>
      <p:sp>
        <p:nvSpPr>
          <p:cNvPr id="26" name="Text 19"/>
          <p:cNvSpPr txBox="1"/>
          <p:nvPr/>
        </p:nvSpPr>
        <p:spPr>
          <a:xfrm>
            <a:off x="6537960" y="1627632"/>
            <a:ext cx="4206240" cy="237744"/>
          </a:xfrm>
          <a:prstGeom prst="rect">
            <a:avLst/>
          </a:prstGeom>
          <a:noFill/>
          <a:ln/>
        </p:spPr>
        <p:txBody>
          <a:bodyPr wrap="square" lIns="0" tIns="0" rIns="0" bIns="0" rtlCol="0" anchor="t"/>
          <a:lstStyle/>
          <a:p>
            <a:pPr marL="0" indent="0">
              <a:buNone/>
            </a:pPr>
            <a:r>
              <a:rPr lang="en-US" sz="1100" b="1" kern="0" spc="150" dirty="0">
                <a:solidFill>
                  <a:srgbClr val="F4A261"/>
                </a:solidFill>
                <a:latin typeface="Calibri" pitchFamily="34" charset="0"/>
                <a:ea typeface="Calibri" pitchFamily="34" charset="-122"/>
                <a:cs typeface="Calibri" pitchFamily="34" charset="-120"/>
              </a:rPr>
              <a:t>OUR ANSWER</a:t>
            </a:r>
            <a:endParaRPr lang="en-US" sz="1100" dirty="0"/>
          </a:p>
        </p:txBody>
      </p:sp>
      <p:sp>
        <p:nvSpPr>
          <p:cNvPr id="27" name="Text 20"/>
          <p:cNvSpPr txBox="1"/>
          <p:nvPr/>
        </p:nvSpPr>
        <p:spPr>
          <a:xfrm>
            <a:off x="6537960" y="1865376"/>
            <a:ext cx="4922215" cy="402336"/>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Plan the whole week, not one recipe</a:t>
            </a:r>
            <a:endParaRPr lang="en-US" sz="1900" dirty="0"/>
          </a:p>
        </p:txBody>
      </p:sp>
      <p:pic>
        <p:nvPicPr>
          <p:cNvPr id="28" name="Image 5" descr="preencoded.png"/>
          <p:cNvPicPr>
            <a:picLocks noChangeAspect="1"/>
          </p:cNvPicPr>
          <p:nvPr/>
        </p:nvPicPr>
        <p:blipFill>
          <a:blip r:embed="rId8"/>
          <a:stretch>
            <a:fillRect/>
          </a:stretch>
        </p:blipFill>
        <p:spPr>
          <a:xfrm>
            <a:off x="6537960" y="2414016"/>
            <a:ext cx="219456" cy="219456"/>
          </a:xfrm>
          <a:prstGeom prst="rect">
            <a:avLst/>
          </a:prstGeom>
        </p:spPr>
      </p:pic>
      <p:sp>
        <p:nvSpPr>
          <p:cNvPr id="29" name="Text 21"/>
          <p:cNvSpPr txBox="1"/>
          <p:nvPr/>
        </p:nvSpPr>
        <p:spPr>
          <a:xfrm>
            <a:off x="6867144" y="2377440"/>
            <a:ext cx="4556455"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Uses pantry and perishable items first</a:t>
            </a:r>
            <a:endParaRPr lang="en-US" sz="1350" dirty="0"/>
          </a:p>
        </p:txBody>
      </p:sp>
      <p:pic>
        <p:nvPicPr>
          <p:cNvPr id="30" name="Image 6" descr="preencoded.png"/>
          <p:cNvPicPr>
            <a:picLocks noChangeAspect="1"/>
          </p:cNvPicPr>
          <p:nvPr/>
        </p:nvPicPr>
        <p:blipFill>
          <a:blip r:embed="rId8"/>
          <a:stretch>
            <a:fillRect/>
          </a:stretch>
        </p:blipFill>
        <p:spPr>
          <a:xfrm>
            <a:off x="6537960" y="2715768"/>
            <a:ext cx="219456" cy="219456"/>
          </a:xfrm>
          <a:prstGeom prst="rect">
            <a:avLst/>
          </a:prstGeom>
        </p:spPr>
      </p:pic>
      <p:sp>
        <p:nvSpPr>
          <p:cNvPr id="31" name="Text 22"/>
          <p:cNvSpPr txBox="1"/>
          <p:nvPr/>
        </p:nvSpPr>
        <p:spPr>
          <a:xfrm>
            <a:off x="6867144" y="2679192"/>
            <a:ext cx="4556455"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Satisfies dietary and nutrition constraints</a:t>
            </a:r>
            <a:endParaRPr lang="en-US" sz="1350" dirty="0"/>
          </a:p>
        </p:txBody>
      </p:sp>
      <p:pic>
        <p:nvPicPr>
          <p:cNvPr id="32" name="Image 7" descr="preencoded.png"/>
          <p:cNvPicPr>
            <a:picLocks noChangeAspect="1"/>
          </p:cNvPicPr>
          <p:nvPr/>
        </p:nvPicPr>
        <p:blipFill>
          <a:blip r:embed="rId8"/>
          <a:stretch>
            <a:fillRect/>
          </a:stretch>
        </p:blipFill>
        <p:spPr>
          <a:xfrm>
            <a:off x="6537960" y="3017520"/>
            <a:ext cx="219456" cy="219456"/>
          </a:xfrm>
          <a:prstGeom prst="rect">
            <a:avLst/>
          </a:prstGeom>
        </p:spPr>
      </p:pic>
      <p:sp>
        <p:nvSpPr>
          <p:cNvPr id="33" name="Text 23"/>
          <p:cNvSpPr txBox="1"/>
          <p:nvPr/>
        </p:nvSpPr>
        <p:spPr>
          <a:xfrm>
            <a:off x="6867144" y="2980944"/>
            <a:ext cx="4556455"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Respects the user's preferences</a:t>
            </a:r>
            <a:endParaRPr lang="en-US" sz="1350" dirty="0"/>
          </a:p>
        </p:txBody>
      </p:sp>
      <p:pic>
        <p:nvPicPr>
          <p:cNvPr id="34" name="Image 8" descr="preencoded.png"/>
          <p:cNvPicPr>
            <a:picLocks noChangeAspect="1"/>
          </p:cNvPicPr>
          <p:nvPr/>
        </p:nvPicPr>
        <p:blipFill>
          <a:blip r:embed="rId8"/>
          <a:stretch>
            <a:fillRect/>
          </a:stretch>
        </p:blipFill>
        <p:spPr>
          <a:xfrm>
            <a:off x="6537960" y="3319272"/>
            <a:ext cx="219456" cy="219456"/>
          </a:xfrm>
          <a:prstGeom prst="rect">
            <a:avLst/>
          </a:prstGeom>
        </p:spPr>
      </p:pic>
      <p:sp>
        <p:nvSpPr>
          <p:cNvPr id="35" name="Text 24"/>
          <p:cNvSpPr txBox="1"/>
          <p:nvPr/>
        </p:nvSpPr>
        <p:spPr>
          <a:xfrm>
            <a:off x="6867144" y="3282696"/>
            <a:ext cx="4556455" cy="292608"/>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Minimises additional groceries</a:t>
            </a:r>
            <a:endParaRPr lang="en-US" sz="1350" dirty="0"/>
          </a:p>
        </p:txBody>
      </p:sp>
      <p:sp>
        <p:nvSpPr>
          <p:cNvPr id="36" name="Shape 25"/>
          <p:cNvSpPr/>
          <p:nvPr/>
        </p:nvSpPr>
        <p:spPr>
          <a:xfrm>
            <a:off x="6263640" y="3794760"/>
            <a:ext cx="5379415" cy="731520"/>
          </a:xfrm>
          <a:prstGeom prst="roundRect">
            <a:avLst>
              <a:gd name="adj" fmla="val 15000"/>
            </a:avLst>
          </a:prstGeom>
          <a:solidFill>
            <a:srgbClr val="FDF0E6"/>
          </a:solidFill>
          <a:ln/>
        </p:spPr>
      </p:sp>
      <p:sp>
        <p:nvSpPr>
          <p:cNvPr id="37" name="Shape 26"/>
          <p:cNvSpPr/>
          <p:nvPr/>
        </p:nvSpPr>
        <p:spPr>
          <a:xfrm>
            <a:off x="6464808" y="3950208"/>
            <a:ext cx="420624" cy="420624"/>
          </a:xfrm>
          <a:prstGeom prst="ellipse">
            <a:avLst/>
          </a:prstGeom>
          <a:solidFill>
            <a:srgbClr val="D2652A"/>
          </a:solidFill>
          <a:ln/>
        </p:spPr>
      </p:sp>
      <p:pic>
        <p:nvPicPr>
          <p:cNvPr id="38" name="Image 9" descr="preencoded.png"/>
          <p:cNvPicPr>
            <a:picLocks noChangeAspect="1"/>
          </p:cNvPicPr>
          <p:nvPr/>
        </p:nvPicPr>
        <p:blipFill>
          <a:blip r:embed="rId9"/>
          <a:stretch>
            <a:fillRect/>
          </a:stretch>
        </p:blipFill>
        <p:spPr>
          <a:xfrm>
            <a:off x="6561552" y="4046952"/>
            <a:ext cx="227137" cy="227137"/>
          </a:xfrm>
          <a:prstGeom prst="rect">
            <a:avLst/>
          </a:prstGeom>
        </p:spPr>
      </p:pic>
      <p:sp>
        <p:nvSpPr>
          <p:cNvPr id="39" name="Text 27"/>
          <p:cNvSpPr txBox="1"/>
          <p:nvPr/>
        </p:nvSpPr>
        <p:spPr>
          <a:xfrm>
            <a:off x="7040880" y="3794760"/>
            <a:ext cx="4419295" cy="731520"/>
          </a:xfrm>
          <a:prstGeom prst="rect">
            <a:avLst/>
          </a:prstGeom>
          <a:noFill/>
          <a:ln/>
        </p:spPr>
        <p:txBody>
          <a:bodyPr wrap="square" lIns="0" tIns="0" rIns="0" bIns="0" rtlCol="0" anchor="ctr"/>
          <a:lstStyle/>
          <a:p>
            <a:pPr marL="0" indent="0">
              <a:buNone/>
            </a:pPr>
            <a:r>
              <a:rPr lang="en-US" sz="1350" b="1" dirty="0">
                <a:solidFill>
                  <a:srgbClr val="13342A"/>
                </a:solidFill>
                <a:latin typeface="Calibri" pitchFamily="34" charset="0"/>
                <a:ea typeface="Calibri" pitchFamily="34" charset="-122"/>
                <a:cs typeface="Calibri" pitchFamily="34" charset="-120"/>
              </a:rPr>
              <a:t>Business model: personalised grocery subscription</a:t>
            </a:r>
            <a:endParaRPr lang="en-US" sz="1350" dirty="0"/>
          </a:p>
          <a:p>
            <a:pPr marL="0" indent="0">
              <a:buNone/>
            </a:pPr>
            <a:r>
              <a:rPr lang="en-US" sz="1250" dirty="0">
                <a:solidFill>
                  <a:srgbClr val="1E2B26"/>
                </a:solidFill>
                <a:latin typeface="Calibri" pitchFamily="34" charset="0"/>
                <a:ea typeface="Calibri" pitchFamily="34" charset="-122"/>
                <a:cs typeface="Calibri" pitchFamily="34" charset="-120"/>
              </a:rPr>
              <a:t>Sends only the missing ingredients, not a fixed meal kit.</a:t>
            </a:r>
            <a:endParaRPr lang="en-US" sz="1350" dirty="0"/>
          </a:p>
        </p:txBody>
      </p:sp>
      <p:sp>
        <p:nvSpPr>
          <p:cNvPr id="40" name="Text 28"/>
          <p:cNvSpPr txBox="1"/>
          <p:nvPr/>
        </p:nvSpPr>
        <p:spPr>
          <a:xfrm>
            <a:off x="548640" y="4754880"/>
            <a:ext cx="5486400" cy="237744"/>
          </a:xfrm>
          <a:prstGeom prst="rect">
            <a:avLst/>
          </a:prstGeom>
          <a:noFill/>
          <a:ln/>
        </p:spPr>
        <p:txBody>
          <a:bodyPr wrap="square" lIns="0" tIns="0" rIns="0" bIns="0" rtlCol="0" anchor="t"/>
          <a:lstStyle/>
          <a:p>
            <a:pPr marL="0" indent="0">
              <a:buNone/>
            </a:pPr>
            <a:r>
              <a:rPr lang="en-US" sz="1100" b="1" kern="0" spc="100" dirty="0">
                <a:solidFill>
                  <a:srgbClr val="D2652A"/>
                </a:solidFill>
                <a:latin typeface="Calibri" pitchFamily="34" charset="0"/>
                <a:ea typeface="Calibri" pitchFamily="34" charset="-122"/>
                <a:cs typeface="Calibri" pitchFamily="34" charset="-120"/>
              </a:rPr>
              <a:t>FIVE OBJECTIVES</a:t>
            </a:r>
            <a:endParaRPr lang="en-US" sz="1100" dirty="0"/>
          </a:p>
        </p:txBody>
      </p:sp>
      <p:sp>
        <p:nvSpPr>
          <p:cNvPr id="41" name="Shape 29"/>
          <p:cNvSpPr/>
          <p:nvPr/>
        </p:nvSpPr>
        <p:spPr>
          <a:xfrm>
            <a:off x="548640" y="5047488"/>
            <a:ext cx="2109155" cy="548640"/>
          </a:xfrm>
          <a:prstGeom prst="roundRect">
            <a:avLst>
              <a:gd name="adj" fmla="val 16667"/>
            </a:avLst>
          </a:prstGeom>
          <a:solidFill>
            <a:srgbClr val="EEF5F1"/>
          </a:solidFill>
          <a:ln/>
        </p:spPr>
      </p:sp>
      <p:pic>
        <p:nvPicPr>
          <p:cNvPr id="42" name="Image 10" descr="preencoded.png"/>
          <p:cNvPicPr>
            <a:picLocks noChangeAspect="1"/>
          </p:cNvPicPr>
          <p:nvPr/>
        </p:nvPicPr>
        <p:blipFill>
          <a:blip r:embed="rId10"/>
          <a:stretch>
            <a:fillRect/>
          </a:stretch>
        </p:blipFill>
        <p:spPr>
          <a:xfrm>
            <a:off x="713232" y="5184648"/>
            <a:ext cx="274320" cy="274320"/>
          </a:xfrm>
          <a:prstGeom prst="rect">
            <a:avLst/>
          </a:prstGeom>
        </p:spPr>
      </p:pic>
      <p:sp>
        <p:nvSpPr>
          <p:cNvPr id="43" name="Text 30"/>
          <p:cNvSpPr txBox="1"/>
          <p:nvPr/>
        </p:nvSpPr>
        <p:spPr>
          <a:xfrm>
            <a:off x="1097280" y="5047488"/>
            <a:ext cx="1469075" cy="548640"/>
          </a:xfrm>
          <a:prstGeom prst="rect">
            <a:avLst/>
          </a:prstGeom>
          <a:noFill/>
          <a:ln/>
        </p:spPr>
        <p:txBody>
          <a:bodyPr wrap="square" lIns="0" tIns="0" rIns="0" bIns="0" rtlCol="0" anchor="ctr"/>
          <a:lstStyle/>
          <a:p>
            <a:pPr marL="0" indent="0">
              <a:buNone/>
            </a:pPr>
            <a:r>
              <a:rPr lang="en-US" sz="1300" b="1" dirty="0">
                <a:solidFill>
                  <a:srgbClr val="13342A"/>
                </a:solidFill>
                <a:latin typeface="Calibri" pitchFamily="34" charset="0"/>
                <a:ea typeface="Calibri" pitchFamily="34" charset="-122"/>
                <a:cs typeface="Calibri" pitchFamily="34" charset="-120"/>
              </a:rPr>
              <a:t>Reduce food waste</a:t>
            </a:r>
            <a:endParaRPr lang="en-US" sz="1300" dirty="0"/>
          </a:p>
        </p:txBody>
      </p:sp>
      <p:sp>
        <p:nvSpPr>
          <p:cNvPr id="44" name="Shape 31"/>
          <p:cNvSpPr/>
          <p:nvPr/>
        </p:nvSpPr>
        <p:spPr>
          <a:xfrm>
            <a:off x="2794955" y="5047488"/>
            <a:ext cx="2109155" cy="548640"/>
          </a:xfrm>
          <a:prstGeom prst="roundRect">
            <a:avLst>
              <a:gd name="adj" fmla="val 16667"/>
            </a:avLst>
          </a:prstGeom>
          <a:solidFill>
            <a:srgbClr val="EEF5F1"/>
          </a:solidFill>
          <a:ln/>
        </p:spPr>
      </p:sp>
      <p:pic>
        <p:nvPicPr>
          <p:cNvPr id="45" name="Image 11" descr="preencoded.png"/>
          <p:cNvPicPr>
            <a:picLocks noChangeAspect="1"/>
          </p:cNvPicPr>
          <p:nvPr/>
        </p:nvPicPr>
        <p:blipFill>
          <a:blip r:embed="rId11"/>
          <a:stretch>
            <a:fillRect/>
          </a:stretch>
        </p:blipFill>
        <p:spPr>
          <a:xfrm>
            <a:off x="2959547" y="5184648"/>
            <a:ext cx="274320" cy="274320"/>
          </a:xfrm>
          <a:prstGeom prst="rect">
            <a:avLst/>
          </a:prstGeom>
        </p:spPr>
      </p:pic>
      <p:sp>
        <p:nvSpPr>
          <p:cNvPr id="46" name="Text 32"/>
          <p:cNvSpPr txBox="1"/>
          <p:nvPr/>
        </p:nvSpPr>
        <p:spPr>
          <a:xfrm>
            <a:off x="3343595" y="5047488"/>
            <a:ext cx="1469075" cy="548640"/>
          </a:xfrm>
          <a:prstGeom prst="rect">
            <a:avLst/>
          </a:prstGeom>
          <a:noFill/>
          <a:ln/>
        </p:spPr>
        <p:txBody>
          <a:bodyPr wrap="square" lIns="0" tIns="0" rIns="0" bIns="0" rtlCol="0" anchor="ctr"/>
          <a:lstStyle/>
          <a:p>
            <a:pPr marL="0" indent="0">
              <a:buNone/>
            </a:pPr>
            <a:r>
              <a:rPr lang="en-US" sz="1300" b="1" dirty="0">
                <a:solidFill>
                  <a:srgbClr val="13342A"/>
                </a:solidFill>
                <a:latin typeface="Calibri" pitchFamily="34" charset="0"/>
                <a:ea typeface="Calibri" pitchFamily="34" charset="-122"/>
                <a:cs typeface="Calibri" pitchFamily="34" charset="-120"/>
              </a:rPr>
              <a:t>Healthy planning</a:t>
            </a:r>
            <a:endParaRPr lang="en-US" sz="1300" dirty="0"/>
          </a:p>
        </p:txBody>
      </p:sp>
      <p:sp>
        <p:nvSpPr>
          <p:cNvPr id="47" name="Shape 33"/>
          <p:cNvSpPr/>
          <p:nvPr/>
        </p:nvSpPr>
        <p:spPr>
          <a:xfrm>
            <a:off x="5041270" y="5047488"/>
            <a:ext cx="2109155" cy="548640"/>
          </a:xfrm>
          <a:prstGeom prst="roundRect">
            <a:avLst>
              <a:gd name="adj" fmla="val 16667"/>
            </a:avLst>
          </a:prstGeom>
          <a:solidFill>
            <a:srgbClr val="EEF5F1"/>
          </a:solidFill>
          <a:ln/>
        </p:spPr>
      </p:sp>
      <p:pic>
        <p:nvPicPr>
          <p:cNvPr id="48" name="Image 12" descr="preencoded.png"/>
          <p:cNvPicPr>
            <a:picLocks noChangeAspect="1"/>
          </p:cNvPicPr>
          <p:nvPr/>
        </p:nvPicPr>
        <p:blipFill>
          <a:blip r:embed="rId12"/>
          <a:stretch>
            <a:fillRect/>
          </a:stretch>
        </p:blipFill>
        <p:spPr>
          <a:xfrm>
            <a:off x="5205862" y="5184648"/>
            <a:ext cx="274320" cy="274320"/>
          </a:xfrm>
          <a:prstGeom prst="rect">
            <a:avLst/>
          </a:prstGeom>
        </p:spPr>
      </p:pic>
      <p:sp>
        <p:nvSpPr>
          <p:cNvPr id="49" name="Text 34"/>
          <p:cNvSpPr txBox="1"/>
          <p:nvPr/>
        </p:nvSpPr>
        <p:spPr>
          <a:xfrm>
            <a:off x="5589910" y="5047488"/>
            <a:ext cx="1469075" cy="548640"/>
          </a:xfrm>
          <a:prstGeom prst="rect">
            <a:avLst/>
          </a:prstGeom>
          <a:noFill/>
          <a:ln/>
        </p:spPr>
        <p:txBody>
          <a:bodyPr wrap="square" lIns="0" tIns="0" rIns="0" bIns="0" rtlCol="0" anchor="ctr"/>
          <a:lstStyle/>
          <a:p>
            <a:pPr marL="0" indent="0">
              <a:buNone/>
            </a:pPr>
            <a:r>
              <a:rPr lang="en-US" sz="1300" b="1" dirty="0">
                <a:solidFill>
                  <a:srgbClr val="13342A"/>
                </a:solidFill>
                <a:latin typeface="Calibri" pitchFamily="34" charset="0"/>
                <a:ea typeface="Calibri" pitchFamily="34" charset="-122"/>
                <a:cs typeface="Calibri" pitchFamily="34" charset="-120"/>
              </a:rPr>
              <a:t>Personalise</a:t>
            </a:r>
            <a:endParaRPr lang="en-US" sz="1300" dirty="0"/>
          </a:p>
        </p:txBody>
      </p:sp>
      <p:sp>
        <p:nvSpPr>
          <p:cNvPr id="50" name="Shape 35"/>
          <p:cNvSpPr/>
          <p:nvPr/>
        </p:nvSpPr>
        <p:spPr>
          <a:xfrm>
            <a:off x="7287585" y="5047488"/>
            <a:ext cx="2109155" cy="548640"/>
          </a:xfrm>
          <a:prstGeom prst="roundRect">
            <a:avLst>
              <a:gd name="adj" fmla="val 16667"/>
            </a:avLst>
          </a:prstGeom>
          <a:solidFill>
            <a:srgbClr val="EEF5F1"/>
          </a:solidFill>
          <a:ln/>
        </p:spPr>
      </p:sp>
      <p:pic>
        <p:nvPicPr>
          <p:cNvPr id="51" name="Image 13" descr="preencoded.png"/>
          <p:cNvPicPr>
            <a:picLocks noChangeAspect="1"/>
          </p:cNvPicPr>
          <p:nvPr/>
        </p:nvPicPr>
        <p:blipFill>
          <a:blip r:embed="rId13"/>
          <a:stretch>
            <a:fillRect/>
          </a:stretch>
        </p:blipFill>
        <p:spPr>
          <a:xfrm>
            <a:off x="7452177" y="5184648"/>
            <a:ext cx="274320" cy="274320"/>
          </a:xfrm>
          <a:prstGeom prst="rect">
            <a:avLst/>
          </a:prstGeom>
        </p:spPr>
      </p:pic>
      <p:sp>
        <p:nvSpPr>
          <p:cNvPr id="52" name="Text 36"/>
          <p:cNvSpPr txBox="1"/>
          <p:nvPr/>
        </p:nvSpPr>
        <p:spPr>
          <a:xfrm>
            <a:off x="7836225" y="5047488"/>
            <a:ext cx="1469075" cy="548640"/>
          </a:xfrm>
          <a:prstGeom prst="rect">
            <a:avLst/>
          </a:prstGeom>
          <a:noFill/>
          <a:ln/>
        </p:spPr>
        <p:txBody>
          <a:bodyPr wrap="square" lIns="0" tIns="0" rIns="0" bIns="0" rtlCol="0" anchor="ctr"/>
          <a:lstStyle/>
          <a:p>
            <a:pPr marL="0" indent="0">
              <a:buNone/>
            </a:pPr>
            <a:r>
              <a:rPr lang="en-US" sz="1300" b="1" dirty="0">
                <a:solidFill>
                  <a:srgbClr val="13342A"/>
                </a:solidFill>
                <a:latin typeface="Calibri" pitchFamily="34" charset="0"/>
                <a:ea typeface="Calibri" pitchFamily="34" charset="-122"/>
                <a:cs typeface="Calibri" pitchFamily="34" charset="-120"/>
              </a:rPr>
              <a:t>Minimise groceries</a:t>
            </a:r>
            <a:endParaRPr lang="en-US" sz="1300" dirty="0"/>
          </a:p>
        </p:txBody>
      </p:sp>
      <p:sp>
        <p:nvSpPr>
          <p:cNvPr id="53" name="Shape 37"/>
          <p:cNvSpPr/>
          <p:nvPr/>
        </p:nvSpPr>
        <p:spPr>
          <a:xfrm>
            <a:off x="9533900" y="5047488"/>
            <a:ext cx="2109155" cy="548640"/>
          </a:xfrm>
          <a:prstGeom prst="roundRect">
            <a:avLst>
              <a:gd name="adj" fmla="val 16667"/>
            </a:avLst>
          </a:prstGeom>
          <a:solidFill>
            <a:srgbClr val="EEF5F1"/>
          </a:solidFill>
          <a:ln/>
        </p:spPr>
      </p:sp>
      <p:pic>
        <p:nvPicPr>
          <p:cNvPr id="54" name="Image 14" descr="preencoded.png"/>
          <p:cNvPicPr>
            <a:picLocks noChangeAspect="1"/>
          </p:cNvPicPr>
          <p:nvPr/>
        </p:nvPicPr>
        <p:blipFill>
          <a:blip r:embed="rId14"/>
          <a:stretch>
            <a:fillRect/>
          </a:stretch>
        </p:blipFill>
        <p:spPr>
          <a:xfrm>
            <a:off x="9698492" y="5184648"/>
            <a:ext cx="274320" cy="274320"/>
          </a:xfrm>
          <a:prstGeom prst="rect">
            <a:avLst/>
          </a:prstGeom>
        </p:spPr>
      </p:pic>
      <p:sp>
        <p:nvSpPr>
          <p:cNvPr id="55" name="Text 38"/>
          <p:cNvSpPr txBox="1"/>
          <p:nvPr/>
        </p:nvSpPr>
        <p:spPr>
          <a:xfrm>
            <a:off x="10082540" y="5047488"/>
            <a:ext cx="1469075" cy="548640"/>
          </a:xfrm>
          <a:prstGeom prst="rect">
            <a:avLst/>
          </a:prstGeom>
          <a:noFill/>
          <a:ln/>
        </p:spPr>
        <p:txBody>
          <a:bodyPr wrap="square" lIns="0" tIns="0" rIns="0" bIns="0" rtlCol="0" anchor="ctr"/>
          <a:lstStyle/>
          <a:p>
            <a:pPr marL="0" indent="0">
              <a:buNone/>
            </a:pPr>
            <a:r>
              <a:rPr lang="en-US" sz="1300" b="1" dirty="0">
                <a:solidFill>
                  <a:srgbClr val="13342A"/>
                </a:solidFill>
                <a:latin typeface="Calibri" pitchFamily="34" charset="0"/>
                <a:ea typeface="Calibri" pitchFamily="34" charset="-122"/>
                <a:cs typeface="Calibri" pitchFamily="34" charset="-120"/>
              </a:rPr>
              <a:t>Explain decisions</a:t>
            </a:r>
            <a:endParaRPr lang="en-US" sz="1300" dirty="0"/>
          </a:p>
        </p:txBody>
      </p:sp>
      <p:sp>
        <p:nvSpPr>
          <p:cNvPr id="56" name="Text 39"/>
          <p:cNvSpPr txBox="1"/>
          <p:nvPr/>
        </p:nvSpPr>
        <p:spPr>
          <a:xfrm>
            <a:off x="548640" y="5742432"/>
            <a:ext cx="11094415" cy="475488"/>
          </a:xfrm>
          <a:prstGeom prst="rect">
            <a:avLst/>
          </a:prstGeom>
          <a:noFill/>
          <a:ln/>
        </p:spPr>
        <p:txBody>
          <a:bodyPr wrap="square" lIns="0" tIns="0" rIns="0" bIns="0" rtlCol="0" anchor="ctr"/>
          <a:lstStyle/>
          <a:p>
            <a:pPr marL="0" indent="0">
              <a:buNone/>
            </a:pPr>
            <a:r>
              <a:rPr lang="en-US" sz="1200" b="1" dirty="0">
                <a:solidFill>
                  <a:srgbClr val="13342A"/>
                </a:solidFill>
                <a:latin typeface="Calibri" pitchFamily="34" charset="0"/>
                <a:ea typeface="Calibri" pitchFamily="34" charset="-122"/>
                <a:cs typeface="Calibri" pitchFamily="34" charset="-120"/>
              </a:rPr>
              <a:t>In scope: </a:t>
            </a:r>
            <a:r>
              <a:rPr lang="en-US" sz="1200" dirty="0">
                <a:solidFill>
                  <a:srgbClr val="1E2B26"/>
                </a:solidFill>
                <a:latin typeface="Calibri" pitchFamily="34" charset="0"/>
                <a:ea typeface="Calibri" pitchFamily="34" charset="-122"/>
                <a:cs typeface="Calibri" pitchFamily="34" charset="-120"/>
              </a:rPr>
              <a:t>one user · one seven-day plan · mainly dinner recipes</a:t>
            </a:r>
            <a:endParaRPr lang="en-US" sz="1200" dirty="0"/>
          </a:p>
          <a:p>
            <a:pPr marL="0" indent="0">
              <a:buNone/>
            </a:pPr>
            <a:r>
              <a:rPr lang="en-US" sz="1200" b="1" dirty="0">
                <a:solidFill>
                  <a:srgbClr val="13342A"/>
                </a:solidFill>
                <a:latin typeface="Calibri" pitchFamily="34" charset="0"/>
                <a:ea typeface="Calibri" pitchFamily="34" charset="-122"/>
                <a:cs typeface="Calibri" pitchFamily="34" charset="-120"/>
              </a:rPr>
              <a:t>Out of scope: </a:t>
            </a:r>
            <a:r>
              <a:rPr lang="en-US" sz="1200" dirty="0">
                <a:solidFill>
                  <a:srgbClr val="1E2B26"/>
                </a:solidFill>
                <a:latin typeface="Calibri" pitchFamily="34" charset="0"/>
                <a:ea typeface="Calibri" pitchFamily="34" charset="-122"/>
                <a:cs typeface="Calibri" pitchFamily="34" charset="-120"/>
              </a:rPr>
              <a:t>payment · delivery logistics · fridge-image recognition · medical diagnosis</a:t>
            </a:r>
            <a:endParaRPr lang="en-US" sz="1200" dirty="0"/>
          </a:p>
        </p:txBody>
      </p:sp>
      <p:sp>
        <p:nvSpPr>
          <p:cNvPr id="57" name="Text 40"/>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1000" dirty="0">
                <a:solidFill>
                  <a:srgbClr val="5A6B63"/>
                </a:solidFill>
                <a:latin typeface="Calibri" pitchFamily="34" charset="0"/>
                <a:ea typeface="Calibri" pitchFamily="34" charset="-122"/>
                <a:cs typeface="Calibri" pitchFamily="34" charset="-120"/>
              </a:rPr>
              <a:t>Pantry-to-Plate  ·  IRS Practice Module</a:t>
            </a:r>
            <a:endParaRPr lang="en-US" sz="1000" dirty="0"/>
          </a:p>
        </p:txBody>
      </p:sp>
      <p:sp>
        <p:nvSpPr>
          <p:cNvPr id="58" name="Text 41"/>
          <p:cNvSpPr txBox="1"/>
          <p:nvPr/>
        </p:nvSpPr>
        <p:spPr>
          <a:xfrm>
            <a:off x="10271455" y="6419088"/>
            <a:ext cx="1371600" cy="256032"/>
          </a:xfrm>
          <a:prstGeom prst="rect">
            <a:avLst/>
          </a:prstGeom>
          <a:noFill/>
          <a:ln/>
        </p:spPr>
        <p:txBody>
          <a:bodyPr wrap="square" lIns="0" tIns="0" rIns="0" bIns="0" rtlCol="0" anchor="t"/>
          <a:lstStyle/>
          <a:p>
            <a:pPr marL="0" indent="0" algn="r">
              <a:buNone/>
            </a:pPr>
            <a:r>
              <a:rPr lang="en-US" sz="1000" dirty="0">
                <a:solidFill>
                  <a:srgbClr val="5A6B63"/>
                </a:solidFill>
                <a:latin typeface="Calibri" pitchFamily="34" charset="0"/>
                <a:ea typeface="Calibri" pitchFamily="34" charset="-122"/>
                <a:cs typeface="Calibri" pitchFamily="34" charset="-120"/>
              </a:rPr>
              <a:t>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150" dirty="0">
                <a:solidFill>
                  <a:srgbClr val="D2652A"/>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200" b="1" dirty="0">
                <a:solidFill>
                  <a:srgbClr val="13342A"/>
                </a:solidFill>
                <a:latin typeface="Cambria" pitchFamily="34" charset="0"/>
                <a:ea typeface="Cambria" pitchFamily="34" charset="-122"/>
                <a:cs typeface="Cambria" pitchFamily="34" charset="-120"/>
              </a:rPr>
              <a:t>From pantry text to an explainable weekly plan</a:t>
            </a:r>
            <a:endParaRPr lang="en-US" sz="3200" dirty="0"/>
          </a:p>
        </p:txBody>
      </p:sp>
      <p:sp>
        <p:nvSpPr>
          <p:cNvPr id="4" name="Shape 2"/>
          <p:cNvSpPr/>
          <p:nvPr/>
        </p:nvSpPr>
        <p:spPr>
          <a:xfrm>
            <a:off x="548640" y="1572768"/>
            <a:ext cx="1999793" cy="2880360"/>
          </a:xfrm>
          <a:prstGeom prst="roundRect">
            <a:avLst>
              <a:gd name="adj" fmla="val 5487"/>
            </a:avLst>
          </a:prstGeom>
          <a:solidFill>
            <a:srgbClr val="FFFFFF"/>
          </a:solidFill>
          <a:ln w="12700">
            <a:solidFill>
              <a:srgbClr val="C9DDD1"/>
            </a:solidFill>
            <a:prstDash val="solid"/>
          </a:ln>
        </p:spPr>
      </p:sp>
      <p:sp>
        <p:nvSpPr>
          <p:cNvPr id="5" name="Text 3"/>
          <p:cNvSpPr txBox="1"/>
          <p:nvPr/>
        </p:nvSpPr>
        <p:spPr>
          <a:xfrm>
            <a:off x="731520" y="1755648"/>
            <a:ext cx="1634033" cy="256032"/>
          </a:xfrm>
          <a:prstGeom prst="rect">
            <a:avLst/>
          </a:prstGeom>
          <a:noFill/>
          <a:ln/>
        </p:spPr>
        <p:txBody>
          <a:bodyPr wrap="square" lIns="0" tIns="0" rIns="0" bIns="0" rtlCol="0" anchor="t"/>
          <a:lstStyle/>
          <a:p>
            <a:pPr marL="0" indent="0">
              <a:buNone/>
            </a:pPr>
            <a:r>
              <a:rPr lang="en-US" sz="1100" b="1" kern="0" spc="100" dirty="0">
                <a:solidFill>
                  <a:srgbClr val="D2652A"/>
                </a:solidFill>
                <a:latin typeface="Calibri" pitchFamily="34" charset="0"/>
                <a:ea typeface="Calibri" pitchFamily="34" charset="-122"/>
                <a:cs typeface="Calibri" pitchFamily="34" charset="-120"/>
              </a:rPr>
              <a:t>1 · INPUT</a:t>
            </a:r>
            <a:endParaRPr lang="en-US" sz="1100" dirty="0"/>
          </a:p>
        </p:txBody>
      </p:sp>
      <p:sp>
        <p:nvSpPr>
          <p:cNvPr id="6" name="Shape 4"/>
          <p:cNvSpPr/>
          <p:nvPr/>
        </p:nvSpPr>
        <p:spPr>
          <a:xfrm>
            <a:off x="731520" y="2075688"/>
            <a:ext cx="530352" cy="530352"/>
          </a:xfrm>
          <a:prstGeom prst="ellipse">
            <a:avLst/>
          </a:prstGeom>
          <a:solidFill>
            <a:srgbClr val="1F5C45"/>
          </a:solidFill>
          <a:ln/>
        </p:spPr>
      </p:sp>
      <p:pic>
        <p:nvPicPr>
          <p:cNvPr id="7" name="Image 0" descr="preencoded.png"/>
          <p:cNvPicPr>
            <a:picLocks noChangeAspect="1"/>
          </p:cNvPicPr>
          <p:nvPr/>
        </p:nvPicPr>
        <p:blipFill>
          <a:blip r:embed="rId3"/>
          <a:stretch>
            <a:fillRect/>
          </a:stretch>
        </p:blipFill>
        <p:spPr>
          <a:xfrm>
            <a:off x="853501" y="2197669"/>
            <a:ext cx="286390" cy="286390"/>
          </a:xfrm>
          <a:prstGeom prst="rect">
            <a:avLst/>
          </a:prstGeom>
        </p:spPr>
      </p:pic>
      <p:sp>
        <p:nvSpPr>
          <p:cNvPr id="8" name="Text 5"/>
          <p:cNvSpPr txBox="1"/>
          <p:nvPr/>
        </p:nvSpPr>
        <p:spPr>
          <a:xfrm>
            <a:off x="731520" y="2706624"/>
            <a:ext cx="1634033" cy="530352"/>
          </a:xfrm>
          <a:prstGeom prst="rect">
            <a:avLst/>
          </a:prstGeom>
          <a:noFill/>
          <a:ln/>
        </p:spPr>
        <p:txBody>
          <a:bodyPr wrap="square" lIns="0" tIns="0" rIns="0" bIns="0" rtlCol="0" anchor="t"/>
          <a:lstStyle/>
          <a:p>
            <a:pPr marL="0" indent="0">
              <a:buNone/>
            </a:pPr>
            <a:r>
              <a:rPr lang="en-US" sz="1500" b="1" dirty="0">
                <a:solidFill>
                  <a:srgbClr val="13342A"/>
                </a:solidFill>
                <a:latin typeface="Calibri" pitchFamily="34" charset="0"/>
                <a:ea typeface="Calibri" pitchFamily="34" charset="-122"/>
                <a:cs typeface="Calibri" pitchFamily="34" charset="-120"/>
              </a:rPr>
              <a:t>Profile + pantry text</a:t>
            </a:r>
            <a:endParaRPr lang="en-US" sz="1500" dirty="0"/>
          </a:p>
        </p:txBody>
      </p:sp>
      <p:sp>
        <p:nvSpPr>
          <p:cNvPr id="9" name="Text 6"/>
          <p:cNvSpPr txBox="1"/>
          <p:nvPr/>
        </p:nvSpPr>
        <p:spPr>
          <a:xfrm>
            <a:off x="731520" y="3273552"/>
            <a:ext cx="1679753" cy="603504"/>
          </a:xfrm>
          <a:prstGeom prst="rect">
            <a:avLst/>
          </a:prstGeom>
          <a:noFill/>
          <a:ln/>
        </p:spPr>
        <p:txBody>
          <a:bodyPr wrap="square" lIns="0" tIns="0" rIns="0" bIns="0" rtlCol="0" anchor="t"/>
          <a:lstStyle/>
          <a:p>
            <a:pPr marL="127000" indent="-127000">
              <a:spcAft>
                <a:spcPts val="200"/>
              </a:spcAft>
              <a:buSzPct val="100000"/>
              <a:buChar char="•"/>
            </a:pPr>
            <a:r>
              <a:rPr lang="en-US" sz="1150" dirty="0">
                <a:solidFill>
                  <a:srgbClr val="1E2B26"/>
                </a:solidFill>
                <a:latin typeface="Calibri" pitchFamily="34" charset="0"/>
                <a:ea typeface="Calibri" pitchFamily="34" charset="-122"/>
                <a:cs typeface="Calibri" pitchFamily="34" charset="-120"/>
              </a:rPr>
              <a:t>Free-text pantry</a:t>
            </a:r>
            <a:endParaRPr lang="en-US" sz="1150" dirty="0"/>
          </a:p>
          <a:p>
            <a:pPr marL="127000" indent="-127000">
              <a:spcAft>
                <a:spcPts val="200"/>
              </a:spcAft>
              <a:buSzPct val="100000"/>
              <a:buChar char="•"/>
            </a:pPr>
            <a:r>
              <a:rPr lang="en-US" sz="1150" dirty="0">
                <a:solidFill>
                  <a:srgbClr val="1E2B26"/>
                </a:solidFill>
                <a:latin typeface="Calibri" pitchFamily="34" charset="0"/>
                <a:ea typeface="Calibri" pitchFamily="34" charset="-122"/>
                <a:cs typeface="Calibri" pitchFamily="34" charset="-120"/>
              </a:rPr>
              <a:t>Diet &amp; allergies</a:t>
            </a:r>
            <a:endParaRPr lang="en-US" sz="1150" dirty="0"/>
          </a:p>
          <a:p>
            <a:pPr marL="127000" indent="-127000">
              <a:spcAft>
                <a:spcPts val="200"/>
              </a:spcAft>
              <a:buSzPct val="100000"/>
              <a:buChar char="•"/>
            </a:pPr>
            <a:r>
              <a:rPr lang="en-US" sz="1150" dirty="0">
                <a:solidFill>
                  <a:srgbClr val="1E2B26"/>
                </a:solidFill>
                <a:latin typeface="Calibri" pitchFamily="34" charset="0"/>
                <a:ea typeface="Calibri" pitchFamily="34" charset="-122"/>
                <a:cs typeface="Calibri" pitchFamily="34" charset="-120"/>
              </a:rPr>
              <a:t>Tastes &amp; targets</a:t>
            </a:r>
            <a:endParaRPr lang="en-US" sz="1150" dirty="0"/>
          </a:p>
        </p:txBody>
      </p:sp>
      <p:sp>
        <p:nvSpPr>
          <p:cNvPr id="10" name="Text 7"/>
          <p:cNvSpPr/>
          <p:nvPr/>
        </p:nvSpPr>
        <p:spPr>
          <a:xfrm>
            <a:off x="731520" y="4050792"/>
            <a:ext cx="1634033" cy="256032"/>
          </a:xfrm>
          <a:prstGeom prst="roundRect">
            <a:avLst>
              <a:gd name="adj" fmla="val 28571"/>
            </a:avLst>
          </a:prstGeom>
          <a:solidFill>
            <a:srgbClr val="E3EFE8"/>
          </a:solidFill>
          <a:ln/>
        </p:spPr>
        <p:txBody>
          <a:bodyPr wrap="square" lIns="0" tIns="0" rIns="0" bIns="0" rtlCol="0" anchor="ctr"/>
          <a:lstStyle/>
          <a:p>
            <a:pPr marL="0" indent="0" algn="ctr">
              <a:buNone/>
            </a:pPr>
            <a:r>
              <a:rPr lang="en-US" sz="1000" b="1" dirty="0">
                <a:solidFill>
                  <a:srgbClr val="1F5C45"/>
                </a:solidFill>
                <a:latin typeface="Calibri" pitchFamily="34" charset="0"/>
                <a:ea typeface="Calibri" pitchFamily="34" charset="-122"/>
                <a:cs typeface="Calibri" pitchFamily="34" charset="-120"/>
              </a:rPr>
              <a:t>USER INPUT</a:t>
            </a:r>
            <a:endParaRPr lang="en-US" sz="1000" dirty="0"/>
          </a:p>
        </p:txBody>
      </p:sp>
      <p:sp>
        <p:nvSpPr>
          <p:cNvPr id="11" name="Shape 8"/>
          <p:cNvSpPr/>
          <p:nvPr/>
        </p:nvSpPr>
        <p:spPr>
          <a:xfrm>
            <a:off x="2585009" y="2944368"/>
            <a:ext cx="201168" cy="0"/>
          </a:xfrm>
          <a:prstGeom prst="line">
            <a:avLst/>
          </a:prstGeom>
          <a:noFill/>
          <a:ln w="28575">
            <a:solidFill>
              <a:srgbClr val="D2652A"/>
            </a:solidFill>
            <a:prstDash val="solid"/>
            <a:tailEnd type="triangle"/>
          </a:ln>
        </p:spPr>
      </p:sp>
      <p:sp>
        <p:nvSpPr>
          <p:cNvPr id="12" name="Shape 9"/>
          <p:cNvSpPr/>
          <p:nvPr/>
        </p:nvSpPr>
        <p:spPr>
          <a:xfrm>
            <a:off x="2822753" y="1572768"/>
            <a:ext cx="1999793" cy="2880360"/>
          </a:xfrm>
          <a:prstGeom prst="roundRect">
            <a:avLst>
              <a:gd name="adj" fmla="val 5487"/>
            </a:avLst>
          </a:prstGeom>
          <a:solidFill>
            <a:srgbClr val="EEF5F1"/>
          </a:solidFill>
          <a:ln/>
        </p:spPr>
      </p:sp>
      <p:sp>
        <p:nvSpPr>
          <p:cNvPr id="13" name="Text 10"/>
          <p:cNvSpPr txBox="1"/>
          <p:nvPr/>
        </p:nvSpPr>
        <p:spPr>
          <a:xfrm>
            <a:off x="3005633" y="1755648"/>
            <a:ext cx="1634033" cy="256032"/>
          </a:xfrm>
          <a:prstGeom prst="rect">
            <a:avLst/>
          </a:prstGeom>
          <a:noFill/>
          <a:ln/>
        </p:spPr>
        <p:txBody>
          <a:bodyPr wrap="square" lIns="0" tIns="0" rIns="0" bIns="0" rtlCol="0" anchor="t"/>
          <a:lstStyle/>
          <a:p>
            <a:pPr marL="0" indent="0">
              <a:buNone/>
            </a:pPr>
            <a:r>
              <a:rPr lang="en-US" sz="1100" b="1" kern="0" spc="100" dirty="0">
                <a:solidFill>
                  <a:srgbClr val="D2652A"/>
                </a:solidFill>
                <a:latin typeface="Calibri" pitchFamily="34" charset="0"/>
                <a:ea typeface="Calibri" pitchFamily="34" charset="-122"/>
                <a:cs typeface="Calibri" pitchFamily="34" charset="-120"/>
              </a:rPr>
              <a:t>2 · UNDERSTAND</a:t>
            </a:r>
            <a:endParaRPr lang="en-US" sz="1100" dirty="0"/>
          </a:p>
        </p:txBody>
      </p:sp>
      <p:sp>
        <p:nvSpPr>
          <p:cNvPr id="14" name="Shape 11"/>
          <p:cNvSpPr/>
          <p:nvPr/>
        </p:nvSpPr>
        <p:spPr>
          <a:xfrm>
            <a:off x="3005633" y="2075688"/>
            <a:ext cx="530352" cy="530352"/>
          </a:xfrm>
          <a:prstGeom prst="ellipse">
            <a:avLst/>
          </a:prstGeom>
          <a:solidFill>
            <a:srgbClr val="1F5C45"/>
          </a:solidFill>
          <a:ln/>
        </p:spPr>
      </p:sp>
      <p:pic>
        <p:nvPicPr>
          <p:cNvPr id="15" name="Image 1" descr="preencoded.png"/>
          <p:cNvPicPr>
            <a:picLocks noChangeAspect="1"/>
          </p:cNvPicPr>
          <p:nvPr/>
        </p:nvPicPr>
        <p:blipFill>
          <a:blip r:embed="rId4"/>
          <a:stretch>
            <a:fillRect/>
          </a:stretch>
        </p:blipFill>
        <p:spPr>
          <a:xfrm>
            <a:off x="3127614" y="2197669"/>
            <a:ext cx="286390" cy="286390"/>
          </a:xfrm>
          <a:prstGeom prst="rect">
            <a:avLst/>
          </a:prstGeom>
        </p:spPr>
      </p:pic>
      <p:sp>
        <p:nvSpPr>
          <p:cNvPr id="16" name="Text 12"/>
          <p:cNvSpPr txBox="1"/>
          <p:nvPr/>
        </p:nvSpPr>
        <p:spPr>
          <a:xfrm>
            <a:off x="3005633" y="2706624"/>
            <a:ext cx="1634033" cy="530352"/>
          </a:xfrm>
          <a:prstGeom prst="rect">
            <a:avLst/>
          </a:prstGeom>
          <a:noFill/>
          <a:ln/>
        </p:spPr>
        <p:txBody>
          <a:bodyPr wrap="square" lIns="0" tIns="0" rIns="0" bIns="0" rtlCol="0" anchor="t"/>
          <a:lstStyle/>
          <a:p>
            <a:pPr marL="0" indent="0">
              <a:buNone/>
            </a:pPr>
            <a:r>
              <a:rPr lang="en-US" sz="1500" b="1" dirty="0">
                <a:solidFill>
                  <a:srgbClr val="13342A"/>
                </a:solidFill>
                <a:latin typeface="Calibri" pitchFamily="34" charset="0"/>
                <a:ea typeface="Calibri" pitchFamily="34" charset="-122"/>
                <a:cs typeface="Calibri" pitchFamily="34" charset="-120"/>
              </a:rPr>
              <a:t>Ingredient normalisation</a:t>
            </a:r>
            <a:endParaRPr lang="en-US" sz="1500" dirty="0"/>
          </a:p>
        </p:txBody>
      </p:sp>
      <p:sp>
        <p:nvSpPr>
          <p:cNvPr id="17" name="Text 13"/>
          <p:cNvSpPr txBox="1"/>
          <p:nvPr/>
        </p:nvSpPr>
        <p:spPr>
          <a:xfrm>
            <a:off x="3005633" y="3273552"/>
            <a:ext cx="1679753" cy="603504"/>
          </a:xfrm>
          <a:prstGeom prst="rect">
            <a:avLst/>
          </a:prstGeom>
          <a:noFill/>
          <a:ln/>
        </p:spPr>
        <p:txBody>
          <a:bodyPr wrap="square" lIns="0" tIns="0" rIns="0" bIns="0" rtlCol="0" anchor="t"/>
          <a:lstStyle/>
          <a:p>
            <a:pPr marL="127000" indent="-127000">
              <a:spcAft>
                <a:spcPts val="200"/>
              </a:spcAft>
              <a:buSzPct val="100000"/>
              <a:buChar char="•"/>
            </a:pPr>
            <a:r>
              <a:rPr lang="en-US" sz="1150" dirty="0">
                <a:solidFill>
                  <a:srgbClr val="1E2B26"/>
                </a:solidFill>
                <a:latin typeface="Calibri" pitchFamily="34" charset="0"/>
                <a:ea typeface="Calibri" pitchFamily="34" charset="-122"/>
                <a:cs typeface="Calibri" pitchFamily="34" charset="-120"/>
              </a:rPr>
              <a:t>Parse quantity &amp; unit</a:t>
            </a:r>
            <a:endParaRPr lang="en-US" sz="1150" dirty="0"/>
          </a:p>
          <a:p>
            <a:pPr marL="127000" indent="-127000">
              <a:spcAft>
                <a:spcPts val="200"/>
              </a:spcAft>
              <a:buSzPct val="100000"/>
              <a:buChar char="•"/>
            </a:pPr>
            <a:r>
              <a:rPr lang="en-US" sz="1150" dirty="0">
                <a:solidFill>
                  <a:srgbClr val="1E2B26"/>
                </a:solidFill>
                <a:latin typeface="Calibri" pitchFamily="34" charset="0"/>
                <a:ea typeface="Calibri" pitchFamily="34" charset="-122"/>
                <a:cs typeface="Calibri" pitchFamily="34" charset="-120"/>
              </a:rPr>
              <a:t>Canonical ingredient</a:t>
            </a:r>
            <a:endParaRPr lang="en-US" sz="1150" dirty="0"/>
          </a:p>
          <a:p>
            <a:pPr marL="127000" indent="-127000">
              <a:spcAft>
                <a:spcPts val="200"/>
              </a:spcAft>
              <a:buSzPct val="100000"/>
              <a:buChar char="•"/>
            </a:pPr>
            <a:r>
              <a:rPr lang="en-US" sz="1150" dirty="0">
                <a:solidFill>
                  <a:srgbClr val="1E2B26"/>
                </a:solidFill>
                <a:latin typeface="Calibri" pitchFamily="34" charset="0"/>
                <a:ea typeface="Calibri" pitchFamily="34" charset="-122"/>
                <a:cs typeface="Calibri" pitchFamily="34" charset="-120"/>
              </a:rPr>
              <a:t>Text → constraints</a:t>
            </a:r>
            <a:endParaRPr lang="en-US" sz="1150" dirty="0"/>
          </a:p>
        </p:txBody>
      </p:sp>
      <p:sp>
        <p:nvSpPr>
          <p:cNvPr id="18" name="Text 14"/>
          <p:cNvSpPr/>
          <p:nvPr/>
        </p:nvSpPr>
        <p:spPr>
          <a:xfrm>
            <a:off x="3005633" y="4050792"/>
            <a:ext cx="1634033" cy="256032"/>
          </a:xfrm>
          <a:prstGeom prst="roundRect">
            <a:avLst>
              <a:gd name="adj" fmla="val 28571"/>
            </a:avLst>
          </a:prstGeom>
          <a:solidFill>
            <a:srgbClr val="E3EFE8"/>
          </a:solidFill>
          <a:ln/>
        </p:spPr>
        <p:txBody>
          <a:bodyPr wrap="square" lIns="0" tIns="0" rIns="0" bIns="0" rtlCol="0" anchor="ctr"/>
          <a:lstStyle/>
          <a:p>
            <a:pPr marL="0" indent="0" algn="ctr">
              <a:buNone/>
            </a:pPr>
            <a:r>
              <a:rPr lang="en-US" sz="1000" b="1" dirty="0">
                <a:solidFill>
                  <a:srgbClr val="1F5C45"/>
                </a:solidFill>
                <a:latin typeface="Calibri" pitchFamily="34" charset="0"/>
                <a:ea typeface="Calibri" pitchFamily="34" charset="-122"/>
                <a:cs typeface="Calibri" pitchFamily="34" charset="-120"/>
              </a:rPr>
              <a:t>NLP / LLM · CGS</a:t>
            </a:r>
            <a:endParaRPr lang="en-US" sz="1000" dirty="0"/>
          </a:p>
        </p:txBody>
      </p:sp>
      <p:sp>
        <p:nvSpPr>
          <p:cNvPr id="19" name="Shape 15"/>
          <p:cNvSpPr/>
          <p:nvPr/>
        </p:nvSpPr>
        <p:spPr>
          <a:xfrm>
            <a:off x="4859122" y="2944368"/>
            <a:ext cx="201168" cy="0"/>
          </a:xfrm>
          <a:prstGeom prst="line">
            <a:avLst/>
          </a:prstGeom>
          <a:noFill/>
          <a:ln w="28575">
            <a:solidFill>
              <a:srgbClr val="D2652A"/>
            </a:solidFill>
            <a:prstDash val="solid"/>
            <a:tailEnd type="triangle"/>
          </a:ln>
        </p:spPr>
      </p:sp>
      <p:sp>
        <p:nvSpPr>
          <p:cNvPr id="20" name="Shape 16"/>
          <p:cNvSpPr/>
          <p:nvPr/>
        </p:nvSpPr>
        <p:spPr>
          <a:xfrm>
            <a:off x="5096866" y="1572768"/>
            <a:ext cx="1999793" cy="2880360"/>
          </a:xfrm>
          <a:prstGeom prst="roundRect">
            <a:avLst>
              <a:gd name="adj" fmla="val 5487"/>
            </a:avLst>
          </a:prstGeom>
          <a:solidFill>
            <a:srgbClr val="EEF5F1"/>
          </a:solidFill>
          <a:ln/>
        </p:spPr>
      </p:sp>
      <p:sp>
        <p:nvSpPr>
          <p:cNvPr id="21" name="Text 17"/>
          <p:cNvSpPr txBox="1"/>
          <p:nvPr/>
        </p:nvSpPr>
        <p:spPr>
          <a:xfrm>
            <a:off x="5279746" y="1755648"/>
            <a:ext cx="1634033" cy="256032"/>
          </a:xfrm>
          <a:prstGeom prst="rect">
            <a:avLst/>
          </a:prstGeom>
          <a:noFill/>
          <a:ln/>
        </p:spPr>
        <p:txBody>
          <a:bodyPr wrap="square" lIns="0" tIns="0" rIns="0" bIns="0" rtlCol="0" anchor="t"/>
          <a:lstStyle/>
          <a:p>
            <a:pPr marL="0" indent="0">
              <a:buNone/>
            </a:pPr>
            <a:r>
              <a:rPr lang="en-US" sz="1100" b="1" kern="0" spc="100" dirty="0">
                <a:solidFill>
                  <a:srgbClr val="D2652A"/>
                </a:solidFill>
                <a:latin typeface="Calibri" pitchFamily="34" charset="0"/>
                <a:ea typeface="Calibri" pitchFamily="34" charset="-122"/>
                <a:cs typeface="Calibri" pitchFamily="34" charset="-120"/>
              </a:rPr>
              <a:t>3 · ENRICH</a:t>
            </a:r>
            <a:endParaRPr lang="en-US" sz="1100" dirty="0"/>
          </a:p>
        </p:txBody>
      </p:sp>
      <p:sp>
        <p:nvSpPr>
          <p:cNvPr id="22" name="Shape 18"/>
          <p:cNvSpPr/>
          <p:nvPr/>
        </p:nvSpPr>
        <p:spPr>
          <a:xfrm>
            <a:off x="5279746" y="2075688"/>
            <a:ext cx="530352" cy="530352"/>
          </a:xfrm>
          <a:prstGeom prst="ellipse">
            <a:avLst/>
          </a:prstGeom>
          <a:solidFill>
            <a:srgbClr val="1F5C45"/>
          </a:solidFill>
          <a:ln/>
        </p:spPr>
      </p:sp>
      <p:pic>
        <p:nvPicPr>
          <p:cNvPr id="23" name="Image 2" descr="preencoded.png"/>
          <p:cNvPicPr>
            <a:picLocks noChangeAspect="1"/>
          </p:cNvPicPr>
          <p:nvPr/>
        </p:nvPicPr>
        <p:blipFill>
          <a:blip r:embed="rId5"/>
          <a:stretch>
            <a:fillRect/>
          </a:stretch>
        </p:blipFill>
        <p:spPr>
          <a:xfrm>
            <a:off x="5401727" y="2197669"/>
            <a:ext cx="286390" cy="286390"/>
          </a:xfrm>
          <a:prstGeom prst="rect">
            <a:avLst/>
          </a:prstGeom>
        </p:spPr>
      </p:pic>
      <p:sp>
        <p:nvSpPr>
          <p:cNvPr id="24" name="Text 19"/>
          <p:cNvSpPr txBox="1"/>
          <p:nvPr/>
        </p:nvSpPr>
        <p:spPr>
          <a:xfrm>
            <a:off x="5279746" y="2706624"/>
            <a:ext cx="1634033" cy="530352"/>
          </a:xfrm>
          <a:prstGeom prst="rect">
            <a:avLst/>
          </a:prstGeom>
          <a:noFill/>
          <a:ln/>
        </p:spPr>
        <p:txBody>
          <a:bodyPr wrap="square" lIns="0" tIns="0" rIns="0" bIns="0" rtlCol="0" anchor="t"/>
          <a:lstStyle/>
          <a:p>
            <a:pPr marL="0" indent="0">
              <a:buNone/>
            </a:pPr>
            <a:r>
              <a:rPr lang="en-US" sz="1500" b="1" dirty="0">
                <a:solidFill>
                  <a:srgbClr val="13342A"/>
                </a:solidFill>
                <a:latin typeface="Calibri" pitchFamily="34" charset="0"/>
                <a:ea typeface="Calibri" pitchFamily="34" charset="-122"/>
                <a:cs typeface="Calibri" pitchFamily="34" charset="-120"/>
              </a:rPr>
              <a:t>Knowledge enrichment</a:t>
            </a:r>
            <a:endParaRPr lang="en-US" sz="1500" dirty="0"/>
          </a:p>
        </p:txBody>
      </p:sp>
      <p:sp>
        <p:nvSpPr>
          <p:cNvPr id="25" name="Text 20"/>
          <p:cNvSpPr txBox="1"/>
          <p:nvPr/>
        </p:nvSpPr>
        <p:spPr>
          <a:xfrm>
            <a:off x="5279746" y="3273552"/>
            <a:ext cx="1679753" cy="603504"/>
          </a:xfrm>
          <a:prstGeom prst="rect">
            <a:avLst/>
          </a:prstGeom>
          <a:noFill/>
          <a:ln/>
        </p:spPr>
        <p:txBody>
          <a:bodyPr wrap="square" lIns="0" tIns="0" rIns="0" bIns="0" rtlCol="0" anchor="t"/>
          <a:lstStyle/>
          <a:p>
            <a:pPr marL="127000" indent="-127000">
              <a:spcAft>
                <a:spcPts val="200"/>
              </a:spcAft>
              <a:buSzPct val="100000"/>
              <a:buChar char="•"/>
            </a:pPr>
            <a:r>
              <a:rPr lang="en-US" sz="1150" dirty="0">
                <a:solidFill>
                  <a:srgbClr val="1E2B26"/>
                </a:solidFill>
                <a:latin typeface="Calibri" pitchFamily="34" charset="0"/>
                <a:ea typeface="Calibri" pitchFamily="34" charset="-122"/>
                <a:cs typeface="Calibri" pitchFamily="34" charset="-120"/>
              </a:rPr>
              <a:t>Expiry knowledge</a:t>
            </a:r>
            <a:endParaRPr lang="en-US" sz="1150" dirty="0"/>
          </a:p>
          <a:p>
            <a:pPr marL="127000" indent="-127000">
              <a:spcAft>
                <a:spcPts val="200"/>
              </a:spcAft>
              <a:buSzPct val="100000"/>
              <a:buChar char="•"/>
            </a:pPr>
            <a:r>
              <a:rPr lang="en-US" sz="1150" dirty="0">
                <a:solidFill>
                  <a:srgbClr val="1E2B26"/>
                </a:solidFill>
                <a:latin typeface="Calibri" pitchFamily="34" charset="0"/>
                <a:ea typeface="Calibri" pitchFamily="34" charset="-122"/>
                <a:cs typeface="Calibri" pitchFamily="34" charset="-120"/>
              </a:rPr>
              <a:t>Recipe candidates</a:t>
            </a:r>
            <a:endParaRPr lang="en-US" sz="1150" dirty="0"/>
          </a:p>
          <a:p>
            <a:pPr marL="127000" indent="-127000">
              <a:spcAft>
                <a:spcPts val="200"/>
              </a:spcAft>
              <a:buSzPct val="100000"/>
              <a:buChar char="•"/>
            </a:pPr>
            <a:r>
              <a:rPr lang="en-US" sz="1150" dirty="0">
                <a:solidFill>
                  <a:srgbClr val="1E2B26"/>
                </a:solidFill>
                <a:latin typeface="Calibri" pitchFamily="34" charset="0"/>
                <a:ea typeface="Calibri" pitchFamily="34" charset="-122"/>
                <a:cs typeface="Calibri" pitchFamily="34" charset="-120"/>
              </a:rPr>
              <a:t>Recipe nutrition</a:t>
            </a:r>
            <a:endParaRPr lang="en-US" sz="1150" dirty="0"/>
          </a:p>
        </p:txBody>
      </p:sp>
      <p:sp>
        <p:nvSpPr>
          <p:cNvPr id="26" name="Text 21"/>
          <p:cNvSpPr/>
          <p:nvPr/>
        </p:nvSpPr>
        <p:spPr>
          <a:xfrm>
            <a:off x="5279746" y="4050792"/>
            <a:ext cx="1634033" cy="256032"/>
          </a:xfrm>
          <a:prstGeom prst="roundRect">
            <a:avLst>
              <a:gd name="adj" fmla="val 28571"/>
            </a:avLst>
          </a:prstGeom>
          <a:solidFill>
            <a:srgbClr val="E3EFE8"/>
          </a:solidFill>
          <a:ln/>
        </p:spPr>
        <p:txBody>
          <a:bodyPr wrap="square" lIns="0" tIns="0" rIns="0" bIns="0" rtlCol="0" anchor="ctr"/>
          <a:lstStyle/>
          <a:p>
            <a:pPr marL="0" indent="0" algn="ctr">
              <a:buNone/>
            </a:pPr>
            <a:r>
              <a:rPr lang="en-US" sz="1000" b="1" dirty="0">
                <a:solidFill>
                  <a:srgbClr val="1F5C45"/>
                </a:solidFill>
                <a:latin typeface="Calibri" pitchFamily="34" charset="0"/>
                <a:ea typeface="Calibri" pitchFamily="34" charset="-122"/>
                <a:cs typeface="Calibri" pitchFamily="34" charset="-120"/>
              </a:rPr>
              <a:t>KNOWLEDGE LAYER</a:t>
            </a:r>
            <a:endParaRPr lang="en-US" sz="1000" dirty="0"/>
          </a:p>
        </p:txBody>
      </p:sp>
      <p:sp>
        <p:nvSpPr>
          <p:cNvPr id="27" name="Shape 22"/>
          <p:cNvSpPr/>
          <p:nvPr/>
        </p:nvSpPr>
        <p:spPr>
          <a:xfrm>
            <a:off x="7133234" y="2944368"/>
            <a:ext cx="201168" cy="0"/>
          </a:xfrm>
          <a:prstGeom prst="line">
            <a:avLst/>
          </a:prstGeom>
          <a:noFill/>
          <a:ln w="28575">
            <a:solidFill>
              <a:srgbClr val="D2652A"/>
            </a:solidFill>
            <a:prstDash val="solid"/>
            <a:tailEnd type="triangle"/>
          </a:ln>
        </p:spPr>
      </p:sp>
      <p:sp>
        <p:nvSpPr>
          <p:cNvPr id="28" name="Shape 23"/>
          <p:cNvSpPr/>
          <p:nvPr/>
        </p:nvSpPr>
        <p:spPr>
          <a:xfrm>
            <a:off x="7370978" y="1572768"/>
            <a:ext cx="1999793" cy="2880360"/>
          </a:xfrm>
          <a:prstGeom prst="roundRect">
            <a:avLst>
              <a:gd name="adj" fmla="val 5487"/>
            </a:avLst>
          </a:prstGeom>
          <a:solidFill>
            <a:srgbClr val="1F5C45"/>
          </a:solidFill>
          <a:ln/>
        </p:spPr>
      </p:sp>
      <p:sp>
        <p:nvSpPr>
          <p:cNvPr id="29" name="Text 24"/>
          <p:cNvSpPr txBox="1"/>
          <p:nvPr/>
        </p:nvSpPr>
        <p:spPr>
          <a:xfrm>
            <a:off x="7553858" y="1755648"/>
            <a:ext cx="1634033" cy="256032"/>
          </a:xfrm>
          <a:prstGeom prst="rect">
            <a:avLst/>
          </a:prstGeom>
          <a:noFill/>
          <a:ln/>
        </p:spPr>
        <p:txBody>
          <a:bodyPr wrap="square" lIns="0" tIns="0" rIns="0" bIns="0" rtlCol="0" anchor="t"/>
          <a:lstStyle/>
          <a:p>
            <a:pPr marL="0" indent="0">
              <a:buNone/>
            </a:pPr>
            <a:r>
              <a:rPr lang="en-US" sz="1100" b="1" kern="0" spc="100" dirty="0">
                <a:solidFill>
                  <a:srgbClr val="F4A261"/>
                </a:solidFill>
                <a:latin typeface="Calibri" pitchFamily="34" charset="0"/>
                <a:ea typeface="Calibri" pitchFamily="34" charset="-122"/>
                <a:cs typeface="Calibri" pitchFamily="34" charset="-120"/>
              </a:rPr>
              <a:t>4 · DECIDE</a:t>
            </a:r>
            <a:endParaRPr lang="en-US" sz="1100" dirty="0"/>
          </a:p>
        </p:txBody>
      </p:sp>
      <p:sp>
        <p:nvSpPr>
          <p:cNvPr id="30" name="Shape 25"/>
          <p:cNvSpPr/>
          <p:nvPr/>
        </p:nvSpPr>
        <p:spPr>
          <a:xfrm>
            <a:off x="7553858" y="2075688"/>
            <a:ext cx="530352" cy="530352"/>
          </a:xfrm>
          <a:prstGeom prst="ellipse">
            <a:avLst/>
          </a:prstGeom>
          <a:solidFill>
            <a:srgbClr val="FFFFFF"/>
          </a:solidFill>
          <a:ln/>
        </p:spPr>
      </p:sp>
      <p:pic>
        <p:nvPicPr>
          <p:cNvPr id="31" name="Image 3" descr="preencoded.png"/>
          <p:cNvPicPr>
            <a:picLocks noChangeAspect="1"/>
          </p:cNvPicPr>
          <p:nvPr/>
        </p:nvPicPr>
        <p:blipFill>
          <a:blip r:embed="rId6"/>
          <a:stretch>
            <a:fillRect/>
          </a:stretch>
        </p:blipFill>
        <p:spPr>
          <a:xfrm>
            <a:off x="7675839" y="2197669"/>
            <a:ext cx="286390" cy="286390"/>
          </a:xfrm>
          <a:prstGeom prst="rect">
            <a:avLst/>
          </a:prstGeom>
        </p:spPr>
      </p:pic>
      <p:sp>
        <p:nvSpPr>
          <p:cNvPr id="32" name="Text 26"/>
          <p:cNvSpPr txBox="1"/>
          <p:nvPr/>
        </p:nvSpPr>
        <p:spPr>
          <a:xfrm>
            <a:off x="7553858" y="2706624"/>
            <a:ext cx="1634033" cy="530352"/>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Rules → scoring → optimiser</a:t>
            </a:r>
            <a:endParaRPr lang="en-US" sz="1500" dirty="0"/>
          </a:p>
        </p:txBody>
      </p:sp>
      <p:sp>
        <p:nvSpPr>
          <p:cNvPr id="33" name="Text 27"/>
          <p:cNvSpPr txBox="1"/>
          <p:nvPr/>
        </p:nvSpPr>
        <p:spPr>
          <a:xfrm>
            <a:off x="7553858" y="3273552"/>
            <a:ext cx="1679753" cy="603504"/>
          </a:xfrm>
          <a:prstGeom prst="rect">
            <a:avLst/>
          </a:prstGeom>
          <a:noFill/>
          <a:ln/>
        </p:spPr>
        <p:txBody>
          <a:bodyPr wrap="square" lIns="0" tIns="0" rIns="0" bIns="0" rtlCol="0" anchor="t"/>
          <a:lstStyle/>
          <a:p>
            <a:pPr marL="127000" indent="-127000">
              <a:spcAft>
                <a:spcPts val="200"/>
              </a:spcAft>
              <a:buSzPct val="100000"/>
              <a:buChar char="•"/>
            </a:pPr>
            <a:r>
              <a:rPr lang="en-US" sz="1150" dirty="0">
                <a:solidFill>
                  <a:srgbClr val="CFE3D8"/>
                </a:solidFill>
                <a:latin typeface="Calibri" pitchFamily="34" charset="0"/>
                <a:ea typeface="Calibri" pitchFamily="34" charset="-122"/>
                <a:cs typeface="Calibri" pitchFamily="34" charset="-120"/>
              </a:rPr>
              <a:t>Hard-rule filtering</a:t>
            </a:r>
            <a:endParaRPr lang="en-US" sz="1150" dirty="0"/>
          </a:p>
          <a:p>
            <a:pPr marL="127000" indent="-127000">
              <a:spcAft>
                <a:spcPts val="200"/>
              </a:spcAft>
              <a:buSzPct val="100000"/>
              <a:buChar char="•"/>
            </a:pPr>
            <a:r>
              <a:rPr lang="en-US" sz="1150" dirty="0">
                <a:solidFill>
                  <a:srgbClr val="CFE3D8"/>
                </a:solidFill>
                <a:latin typeface="Calibri" pitchFamily="34" charset="0"/>
                <a:ea typeface="Calibri" pitchFamily="34" charset="-122"/>
                <a:cs typeface="Calibri" pitchFamily="34" charset="-120"/>
              </a:rPr>
              <a:t>Preference scoring</a:t>
            </a:r>
            <a:endParaRPr lang="en-US" sz="1150" dirty="0"/>
          </a:p>
          <a:p>
            <a:pPr marL="127000" indent="-127000">
              <a:spcAft>
                <a:spcPts val="200"/>
              </a:spcAft>
              <a:buSzPct val="100000"/>
              <a:buChar char="•"/>
            </a:pPr>
            <a:r>
              <a:rPr lang="en-US" sz="1150" dirty="0">
                <a:solidFill>
                  <a:srgbClr val="CFE3D8"/>
                </a:solidFill>
                <a:latin typeface="Calibri" pitchFamily="34" charset="0"/>
                <a:ea typeface="Calibri" pitchFamily="34" charset="-122"/>
                <a:cs typeface="Calibri" pitchFamily="34" charset="-120"/>
              </a:rPr>
              <a:t>Weekly optimiser</a:t>
            </a:r>
            <a:endParaRPr lang="en-US" sz="1150" dirty="0"/>
          </a:p>
        </p:txBody>
      </p:sp>
      <p:sp>
        <p:nvSpPr>
          <p:cNvPr id="34" name="Text 28"/>
          <p:cNvSpPr/>
          <p:nvPr/>
        </p:nvSpPr>
        <p:spPr>
          <a:xfrm>
            <a:off x="7553858" y="4050792"/>
            <a:ext cx="1634033" cy="256032"/>
          </a:xfrm>
          <a:prstGeom prst="roundRect">
            <a:avLst>
              <a:gd name="adj" fmla="val 28571"/>
            </a:avLst>
          </a:prstGeom>
          <a:solidFill>
            <a:srgbClr val="2A6E55"/>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MR · RS</a:t>
            </a:r>
            <a:endParaRPr lang="en-US" sz="1000" dirty="0"/>
          </a:p>
        </p:txBody>
      </p:sp>
      <p:sp>
        <p:nvSpPr>
          <p:cNvPr id="35" name="Shape 29"/>
          <p:cNvSpPr/>
          <p:nvPr/>
        </p:nvSpPr>
        <p:spPr>
          <a:xfrm>
            <a:off x="9407347" y="2944368"/>
            <a:ext cx="201168" cy="0"/>
          </a:xfrm>
          <a:prstGeom prst="line">
            <a:avLst/>
          </a:prstGeom>
          <a:noFill/>
          <a:ln w="28575">
            <a:solidFill>
              <a:srgbClr val="D2652A"/>
            </a:solidFill>
            <a:prstDash val="solid"/>
            <a:tailEnd type="triangle"/>
          </a:ln>
        </p:spPr>
      </p:sp>
      <p:sp>
        <p:nvSpPr>
          <p:cNvPr id="36" name="Shape 30"/>
          <p:cNvSpPr/>
          <p:nvPr/>
        </p:nvSpPr>
        <p:spPr>
          <a:xfrm>
            <a:off x="9645091" y="1572768"/>
            <a:ext cx="1999793" cy="2880360"/>
          </a:xfrm>
          <a:prstGeom prst="roundRect">
            <a:avLst>
              <a:gd name="adj" fmla="val 5487"/>
            </a:avLst>
          </a:prstGeom>
          <a:solidFill>
            <a:srgbClr val="FFFFFF"/>
          </a:solidFill>
          <a:ln w="12700">
            <a:solidFill>
              <a:srgbClr val="C9DDD1"/>
            </a:solidFill>
            <a:prstDash val="solid"/>
          </a:ln>
        </p:spPr>
      </p:sp>
      <p:sp>
        <p:nvSpPr>
          <p:cNvPr id="37" name="Text 31"/>
          <p:cNvSpPr txBox="1"/>
          <p:nvPr/>
        </p:nvSpPr>
        <p:spPr>
          <a:xfrm>
            <a:off x="9827971" y="1755648"/>
            <a:ext cx="1634033" cy="256032"/>
          </a:xfrm>
          <a:prstGeom prst="rect">
            <a:avLst/>
          </a:prstGeom>
          <a:noFill/>
          <a:ln/>
        </p:spPr>
        <p:txBody>
          <a:bodyPr wrap="square" lIns="0" tIns="0" rIns="0" bIns="0" rtlCol="0" anchor="t"/>
          <a:lstStyle/>
          <a:p>
            <a:pPr marL="0" indent="0">
              <a:buNone/>
            </a:pPr>
            <a:r>
              <a:rPr lang="en-US" sz="1100" b="1" kern="0" spc="100" dirty="0">
                <a:solidFill>
                  <a:srgbClr val="D2652A"/>
                </a:solidFill>
                <a:latin typeface="Calibri" pitchFamily="34" charset="0"/>
                <a:ea typeface="Calibri" pitchFamily="34" charset="-122"/>
                <a:cs typeface="Calibri" pitchFamily="34" charset="-120"/>
              </a:rPr>
              <a:t>5 · OUTPUT</a:t>
            </a:r>
            <a:endParaRPr lang="en-US" sz="1100" dirty="0"/>
          </a:p>
        </p:txBody>
      </p:sp>
      <p:sp>
        <p:nvSpPr>
          <p:cNvPr id="38" name="Shape 32"/>
          <p:cNvSpPr/>
          <p:nvPr/>
        </p:nvSpPr>
        <p:spPr>
          <a:xfrm>
            <a:off x="9827971" y="2075688"/>
            <a:ext cx="530352" cy="530352"/>
          </a:xfrm>
          <a:prstGeom prst="ellipse">
            <a:avLst/>
          </a:prstGeom>
          <a:solidFill>
            <a:srgbClr val="1F5C45"/>
          </a:solidFill>
          <a:ln/>
        </p:spPr>
      </p:sp>
      <p:pic>
        <p:nvPicPr>
          <p:cNvPr id="39" name="Image 4" descr="preencoded.png"/>
          <p:cNvPicPr>
            <a:picLocks noChangeAspect="1"/>
          </p:cNvPicPr>
          <p:nvPr/>
        </p:nvPicPr>
        <p:blipFill>
          <a:blip r:embed="rId7"/>
          <a:stretch>
            <a:fillRect/>
          </a:stretch>
        </p:blipFill>
        <p:spPr>
          <a:xfrm>
            <a:off x="9949952" y="2197669"/>
            <a:ext cx="286390" cy="286390"/>
          </a:xfrm>
          <a:prstGeom prst="rect">
            <a:avLst/>
          </a:prstGeom>
        </p:spPr>
      </p:pic>
      <p:sp>
        <p:nvSpPr>
          <p:cNvPr id="40" name="Text 33"/>
          <p:cNvSpPr txBox="1"/>
          <p:nvPr/>
        </p:nvSpPr>
        <p:spPr>
          <a:xfrm>
            <a:off x="9827971" y="2706624"/>
            <a:ext cx="1634033" cy="530352"/>
          </a:xfrm>
          <a:prstGeom prst="rect">
            <a:avLst/>
          </a:prstGeom>
          <a:noFill/>
          <a:ln/>
        </p:spPr>
        <p:txBody>
          <a:bodyPr wrap="square" lIns="0" tIns="0" rIns="0" bIns="0" rtlCol="0" anchor="t"/>
          <a:lstStyle/>
          <a:p>
            <a:pPr marL="0" indent="0">
              <a:buNone/>
            </a:pPr>
            <a:r>
              <a:rPr lang="en-US" sz="1500" b="1" dirty="0">
                <a:solidFill>
                  <a:srgbClr val="13342A"/>
                </a:solidFill>
                <a:latin typeface="Calibri" pitchFamily="34" charset="0"/>
                <a:ea typeface="Calibri" pitchFamily="34" charset="-122"/>
                <a:cs typeface="Calibri" pitchFamily="34" charset="-120"/>
              </a:rPr>
              <a:t>Plan, box &amp; explanation</a:t>
            </a:r>
            <a:endParaRPr lang="en-US" sz="1500" dirty="0"/>
          </a:p>
        </p:txBody>
      </p:sp>
      <p:sp>
        <p:nvSpPr>
          <p:cNvPr id="41" name="Text 34"/>
          <p:cNvSpPr txBox="1"/>
          <p:nvPr/>
        </p:nvSpPr>
        <p:spPr>
          <a:xfrm>
            <a:off x="9827971" y="3273552"/>
            <a:ext cx="1679753" cy="603504"/>
          </a:xfrm>
          <a:prstGeom prst="rect">
            <a:avLst/>
          </a:prstGeom>
          <a:noFill/>
          <a:ln/>
        </p:spPr>
        <p:txBody>
          <a:bodyPr wrap="square" lIns="0" tIns="0" rIns="0" bIns="0" rtlCol="0" anchor="t"/>
          <a:lstStyle/>
          <a:p>
            <a:pPr marL="127000" indent="-127000">
              <a:spcAft>
                <a:spcPts val="200"/>
              </a:spcAft>
              <a:buSzPct val="100000"/>
              <a:buChar char="•"/>
            </a:pPr>
            <a:r>
              <a:rPr lang="en-US" sz="1150" dirty="0">
                <a:solidFill>
                  <a:srgbClr val="1E2B26"/>
                </a:solidFill>
                <a:latin typeface="Calibri" pitchFamily="34" charset="0"/>
                <a:ea typeface="Calibri" pitchFamily="34" charset="-122"/>
                <a:cs typeface="Calibri" pitchFamily="34" charset="-120"/>
              </a:rPr>
              <a:t>Seven dinners</a:t>
            </a:r>
            <a:endParaRPr lang="en-US" sz="1150" dirty="0"/>
          </a:p>
          <a:p>
            <a:pPr marL="127000" indent="-127000">
              <a:spcAft>
                <a:spcPts val="200"/>
              </a:spcAft>
              <a:buSzPct val="100000"/>
              <a:buChar char="•"/>
            </a:pPr>
            <a:r>
              <a:rPr lang="en-US" sz="1150" dirty="0">
                <a:solidFill>
                  <a:srgbClr val="1E2B26"/>
                </a:solidFill>
                <a:latin typeface="Calibri" pitchFamily="34" charset="0"/>
                <a:ea typeface="Calibri" pitchFamily="34" charset="-122"/>
                <a:cs typeface="Calibri" pitchFamily="34" charset="-120"/>
              </a:rPr>
              <a:t>Grocery box</a:t>
            </a:r>
            <a:endParaRPr lang="en-US" sz="1150" dirty="0"/>
          </a:p>
          <a:p>
            <a:pPr marL="127000" indent="-127000">
              <a:spcAft>
                <a:spcPts val="200"/>
              </a:spcAft>
              <a:buSzPct val="100000"/>
              <a:buChar char="•"/>
            </a:pPr>
            <a:r>
              <a:rPr lang="en-US" sz="1150" dirty="0">
                <a:solidFill>
                  <a:srgbClr val="1E2B26"/>
                </a:solidFill>
                <a:latin typeface="Calibri" pitchFamily="34" charset="0"/>
                <a:ea typeface="Calibri" pitchFamily="34" charset="-122"/>
                <a:cs typeface="Calibri" pitchFamily="34" charset="-120"/>
              </a:rPr>
              <a:t>Plain-English “why”</a:t>
            </a:r>
            <a:endParaRPr lang="en-US" sz="1150" dirty="0"/>
          </a:p>
        </p:txBody>
      </p:sp>
      <p:sp>
        <p:nvSpPr>
          <p:cNvPr id="42" name="Text 35"/>
          <p:cNvSpPr/>
          <p:nvPr/>
        </p:nvSpPr>
        <p:spPr>
          <a:xfrm>
            <a:off x="9827971" y="4050792"/>
            <a:ext cx="1634033" cy="256032"/>
          </a:xfrm>
          <a:prstGeom prst="roundRect">
            <a:avLst>
              <a:gd name="adj" fmla="val 28571"/>
            </a:avLst>
          </a:prstGeom>
          <a:solidFill>
            <a:srgbClr val="E3EFE8"/>
          </a:solidFill>
          <a:ln/>
        </p:spPr>
        <p:txBody>
          <a:bodyPr wrap="square" lIns="0" tIns="0" rIns="0" bIns="0" rtlCol="0" anchor="ctr"/>
          <a:lstStyle/>
          <a:p>
            <a:pPr marL="0" indent="0" algn="ctr">
              <a:buNone/>
            </a:pPr>
            <a:r>
              <a:rPr lang="en-US" sz="1000" b="1" dirty="0">
                <a:solidFill>
                  <a:srgbClr val="1F5C45"/>
                </a:solidFill>
                <a:latin typeface="Calibri" pitchFamily="34" charset="0"/>
                <a:ea typeface="Calibri" pitchFamily="34" charset="-122"/>
                <a:cs typeface="Calibri" pitchFamily="34" charset="-120"/>
              </a:rPr>
              <a:t>CGS</a:t>
            </a:r>
            <a:endParaRPr lang="en-US" sz="1000" dirty="0"/>
          </a:p>
        </p:txBody>
      </p:sp>
      <p:sp>
        <p:nvSpPr>
          <p:cNvPr id="43" name="Shape 36"/>
          <p:cNvSpPr/>
          <p:nvPr/>
        </p:nvSpPr>
        <p:spPr>
          <a:xfrm>
            <a:off x="2822753" y="4663440"/>
            <a:ext cx="6548018" cy="585216"/>
          </a:xfrm>
          <a:prstGeom prst="roundRect">
            <a:avLst>
              <a:gd name="adj" fmla="val 15625"/>
            </a:avLst>
          </a:prstGeom>
          <a:solidFill>
            <a:srgbClr val="F5F9F7"/>
          </a:solidFill>
          <a:ln w="12700">
            <a:solidFill>
              <a:srgbClr val="C9DDD1"/>
            </a:solidFill>
            <a:prstDash val="dash"/>
          </a:ln>
        </p:spPr>
      </p:sp>
      <p:pic>
        <p:nvPicPr>
          <p:cNvPr id="44" name="Image 5" descr="preencoded.png"/>
          <p:cNvPicPr>
            <a:picLocks noChangeAspect="1"/>
          </p:cNvPicPr>
          <p:nvPr/>
        </p:nvPicPr>
        <p:blipFill>
          <a:blip r:embed="rId8"/>
          <a:stretch>
            <a:fillRect/>
          </a:stretch>
        </p:blipFill>
        <p:spPr>
          <a:xfrm>
            <a:off x="3023921" y="4809744"/>
            <a:ext cx="292608" cy="292608"/>
          </a:xfrm>
          <a:prstGeom prst="rect">
            <a:avLst/>
          </a:prstGeom>
        </p:spPr>
      </p:pic>
      <p:sp>
        <p:nvSpPr>
          <p:cNvPr id="45" name="Text 37"/>
          <p:cNvSpPr txBox="1"/>
          <p:nvPr/>
        </p:nvSpPr>
        <p:spPr>
          <a:xfrm>
            <a:off x="3426257" y="4663440"/>
            <a:ext cx="5816498" cy="585216"/>
          </a:xfrm>
          <a:prstGeom prst="rect">
            <a:avLst/>
          </a:prstGeom>
          <a:noFill/>
          <a:ln/>
        </p:spPr>
        <p:txBody>
          <a:bodyPr wrap="square" lIns="0" tIns="0" rIns="0" bIns="0" rtlCol="0" anchor="ctr"/>
          <a:lstStyle/>
          <a:p>
            <a:pPr marL="0" indent="0">
              <a:buNone/>
            </a:pPr>
            <a:r>
              <a:rPr lang="en-US" sz="1250" b="1" dirty="0">
                <a:solidFill>
                  <a:srgbClr val="13342A"/>
                </a:solidFill>
                <a:latin typeface="Calibri" pitchFamily="34" charset="0"/>
                <a:ea typeface="Calibri" pitchFamily="34" charset="-122"/>
                <a:cs typeface="Calibri" pitchFamily="34" charset="-120"/>
              </a:rPr>
              <a:t>Canonical ingredient knowledge base</a:t>
            </a:r>
            <a:endParaRPr lang="en-US" sz="1250" dirty="0"/>
          </a:p>
          <a:p>
            <a:pPr marL="0" indent="0">
              <a:buNone/>
            </a:pPr>
            <a:r>
              <a:rPr lang="en-US" sz="1250" dirty="0">
                <a:solidFill>
                  <a:srgbClr val="1E2B26"/>
                </a:solidFill>
                <a:latin typeface="Calibri" pitchFamily="34" charset="0"/>
                <a:ea typeface="Calibri" pitchFamily="34" charset="-122"/>
                <a:cs typeface="Calibri" pitchFamily="34" charset="-120"/>
              </a:rPr>
              <a:t>Food.com recipes · USDA FoodData Central · USDA FoodKeeper · provenance &amp; confidence</a:t>
            </a:r>
            <a:endParaRPr lang="en-US" sz="1250" dirty="0"/>
          </a:p>
        </p:txBody>
      </p:sp>
      <p:sp>
        <p:nvSpPr>
          <p:cNvPr id="46" name="Shape 38"/>
          <p:cNvSpPr/>
          <p:nvPr/>
        </p:nvSpPr>
        <p:spPr>
          <a:xfrm>
            <a:off x="3822649" y="4453128"/>
            <a:ext cx="0" cy="210312"/>
          </a:xfrm>
          <a:prstGeom prst="line">
            <a:avLst/>
          </a:prstGeom>
          <a:noFill/>
          <a:ln w="19050">
            <a:solidFill>
              <a:srgbClr val="1F5C45"/>
            </a:solidFill>
            <a:prstDash val="solid"/>
            <a:headEnd type="triangle"/>
          </a:ln>
        </p:spPr>
      </p:sp>
      <p:sp>
        <p:nvSpPr>
          <p:cNvPr id="47" name="Shape 39"/>
          <p:cNvSpPr/>
          <p:nvPr/>
        </p:nvSpPr>
        <p:spPr>
          <a:xfrm>
            <a:off x="6096762" y="4453128"/>
            <a:ext cx="0" cy="210312"/>
          </a:xfrm>
          <a:prstGeom prst="line">
            <a:avLst/>
          </a:prstGeom>
          <a:noFill/>
          <a:ln w="19050">
            <a:solidFill>
              <a:srgbClr val="1F5C45"/>
            </a:solidFill>
            <a:prstDash val="solid"/>
            <a:headEnd type="triangle"/>
          </a:ln>
        </p:spPr>
      </p:sp>
      <p:sp>
        <p:nvSpPr>
          <p:cNvPr id="48" name="Shape 40"/>
          <p:cNvSpPr/>
          <p:nvPr/>
        </p:nvSpPr>
        <p:spPr>
          <a:xfrm>
            <a:off x="8370875" y="4453128"/>
            <a:ext cx="0" cy="210312"/>
          </a:xfrm>
          <a:prstGeom prst="line">
            <a:avLst/>
          </a:prstGeom>
          <a:noFill/>
          <a:ln w="19050">
            <a:solidFill>
              <a:srgbClr val="1F5C45"/>
            </a:solidFill>
            <a:prstDash val="solid"/>
            <a:headEnd type="triangle"/>
          </a:ln>
        </p:spPr>
      </p:sp>
      <p:sp>
        <p:nvSpPr>
          <p:cNvPr id="49" name="Shape 41"/>
          <p:cNvSpPr/>
          <p:nvPr/>
        </p:nvSpPr>
        <p:spPr>
          <a:xfrm>
            <a:off x="548640" y="5449824"/>
            <a:ext cx="11094415" cy="694944"/>
          </a:xfrm>
          <a:prstGeom prst="roundRect">
            <a:avLst>
              <a:gd name="adj" fmla="val 15789"/>
            </a:avLst>
          </a:prstGeom>
          <a:solidFill>
            <a:srgbClr val="FDF0E6"/>
          </a:solidFill>
          <a:ln/>
        </p:spPr>
      </p:sp>
      <p:pic>
        <p:nvPicPr>
          <p:cNvPr id="50" name="Image 6" descr="preencoded.png"/>
          <p:cNvPicPr>
            <a:picLocks noChangeAspect="1"/>
          </p:cNvPicPr>
          <p:nvPr/>
        </p:nvPicPr>
        <p:blipFill>
          <a:blip r:embed="rId9"/>
          <a:stretch>
            <a:fillRect/>
          </a:stretch>
        </p:blipFill>
        <p:spPr>
          <a:xfrm>
            <a:off x="786384" y="5605272"/>
            <a:ext cx="384048" cy="384048"/>
          </a:xfrm>
          <a:prstGeom prst="rect">
            <a:avLst/>
          </a:prstGeom>
        </p:spPr>
      </p:pic>
      <p:sp>
        <p:nvSpPr>
          <p:cNvPr id="51" name="Text 42"/>
          <p:cNvSpPr txBox="1"/>
          <p:nvPr/>
        </p:nvSpPr>
        <p:spPr>
          <a:xfrm>
            <a:off x="1353312" y="5449824"/>
            <a:ext cx="10088575" cy="694944"/>
          </a:xfrm>
          <a:prstGeom prst="rect">
            <a:avLst/>
          </a:prstGeom>
          <a:noFill/>
          <a:ln/>
        </p:spPr>
        <p:txBody>
          <a:bodyPr wrap="square" lIns="0" tIns="0" rIns="0" bIns="0" rtlCol="0" anchor="ctr"/>
          <a:lstStyle/>
          <a:p>
            <a:pPr marL="0" indent="0">
              <a:buNone/>
            </a:pPr>
            <a:r>
              <a:rPr lang="en-US" sz="1400" b="1" dirty="0">
                <a:solidFill>
                  <a:srgbClr val="13342A"/>
                </a:solidFill>
                <a:latin typeface="Calibri" pitchFamily="34" charset="0"/>
                <a:ea typeface="Calibri" pitchFamily="34" charset="-122"/>
                <a:cs typeface="Calibri" pitchFamily="34" charset="-120"/>
              </a:rPr>
              <a:t>Design principle: </a:t>
            </a:r>
            <a:r>
              <a:rPr lang="en-US" sz="1400" dirty="0">
                <a:solidFill>
                  <a:srgbClr val="1E2B26"/>
                </a:solidFill>
                <a:latin typeface="Calibri" pitchFamily="34" charset="0"/>
                <a:ea typeface="Calibri" pitchFamily="34" charset="-122"/>
                <a:cs typeface="Calibri" pitchFamily="34" charset="-120"/>
              </a:rPr>
              <a:t>the LLM is only the interface and explanation layer. Explicit rules and optimisation select the meals, so every decision stays measurable and reproducible.</a:t>
            </a:r>
            <a:endParaRPr lang="en-US" sz="1400" dirty="0"/>
          </a:p>
        </p:txBody>
      </p:sp>
      <p:sp>
        <p:nvSpPr>
          <p:cNvPr id="52" name="Text 43"/>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1000" dirty="0">
                <a:solidFill>
                  <a:srgbClr val="5A6B63"/>
                </a:solidFill>
                <a:latin typeface="Calibri" pitchFamily="34" charset="0"/>
                <a:ea typeface="Calibri" pitchFamily="34" charset="-122"/>
                <a:cs typeface="Calibri" pitchFamily="34" charset="-120"/>
              </a:rPr>
              <a:t>Pantry-to-Plate  ·  IRS Practice Module</a:t>
            </a:r>
            <a:endParaRPr lang="en-US" sz="1000" dirty="0"/>
          </a:p>
        </p:txBody>
      </p:sp>
      <p:sp>
        <p:nvSpPr>
          <p:cNvPr id="53" name="Text 44"/>
          <p:cNvSpPr txBox="1"/>
          <p:nvPr/>
        </p:nvSpPr>
        <p:spPr>
          <a:xfrm>
            <a:off x="10271455" y="6419088"/>
            <a:ext cx="1371600" cy="256032"/>
          </a:xfrm>
          <a:prstGeom prst="rect">
            <a:avLst/>
          </a:prstGeom>
          <a:noFill/>
          <a:ln/>
        </p:spPr>
        <p:txBody>
          <a:bodyPr wrap="square" lIns="0" tIns="0" rIns="0" bIns="0" rtlCol="0" anchor="t"/>
          <a:lstStyle/>
          <a:p>
            <a:pPr marL="0" indent="0" algn="r">
              <a:buNone/>
            </a:pPr>
            <a:r>
              <a:rPr lang="en-US" sz="1000" dirty="0">
                <a:solidFill>
                  <a:srgbClr val="5A6B63"/>
                </a:solidFill>
                <a:latin typeface="Calibri" pitchFamily="34" charset="0"/>
                <a:ea typeface="Calibri" pitchFamily="34" charset="-122"/>
                <a:cs typeface="Calibri" pitchFamily="34" charset="-120"/>
              </a:rPr>
              <a:t>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150" dirty="0">
                <a:solidFill>
                  <a:srgbClr val="D2652A"/>
                </a:solidFill>
                <a:latin typeface="Calibri" pitchFamily="34" charset="0"/>
                <a:ea typeface="Calibri" pitchFamily="34" charset="-122"/>
                <a:cs typeface="Calibri" pitchFamily="34" charset="-120"/>
              </a:rPr>
              <a:t>METHODS &amp; TECHNIQUES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200" b="1" dirty="0">
                <a:solidFill>
                  <a:srgbClr val="13342A"/>
                </a:solidFill>
                <a:latin typeface="Cambria" pitchFamily="34" charset="0"/>
                <a:ea typeface="Cambria" pitchFamily="34" charset="-122"/>
                <a:cs typeface="Cambria" pitchFamily="34" charset="-120"/>
              </a:rPr>
              <a:t>ML, rules, optimisation and an LLM layer</a:t>
            </a:r>
            <a:endParaRPr lang="en-US" sz="3200" dirty="0"/>
          </a:p>
        </p:txBody>
      </p:sp>
      <p:sp>
        <p:nvSpPr>
          <p:cNvPr id="4" name="Shape 2"/>
          <p:cNvSpPr/>
          <p:nvPr/>
        </p:nvSpPr>
        <p:spPr>
          <a:xfrm>
            <a:off x="548640" y="1417320"/>
            <a:ext cx="2650160" cy="4846320"/>
          </a:xfrm>
          <a:prstGeom prst="roundRect">
            <a:avLst>
              <a:gd name="adj" fmla="val 4140"/>
            </a:avLst>
          </a:prstGeom>
          <a:solidFill>
            <a:srgbClr val="EEF5F1"/>
          </a:solidFill>
          <a:ln/>
        </p:spPr>
      </p:sp>
      <p:sp>
        <p:nvSpPr>
          <p:cNvPr id="5" name="Text 3"/>
          <p:cNvSpPr/>
          <p:nvPr/>
        </p:nvSpPr>
        <p:spPr>
          <a:xfrm>
            <a:off x="731520" y="1581912"/>
            <a:ext cx="420624" cy="420624"/>
          </a:xfrm>
          <a:prstGeom prst="ellipse">
            <a:avLst/>
          </a:prstGeom>
          <a:solidFill>
            <a:srgbClr val="D2652A"/>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6" name="Text 4"/>
          <p:cNvSpPr/>
          <p:nvPr/>
        </p:nvSpPr>
        <p:spPr>
          <a:xfrm>
            <a:off x="1951558" y="1645920"/>
            <a:ext cx="1064362" cy="292608"/>
          </a:xfrm>
          <a:prstGeom prst="roundRect">
            <a:avLst>
              <a:gd name="adj" fmla="val 25000"/>
            </a:avLst>
          </a:prstGeom>
          <a:solidFill>
            <a:srgbClr val="E3EFE8"/>
          </a:solidFill>
          <a:ln/>
        </p:spPr>
        <p:txBody>
          <a:bodyPr wrap="square" lIns="0" tIns="0" rIns="0" bIns="0" rtlCol="0" anchor="ctr"/>
          <a:lstStyle/>
          <a:p>
            <a:pPr marL="0" indent="0" algn="ctr">
              <a:buNone/>
            </a:pPr>
            <a:r>
              <a:rPr lang="en-US" sz="950" b="1" dirty="0">
                <a:solidFill>
                  <a:srgbClr val="1F5C45"/>
                </a:solidFill>
                <a:latin typeface="Calibri" pitchFamily="34" charset="0"/>
                <a:ea typeface="Calibri" pitchFamily="34" charset="-122"/>
                <a:cs typeface="Calibri" pitchFamily="34" charset="-120"/>
              </a:rPr>
              <a:t>ML · MR / RS</a:t>
            </a:r>
            <a:endParaRPr lang="en-US" sz="950" dirty="0"/>
          </a:p>
        </p:txBody>
      </p:sp>
      <p:sp>
        <p:nvSpPr>
          <p:cNvPr id="7" name="Text 5"/>
          <p:cNvSpPr txBox="1"/>
          <p:nvPr/>
        </p:nvSpPr>
        <p:spPr>
          <a:xfrm>
            <a:off x="731520" y="2093976"/>
            <a:ext cx="2284400" cy="475488"/>
          </a:xfrm>
          <a:prstGeom prst="rect">
            <a:avLst/>
          </a:prstGeom>
          <a:noFill/>
          <a:ln/>
        </p:spPr>
        <p:txBody>
          <a:bodyPr wrap="square" lIns="0" tIns="0" rIns="0" bIns="0" rtlCol="0" anchor="ctr"/>
          <a:lstStyle/>
          <a:p>
            <a:pPr marL="0" indent="0">
              <a:buNone/>
            </a:pPr>
            <a:r>
              <a:rPr lang="en-US" sz="1400" b="1" dirty="0">
                <a:solidFill>
                  <a:srgbClr val="13342A"/>
                </a:solidFill>
                <a:latin typeface="Calibri" pitchFamily="34" charset="0"/>
                <a:ea typeface="Calibri" pitchFamily="34" charset="-122"/>
                <a:cs typeface="Calibri" pitchFamily="34" charset="-120"/>
              </a:rPr>
              <a:t>Recommendation / preference model</a:t>
            </a:r>
            <a:endParaRPr lang="en-US" sz="1400" dirty="0"/>
          </a:p>
        </p:txBody>
      </p:sp>
      <p:sp>
        <p:nvSpPr>
          <p:cNvPr id="8" name="Shape 6"/>
          <p:cNvSpPr/>
          <p:nvPr/>
        </p:nvSpPr>
        <p:spPr>
          <a:xfrm>
            <a:off x="3363392" y="1417320"/>
            <a:ext cx="2650160" cy="4846320"/>
          </a:xfrm>
          <a:prstGeom prst="roundRect">
            <a:avLst>
              <a:gd name="adj" fmla="val 4140"/>
            </a:avLst>
          </a:prstGeom>
          <a:solidFill>
            <a:srgbClr val="EEF5F1"/>
          </a:solidFill>
          <a:ln/>
        </p:spPr>
      </p:sp>
      <p:sp>
        <p:nvSpPr>
          <p:cNvPr id="9" name="Text 7"/>
          <p:cNvSpPr/>
          <p:nvPr/>
        </p:nvSpPr>
        <p:spPr>
          <a:xfrm>
            <a:off x="3546272" y="1581912"/>
            <a:ext cx="420624" cy="420624"/>
          </a:xfrm>
          <a:prstGeom prst="ellipse">
            <a:avLst/>
          </a:prstGeom>
          <a:solidFill>
            <a:srgbClr val="D2652A"/>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0" name="Text 8"/>
          <p:cNvSpPr/>
          <p:nvPr/>
        </p:nvSpPr>
        <p:spPr>
          <a:xfrm>
            <a:off x="4897984" y="1645920"/>
            <a:ext cx="932688" cy="292608"/>
          </a:xfrm>
          <a:prstGeom prst="roundRect">
            <a:avLst>
              <a:gd name="adj" fmla="val 25000"/>
            </a:avLst>
          </a:prstGeom>
          <a:solidFill>
            <a:srgbClr val="E3EFE8"/>
          </a:solidFill>
          <a:ln/>
        </p:spPr>
        <p:txBody>
          <a:bodyPr wrap="square" lIns="0" tIns="0" rIns="0" bIns="0" rtlCol="0" anchor="ctr"/>
          <a:lstStyle/>
          <a:p>
            <a:pPr marL="0" indent="0" algn="ctr">
              <a:buNone/>
            </a:pPr>
            <a:r>
              <a:rPr lang="en-US" sz="950" b="1" dirty="0">
                <a:solidFill>
                  <a:srgbClr val="1F5C45"/>
                </a:solidFill>
                <a:latin typeface="Calibri" pitchFamily="34" charset="0"/>
                <a:ea typeface="Calibri" pitchFamily="34" charset="-122"/>
                <a:cs typeface="Calibri" pitchFamily="34" charset="-120"/>
              </a:rPr>
              <a:t>RULES · MR</a:t>
            </a:r>
            <a:endParaRPr lang="en-US" sz="950" dirty="0"/>
          </a:p>
        </p:txBody>
      </p:sp>
      <p:sp>
        <p:nvSpPr>
          <p:cNvPr id="11" name="Text 9"/>
          <p:cNvSpPr txBox="1"/>
          <p:nvPr/>
        </p:nvSpPr>
        <p:spPr>
          <a:xfrm>
            <a:off x="3546272" y="2093976"/>
            <a:ext cx="2284400" cy="475488"/>
          </a:xfrm>
          <a:prstGeom prst="rect">
            <a:avLst/>
          </a:prstGeom>
          <a:noFill/>
          <a:ln/>
        </p:spPr>
        <p:txBody>
          <a:bodyPr wrap="square" lIns="0" tIns="0" rIns="0" bIns="0" rtlCol="0" anchor="ctr"/>
          <a:lstStyle/>
          <a:p>
            <a:pPr marL="0" indent="0">
              <a:buNone/>
            </a:pPr>
            <a:r>
              <a:rPr lang="en-US" sz="1400" b="1" dirty="0">
                <a:solidFill>
                  <a:srgbClr val="13342A"/>
                </a:solidFill>
                <a:latin typeface="Calibri" pitchFamily="34" charset="0"/>
                <a:ea typeface="Calibri" pitchFamily="34" charset="-122"/>
                <a:cs typeface="Calibri" pitchFamily="34" charset="-120"/>
              </a:rPr>
              <a:t>Knowledge-based / rule-based reasoning</a:t>
            </a:r>
            <a:endParaRPr lang="en-US" sz="1400" dirty="0"/>
          </a:p>
        </p:txBody>
      </p:sp>
      <p:sp>
        <p:nvSpPr>
          <p:cNvPr id="12" name="Shape 10"/>
          <p:cNvSpPr/>
          <p:nvPr/>
        </p:nvSpPr>
        <p:spPr>
          <a:xfrm>
            <a:off x="6178144" y="1417320"/>
            <a:ext cx="2650160" cy="4846320"/>
          </a:xfrm>
          <a:prstGeom prst="roundRect">
            <a:avLst>
              <a:gd name="adj" fmla="val 4140"/>
            </a:avLst>
          </a:prstGeom>
          <a:solidFill>
            <a:srgbClr val="1F5C45"/>
          </a:solidFill>
          <a:ln/>
        </p:spPr>
      </p:sp>
      <p:sp>
        <p:nvSpPr>
          <p:cNvPr id="13" name="Text 11"/>
          <p:cNvSpPr/>
          <p:nvPr/>
        </p:nvSpPr>
        <p:spPr>
          <a:xfrm>
            <a:off x="6361024" y="1581912"/>
            <a:ext cx="420624" cy="420624"/>
          </a:xfrm>
          <a:prstGeom prst="ellipse">
            <a:avLst/>
          </a:prstGeom>
          <a:solidFill>
            <a:srgbClr val="D2652A"/>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4" name="Text 12"/>
          <p:cNvSpPr/>
          <p:nvPr/>
        </p:nvSpPr>
        <p:spPr>
          <a:xfrm>
            <a:off x="7317715" y="1645920"/>
            <a:ext cx="1327709" cy="292608"/>
          </a:xfrm>
          <a:prstGeom prst="roundRect">
            <a:avLst>
              <a:gd name="adj" fmla="val 25000"/>
            </a:avLst>
          </a:prstGeom>
          <a:solidFill>
            <a:srgbClr val="2A6E55"/>
          </a:solid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CORE ENGINE · RS</a:t>
            </a:r>
            <a:endParaRPr lang="en-US" sz="950" dirty="0"/>
          </a:p>
        </p:txBody>
      </p:sp>
      <p:sp>
        <p:nvSpPr>
          <p:cNvPr id="15" name="Text 13"/>
          <p:cNvSpPr txBox="1"/>
          <p:nvPr/>
        </p:nvSpPr>
        <p:spPr>
          <a:xfrm>
            <a:off x="6361024" y="2093976"/>
            <a:ext cx="2284400" cy="47548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Multi-objective optimisation</a:t>
            </a:r>
            <a:endParaRPr lang="en-US" sz="1400" dirty="0"/>
          </a:p>
        </p:txBody>
      </p:sp>
      <p:sp>
        <p:nvSpPr>
          <p:cNvPr id="16" name="Shape 14"/>
          <p:cNvSpPr/>
          <p:nvPr/>
        </p:nvSpPr>
        <p:spPr>
          <a:xfrm>
            <a:off x="8992895" y="1417320"/>
            <a:ext cx="2650160" cy="4846320"/>
          </a:xfrm>
          <a:prstGeom prst="roundRect">
            <a:avLst>
              <a:gd name="adj" fmla="val 4140"/>
            </a:avLst>
          </a:prstGeom>
          <a:solidFill>
            <a:srgbClr val="EEF5F1"/>
          </a:solidFill>
          <a:ln/>
        </p:spPr>
      </p:sp>
      <p:sp>
        <p:nvSpPr>
          <p:cNvPr id="17" name="Text 15"/>
          <p:cNvSpPr/>
          <p:nvPr/>
        </p:nvSpPr>
        <p:spPr>
          <a:xfrm>
            <a:off x="9175775" y="1581912"/>
            <a:ext cx="420624" cy="420624"/>
          </a:xfrm>
          <a:prstGeom prst="ellipse">
            <a:avLst/>
          </a:prstGeom>
          <a:solidFill>
            <a:srgbClr val="D2652A"/>
          </a:solid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8" name="Text 16"/>
          <p:cNvSpPr/>
          <p:nvPr/>
        </p:nvSpPr>
        <p:spPr>
          <a:xfrm>
            <a:off x="10593324" y="1645920"/>
            <a:ext cx="866851" cy="292608"/>
          </a:xfrm>
          <a:prstGeom prst="roundRect">
            <a:avLst>
              <a:gd name="adj" fmla="val 25000"/>
            </a:avLst>
          </a:prstGeom>
          <a:solidFill>
            <a:srgbClr val="E3EFE8"/>
          </a:solidFill>
          <a:ln/>
        </p:spPr>
        <p:txBody>
          <a:bodyPr wrap="square" lIns="0" tIns="0" rIns="0" bIns="0" rtlCol="0" anchor="ctr"/>
          <a:lstStyle/>
          <a:p>
            <a:pPr marL="0" indent="0" algn="ctr">
              <a:buNone/>
            </a:pPr>
            <a:r>
              <a:rPr lang="en-US" sz="950" b="1" dirty="0">
                <a:solidFill>
                  <a:srgbClr val="1F5C45"/>
                </a:solidFill>
                <a:latin typeface="Calibri" pitchFamily="34" charset="0"/>
                <a:ea typeface="Calibri" pitchFamily="34" charset="-122"/>
                <a:cs typeface="Calibri" pitchFamily="34" charset="-120"/>
              </a:rPr>
              <a:t>NLP · CGS</a:t>
            </a:r>
            <a:endParaRPr lang="en-US" sz="950" dirty="0"/>
          </a:p>
        </p:txBody>
      </p:sp>
      <p:sp>
        <p:nvSpPr>
          <p:cNvPr id="19" name="Text 17"/>
          <p:cNvSpPr txBox="1"/>
          <p:nvPr/>
        </p:nvSpPr>
        <p:spPr>
          <a:xfrm>
            <a:off x="9175775" y="2093976"/>
            <a:ext cx="2284400" cy="475488"/>
          </a:xfrm>
          <a:prstGeom prst="rect">
            <a:avLst/>
          </a:prstGeom>
          <a:noFill/>
          <a:ln/>
        </p:spPr>
        <p:txBody>
          <a:bodyPr wrap="square" lIns="0" tIns="0" rIns="0" bIns="0" rtlCol="0" anchor="ctr"/>
          <a:lstStyle/>
          <a:p>
            <a:pPr marL="0" indent="0">
              <a:buNone/>
            </a:pPr>
            <a:r>
              <a:rPr lang="en-US" sz="1400" b="1" dirty="0">
                <a:solidFill>
                  <a:srgbClr val="13342A"/>
                </a:solidFill>
                <a:latin typeface="Calibri" pitchFamily="34" charset="0"/>
                <a:ea typeface="Calibri" pitchFamily="34" charset="-122"/>
                <a:cs typeface="Calibri" pitchFamily="34" charset="-120"/>
              </a:rPr>
              <a:t>NLP / LLM cognitive layer</a:t>
            </a:r>
            <a:endParaRPr lang="en-US" sz="1400" dirty="0"/>
          </a:p>
        </p:txBody>
      </p:sp>
      <p:sp>
        <p:nvSpPr>
          <p:cNvPr id="20" name="Text 18"/>
          <p:cNvSpPr txBox="1"/>
          <p:nvPr/>
        </p:nvSpPr>
        <p:spPr>
          <a:xfrm>
            <a:off x="731520" y="2624328"/>
            <a:ext cx="2284400" cy="237744"/>
          </a:xfrm>
          <a:prstGeom prst="rect">
            <a:avLst/>
          </a:prstGeom>
          <a:noFill/>
          <a:ln/>
        </p:spPr>
        <p:txBody>
          <a:bodyPr wrap="square" lIns="0" tIns="0" rIns="0" bIns="0" rtlCol="0" anchor="t"/>
          <a:lstStyle/>
          <a:p>
            <a:pPr marL="0" indent="0">
              <a:buNone/>
            </a:pPr>
            <a:r>
              <a:rPr lang="en-US" sz="1000" b="1" kern="0" spc="100" dirty="0">
                <a:solidFill>
                  <a:srgbClr val="5A6B63"/>
                </a:solidFill>
                <a:latin typeface="Calibri" pitchFamily="34" charset="0"/>
                <a:ea typeface="Calibri" pitchFamily="34" charset="-122"/>
                <a:cs typeface="Calibri" pitchFamily="34" charset="-120"/>
              </a:rPr>
              <a:t>LEARNS PREFERENCES FROM</a:t>
            </a:r>
            <a:endParaRPr lang="en-US" sz="1000" dirty="0"/>
          </a:p>
        </p:txBody>
      </p:sp>
      <p:sp>
        <p:nvSpPr>
          <p:cNvPr id="21" name="Text 19"/>
          <p:cNvSpPr txBox="1"/>
          <p:nvPr/>
        </p:nvSpPr>
        <p:spPr>
          <a:xfrm>
            <a:off x="731520" y="2862072"/>
            <a:ext cx="2284400" cy="96012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1E2B26"/>
                </a:solidFill>
                <a:latin typeface="Calibri" pitchFamily="34" charset="0"/>
                <a:ea typeface="Calibri" pitchFamily="34" charset="-122"/>
                <a:cs typeface="Calibri" pitchFamily="34" charset="-120"/>
              </a:rPr>
              <a:t>Explicit likes / dislikes</a:t>
            </a:r>
            <a:endParaRPr lang="en-US" sz="1100" dirty="0"/>
          </a:p>
          <a:p>
            <a:pPr marL="127000" indent="-127000">
              <a:spcAft>
                <a:spcPts val="200"/>
              </a:spcAft>
              <a:buSzPct val="100000"/>
              <a:buChar char="•"/>
            </a:pPr>
            <a:r>
              <a:rPr lang="en-US" sz="1100" dirty="0">
                <a:solidFill>
                  <a:srgbClr val="1E2B26"/>
                </a:solidFill>
                <a:latin typeface="Calibri" pitchFamily="34" charset="0"/>
                <a:ea typeface="Calibri" pitchFamily="34" charset="-122"/>
                <a:cs typeface="Calibri" pitchFamily="34" charset="-120"/>
              </a:rPr>
              <a:t>Cuisine preferences</a:t>
            </a:r>
            <a:endParaRPr lang="en-US" sz="1100" dirty="0"/>
          </a:p>
          <a:p>
            <a:pPr marL="127000" indent="-127000">
              <a:spcAft>
                <a:spcPts val="200"/>
              </a:spcAft>
              <a:buSzPct val="100000"/>
              <a:buChar char="•"/>
            </a:pPr>
            <a:r>
              <a:rPr lang="en-US" sz="1100" dirty="0">
                <a:solidFill>
                  <a:srgbClr val="1E2B26"/>
                </a:solidFill>
                <a:latin typeface="Calibri" pitchFamily="34" charset="0"/>
                <a:ea typeface="Calibri" pitchFamily="34" charset="-122"/>
                <a:cs typeface="Calibri" pitchFamily="34" charset="-120"/>
              </a:rPr>
              <a:t>Meal ratings</a:t>
            </a:r>
            <a:endParaRPr lang="en-US" sz="1100" dirty="0"/>
          </a:p>
          <a:p>
            <a:pPr marL="127000" indent="-127000">
              <a:spcAft>
                <a:spcPts val="200"/>
              </a:spcAft>
              <a:buSzPct val="100000"/>
              <a:buChar char="•"/>
            </a:pPr>
            <a:r>
              <a:rPr lang="en-US" sz="1100" dirty="0">
                <a:solidFill>
                  <a:srgbClr val="1E2B26"/>
                </a:solidFill>
                <a:latin typeface="Calibri" pitchFamily="34" charset="0"/>
                <a:ea typeface="Calibri" pitchFamily="34" charset="-122"/>
                <a:cs typeface="Calibri" pitchFamily="34" charset="-120"/>
              </a:rPr>
              <a:t>Accepted / rejected recommendations</a:t>
            </a:r>
            <a:endParaRPr lang="en-US" sz="1100" dirty="0"/>
          </a:p>
        </p:txBody>
      </p:sp>
      <p:sp>
        <p:nvSpPr>
          <p:cNvPr id="22" name="Text 20"/>
          <p:cNvSpPr txBox="1"/>
          <p:nvPr/>
        </p:nvSpPr>
        <p:spPr>
          <a:xfrm>
            <a:off x="731520" y="3904488"/>
            <a:ext cx="2284400" cy="237744"/>
          </a:xfrm>
          <a:prstGeom prst="rect">
            <a:avLst/>
          </a:prstGeom>
          <a:noFill/>
          <a:ln/>
        </p:spPr>
        <p:txBody>
          <a:bodyPr wrap="square" lIns="0" tIns="0" rIns="0" bIns="0" rtlCol="0" anchor="t"/>
          <a:lstStyle/>
          <a:p>
            <a:pPr marL="0" indent="0">
              <a:buNone/>
            </a:pPr>
            <a:r>
              <a:rPr lang="en-US" sz="1000" b="1" kern="0" spc="100" dirty="0">
                <a:solidFill>
                  <a:srgbClr val="5A6B63"/>
                </a:solidFill>
                <a:latin typeface="Calibri" pitchFamily="34" charset="0"/>
                <a:ea typeface="Calibri" pitchFamily="34" charset="-122"/>
                <a:cs typeface="Calibri" pitchFamily="34" charset="-120"/>
              </a:rPr>
              <a:t>CANDIDATE MODEL</a:t>
            </a:r>
            <a:endParaRPr lang="en-US" sz="1000" dirty="0"/>
          </a:p>
        </p:txBody>
      </p:sp>
      <p:sp>
        <p:nvSpPr>
          <p:cNvPr id="23" name="Text 21"/>
          <p:cNvSpPr txBox="1"/>
          <p:nvPr/>
        </p:nvSpPr>
        <p:spPr>
          <a:xfrm>
            <a:off x="731520" y="4142232"/>
            <a:ext cx="2284400" cy="132588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1E2B26"/>
                </a:solidFill>
                <a:latin typeface="Calibri" pitchFamily="34" charset="0"/>
                <a:ea typeface="Calibri" pitchFamily="34" charset="-122"/>
                <a:cs typeface="Calibri" pitchFamily="34" charset="-120"/>
              </a:rPr>
              <a:t>Content-based recommendation initially</a:t>
            </a:r>
            <a:endParaRPr lang="en-US" sz="1100" dirty="0"/>
          </a:p>
          <a:p>
            <a:pPr marL="127000" indent="-127000">
              <a:spcAft>
                <a:spcPts val="200"/>
              </a:spcAft>
              <a:buSzPct val="100000"/>
              <a:buChar char="•"/>
            </a:pPr>
            <a:r>
              <a:rPr lang="en-US" sz="1100" dirty="0">
                <a:solidFill>
                  <a:srgbClr val="1E2B26"/>
                </a:solidFill>
                <a:latin typeface="Calibri" pitchFamily="34" charset="0"/>
                <a:ea typeface="Calibri" pitchFamily="34" charset="-122"/>
                <a:cs typeface="Calibri" pitchFamily="34" charset="-120"/>
              </a:rPr>
              <a:t>User and recipe represented by cuisine, ingredients, nutrition and cooking time</a:t>
            </a:r>
            <a:endParaRPr lang="en-US" sz="1100" dirty="0"/>
          </a:p>
          <a:p>
            <a:pPr marL="127000" indent="-127000">
              <a:spcAft>
                <a:spcPts val="200"/>
              </a:spcAft>
              <a:buSzPct val="100000"/>
              <a:buChar char="•"/>
            </a:pPr>
            <a:r>
              <a:rPr lang="en-US" sz="1100" dirty="0">
                <a:solidFill>
                  <a:srgbClr val="1E2B26"/>
                </a:solidFill>
                <a:latin typeface="Calibri" pitchFamily="34" charset="0"/>
                <a:ea typeface="Calibri" pitchFamily="34" charset="-122"/>
                <a:cs typeface="Calibri" pitchFamily="34" charset="-120"/>
              </a:rPr>
              <a:t>Similarity / preference score becomes an input to the optimiser</a:t>
            </a:r>
            <a:endParaRPr lang="en-US" sz="1100" dirty="0"/>
          </a:p>
        </p:txBody>
      </p:sp>
      <p:sp>
        <p:nvSpPr>
          <p:cNvPr id="24" name="Text 22"/>
          <p:cNvSpPr txBox="1"/>
          <p:nvPr/>
        </p:nvSpPr>
        <p:spPr>
          <a:xfrm>
            <a:off x="731520" y="5532120"/>
            <a:ext cx="2284400" cy="237744"/>
          </a:xfrm>
          <a:prstGeom prst="rect">
            <a:avLst/>
          </a:prstGeom>
          <a:noFill/>
          <a:ln/>
        </p:spPr>
        <p:txBody>
          <a:bodyPr wrap="square" lIns="0" tIns="0" rIns="0" bIns="0" rtlCol="0" anchor="t"/>
          <a:lstStyle/>
          <a:p>
            <a:pPr marL="0" indent="0">
              <a:buNone/>
            </a:pPr>
            <a:r>
              <a:rPr lang="en-US" sz="1000" b="1" kern="0" spc="100" dirty="0">
                <a:solidFill>
                  <a:srgbClr val="5A6B63"/>
                </a:solidFill>
                <a:latin typeface="Calibri" pitchFamily="34" charset="0"/>
                <a:ea typeface="Calibri" pitchFamily="34" charset="-122"/>
                <a:cs typeface="Calibri" pitchFamily="34" charset="-120"/>
              </a:rPr>
              <a:t>FUTURE EXTENSION</a:t>
            </a:r>
            <a:endParaRPr lang="en-US" sz="1000" dirty="0"/>
          </a:p>
        </p:txBody>
      </p:sp>
      <p:sp>
        <p:nvSpPr>
          <p:cNvPr id="25" name="Text 23"/>
          <p:cNvSpPr txBox="1"/>
          <p:nvPr/>
        </p:nvSpPr>
        <p:spPr>
          <a:xfrm>
            <a:off x="731520" y="5769864"/>
            <a:ext cx="2284400" cy="475488"/>
          </a:xfrm>
          <a:prstGeom prst="rect">
            <a:avLst/>
          </a:prstGeom>
          <a:noFill/>
          <a:ln/>
        </p:spPr>
        <p:txBody>
          <a:bodyPr wrap="square" lIns="0" tIns="0" rIns="0" bIns="0" rtlCol="0" anchor="t"/>
          <a:lstStyle/>
          <a:p>
            <a:pPr marL="0" indent="0">
              <a:buNone/>
            </a:pPr>
            <a:r>
              <a:rPr lang="en-US" sz="1100" i="1" dirty="0">
                <a:solidFill>
                  <a:srgbClr val="1E2B26"/>
                </a:solidFill>
                <a:latin typeface="Calibri" pitchFamily="34" charset="0"/>
                <a:ea typeface="Calibri" pitchFamily="34" charset="-122"/>
                <a:cs typeface="Calibri" pitchFamily="34" charset="-120"/>
              </a:rPr>
              <a:t>Collaborative filtering once sufficient multi-user interaction data exists.</a:t>
            </a:r>
            <a:endParaRPr lang="en-US" sz="1100" dirty="0"/>
          </a:p>
        </p:txBody>
      </p:sp>
      <p:sp>
        <p:nvSpPr>
          <p:cNvPr id="26" name="Text 24"/>
          <p:cNvSpPr txBox="1"/>
          <p:nvPr/>
        </p:nvSpPr>
        <p:spPr>
          <a:xfrm>
            <a:off x="3546272" y="2624328"/>
            <a:ext cx="2284400" cy="365760"/>
          </a:xfrm>
          <a:prstGeom prst="rect">
            <a:avLst/>
          </a:prstGeom>
          <a:noFill/>
          <a:ln/>
        </p:spPr>
        <p:txBody>
          <a:bodyPr wrap="square" lIns="0" tIns="0" rIns="0" bIns="0" rtlCol="0" anchor="t"/>
          <a:lstStyle/>
          <a:p>
            <a:pPr marL="0" indent="0">
              <a:buNone/>
            </a:pPr>
            <a:r>
              <a:rPr lang="en-US" sz="1150" dirty="0">
                <a:solidFill>
                  <a:srgbClr val="1E2B26"/>
                </a:solidFill>
                <a:latin typeface="Calibri" pitchFamily="34" charset="0"/>
                <a:ea typeface="Calibri" pitchFamily="34" charset="-122"/>
                <a:cs typeface="Calibri" pitchFamily="34" charset="-120"/>
              </a:rPr>
              <a:t>Encodes domain knowledge as explicit rules:</a:t>
            </a:r>
            <a:endParaRPr lang="en-US" sz="1150" dirty="0"/>
          </a:p>
        </p:txBody>
      </p:sp>
      <p:sp>
        <p:nvSpPr>
          <p:cNvPr id="27" name="Shape 25"/>
          <p:cNvSpPr/>
          <p:nvPr/>
        </p:nvSpPr>
        <p:spPr>
          <a:xfrm>
            <a:off x="3546272" y="3081528"/>
            <a:ext cx="2284400" cy="2121408"/>
          </a:xfrm>
          <a:prstGeom prst="roundRect">
            <a:avLst>
              <a:gd name="adj" fmla="val 3448"/>
            </a:avLst>
          </a:prstGeom>
          <a:solidFill>
            <a:srgbClr val="FFFFFF"/>
          </a:solidFill>
          <a:ln w="12700">
            <a:solidFill>
              <a:srgbClr val="C9DDD1"/>
            </a:solidFill>
            <a:prstDash val="solid"/>
          </a:ln>
        </p:spPr>
      </p:sp>
      <p:sp>
        <p:nvSpPr>
          <p:cNvPr id="28" name="Text 26"/>
          <p:cNvSpPr txBox="1"/>
          <p:nvPr/>
        </p:nvSpPr>
        <p:spPr>
          <a:xfrm>
            <a:off x="3656000" y="3154680"/>
            <a:ext cx="2083232" cy="1993392"/>
          </a:xfrm>
          <a:prstGeom prst="rect">
            <a:avLst/>
          </a:prstGeom>
          <a:noFill/>
          <a:ln/>
        </p:spPr>
        <p:txBody>
          <a:bodyPr wrap="square" lIns="0" tIns="0" rIns="0" bIns="0" rtlCol="0" anchor="ctr"/>
          <a:lstStyle/>
          <a:p>
            <a:pPr marL="0" indent="0">
              <a:spcAft>
                <a:spcPts val="700"/>
              </a:spcAft>
              <a:buNone/>
            </a:pPr>
            <a:r>
              <a:rPr lang="en-US" sz="1000" b="1" dirty="0">
                <a:solidFill>
                  <a:srgbClr val="1F5C45"/>
                </a:solidFill>
                <a:latin typeface="Courier New" pitchFamily="34" charset="0"/>
                <a:ea typeface="Courier New" pitchFamily="34" charset="-122"/>
                <a:cs typeface="Courier New" pitchFamily="34" charset="-120"/>
              </a:rPr>
              <a:t>IF </a:t>
            </a:r>
            <a:r>
              <a:rPr lang="en-US" sz="1000" dirty="0">
                <a:solidFill>
                  <a:srgbClr val="13342A"/>
                </a:solidFill>
                <a:latin typeface="Courier New" pitchFamily="34" charset="0"/>
                <a:ea typeface="Courier New" pitchFamily="34" charset="-122"/>
                <a:cs typeface="Courier New" pitchFamily="34" charset="-120"/>
              </a:rPr>
              <a:t>allergy = peanuts </a:t>
            </a:r>
            <a:r>
              <a:rPr lang="en-US" sz="1000" b="1" dirty="0">
                <a:solidFill>
                  <a:srgbClr val="D2652A"/>
                </a:solidFill>
                <a:latin typeface="Courier New" pitchFamily="34" charset="0"/>
                <a:ea typeface="Courier New" pitchFamily="34" charset="-122"/>
                <a:cs typeface="Courier New" pitchFamily="34" charset="-120"/>
              </a:rPr>
              <a:t>→ </a:t>
            </a:r>
            <a:r>
              <a:rPr lang="en-US" sz="1000" dirty="0">
                <a:solidFill>
                  <a:srgbClr val="13342A"/>
                </a:solidFill>
                <a:latin typeface="Courier New" pitchFamily="34" charset="0"/>
                <a:ea typeface="Courier New" pitchFamily="34" charset="-122"/>
                <a:cs typeface="Courier New" pitchFamily="34" charset="-120"/>
              </a:rPr>
              <a:t>exclude recipes containing peanuts</a:t>
            </a:r>
            <a:endParaRPr lang="en-US" sz="1000" dirty="0"/>
          </a:p>
          <a:p>
            <a:pPr marL="0" indent="0">
              <a:spcAft>
                <a:spcPts val="700"/>
              </a:spcAft>
              <a:buNone/>
            </a:pPr>
            <a:r>
              <a:rPr lang="en-US" sz="1000" b="1" dirty="0">
                <a:solidFill>
                  <a:srgbClr val="1F5C45"/>
                </a:solidFill>
                <a:latin typeface="Courier New" pitchFamily="34" charset="0"/>
                <a:ea typeface="Courier New" pitchFamily="34" charset="-122"/>
                <a:cs typeface="Courier New" pitchFamily="34" charset="-120"/>
              </a:rPr>
              <a:t>IF </a:t>
            </a:r>
            <a:r>
              <a:rPr lang="en-US" sz="1000" dirty="0">
                <a:solidFill>
                  <a:srgbClr val="13342A"/>
                </a:solidFill>
                <a:latin typeface="Courier New" pitchFamily="34" charset="0"/>
                <a:ea typeface="Courier New" pitchFamily="34" charset="-122"/>
                <a:cs typeface="Courier New" pitchFamily="34" charset="-120"/>
              </a:rPr>
              <a:t>vegetarian = TRUE </a:t>
            </a:r>
            <a:r>
              <a:rPr lang="en-US" sz="1000" b="1" dirty="0">
                <a:solidFill>
                  <a:srgbClr val="D2652A"/>
                </a:solidFill>
                <a:latin typeface="Courier New" pitchFamily="34" charset="0"/>
                <a:ea typeface="Courier New" pitchFamily="34" charset="-122"/>
                <a:cs typeface="Courier New" pitchFamily="34" charset="-120"/>
              </a:rPr>
              <a:t>→ </a:t>
            </a:r>
            <a:r>
              <a:rPr lang="en-US" sz="1000" dirty="0">
                <a:solidFill>
                  <a:srgbClr val="13342A"/>
                </a:solidFill>
                <a:latin typeface="Courier New" pitchFamily="34" charset="0"/>
                <a:ea typeface="Courier New" pitchFamily="34" charset="-122"/>
                <a:cs typeface="Courier New" pitchFamily="34" charset="-120"/>
              </a:rPr>
              <a:t>exclude meat recipes</a:t>
            </a:r>
            <a:endParaRPr lang="en-US" sz="1000" dirty="0"/>
          </a:p>
          <a:p>
            <a:pPr marL="0" indent="0">
              <a:spcAft>
                <a:spcPts val="700"/>
              </a:spcAft>
              <a:buNone/>
            </a:pPr>
            <a:r>
              <a:rPr lang="en-US" sz="1000" b="1" dirty="0">
                <a:solidFill>
                  <a:srgbClr val="1F5C45"/>
                </a:solidFill>
                <a:latin typeface="Courier New" pitchFamily="34" charset="0"/>
                <a:ea typeface="Courier New" pitchFamily="34" charset="-122"/>
                <a:cs typeface="Courier New" pitchFamily="34" charset="-120"/>
              </a:rPr>
              <a:t>IF </a:t>
            </a:r>
            <a:r>
              <a:rPr lang="en-US" sz="1000" dirty="0">
                <a:solidFill>
                  <a:srgbClr val="13342A"/>
                </a:solidFill>
                <a:latin typeface="Courier New" pitchFamily="34" charset="0"/>
                <a:ea typeface="Courier New" pitchFamily="34" charset="-122"/>
                <a:cs typeface="Courier New" pitchFamily="34" charset="-120"/>
              </a:rPr>
              <a:t>ingredient expires earlier </a:t>
            </a:r>
            <a:r>
              <a:rPr lang="en-US" sz="1000" b="1" dirty="0">
                <a:solidFill>
                  <a:srgbClr val="D2652A"/>
                </a:solidFill>
                <a:latin typeface="Courier New" pitchFamily="34" charset="0"/>
                <a:ea typeface="Courier New" pitchFamily="34" charset="-122"/>
                <a:cs typeface="Courier New" pitchFamily="34" charset="-120"/>
              </a:rPr>
              <a:t>→ </a:t>
            </a:r>
            <a:r>
              <a:rPr lang="en-US" sz="1000" dirty="0">
                <a:solidFill>
                  <a:srgbClr val="13342A"/>
                </a:solidFill>
                <a:latin typeface="Courier New" pitchFamily="34" charset="0"/>
                <a:ea typeface="Courier New" pitchFamily="34" charset="-122"/>
                <a:cs typeface="Courier New" pitchFamily="34" charset="-120"/>
              </a:rPr>
              <a:t>increase utilisation priority</a:t>
            </a:r>
            <a:endParaRPr lang="en-US" sz="1000" dirty="0"/>
          </a:p>
          <a:p>
            <a:pPr marL="0" indent="0">
              <a:spcAft>
                <a:spcPts val="700"/>
              </a:spcAft>
              <a:buNone/>
            </a:pPr>
            <a:r>
              <a:rPr lang="en-US" sz="1000" b="1" dirty="0">
                <a:solidFill>
                  <a:srgbClr val="1F5C45"/>
                </a:solidFill>
                <a:latin typeface="Courier New" pitchFamily="34" charset="0"/>
                <a:ea typeface="Courier New" pitchFamily="34" charset="-122"/>
                <a:cs typeface="Courier New" pitchFamily="34" charset="-120"/>
              </a:rPr>
              <a:t>IF </a:t>
            </a:r>
            <a:r>
              <a:rPr lang="en-US" sz="1000" dirty="0">
                <a:solidFill>
                  <a:srgbClr val="13342A"/>
                </a:solidFill>
                <a:latin typeface="Courier New" pitchFamily="34" charset="0"/>
                <a:ea typeface="Courier New" pitchFamily="34" charset="-122"/>
                <a:cs typeface="Courier New" pitchFamily="34" charset="-120"/>
              </a:rPr>
              <a:t>buttermilk unavailable AND milk + lemon available </a:t>
            </a:r>
            <a:r>
              <a:rPr lang="en-US" sz="1000" b="1" dirty="0">
                <a:solidFill>
                  <a:srgbClr val="D2652A"/>
                </a:solidFill>
                <a:latin typeface="Courier New" pitchFamily="34" charset="0"/>
                <a:ea typeface="Courier New" pitchFamily="34" charset="-122"/>
                <a:cs typeface="Courier New" pitchFamily="34" charset="-120"/>
              </a:rPr>
              <a:t>→ </a:t>
            </a:r>
            <a:r>
              <a:rPr lang="en-US" sz="1000" dirty="0">
                <a:solidFill>
                  <a:srgbClr val="13342A"/>
                </a:solidFill>
                <a:latin typeface="Courier New" pitchFamily="34" charset="0"/>
                <a:ea typeface="Courier New" pitchFamily="34" charset="-122"/>
                <a:cs typeface="Courier New" pitchFamily="34" charset="-120"/>
              </a:rPr>
              <a:t>allow substitution</a:t>
            </a:r>
            <a:endParaRPr lang="en-US" sz="1000" dirty="0"/>
          </a:p>
        </p:txBody>
      </p:sp>
      <p:sp>
        <p:nvSpPr>
          <p:cNvPr id="29" name="Text 27"/>
          <p:cNvSpPr/>
          <p:nvPr/>
        </p:nvSpPr>
        <p:spPr>
          <a:xfrm>
            <a:off x="3546272" y="5330952"/>
            <a:ext cx="2284400" cy="566928"/>
          </a:xfrm>
          <a:prstGeom prst="roundRect">
            <a:avLst>
              <a:gd name="adj" fmla="val 12903"/>
            </a:avLst>
          </a:prstGeom>
          <a:solidFill>
            <a:srgbClr val="E3EFE8"/>
          </a:solidFill>
          <a:ln/>
        </p:spPr>
        <p:txBody>
          <a:bodyPr wrap="square" lIns="101600" tIns="0" rIns="76200" bIns="0" rtlCol="0" anchor="ctr"/>
          <a:lstStyle/>
          <a:p>
            <a:pPr marL="0" indent="0">
              <a:buNone/>
            </a:pPr>
            <a:r>
              <a:rPr lang="en-US" sz="1150" b="1" dirty="0">
                <a:solidFill>
                  <a:srgbClr val="1F5C45"/>
                </a:solidFill>
                <a:latin typeface="Calibri" pitchFamily="34" charset="0"/>
                <a:ea typeface="Calibri" pitchFamily="34" charset="-122"/>
                <a:cs typeface="Calibri" pitchFamily="34" charset="-120"/>
              </a:rPr>
              <a:t>Separates hard constraints from softer user preferences.</a:t>
            </a:r>
            <a:endParaRPr lang="en-US" sz="1150" dirty="0"/>
          </a:p>
        </p:txBody>
      </p:sp>
      <p:sp>
        <p:nvSpPr>
          <p:cNvPr id="30" name="Text 28"/>
          <p:cNvSpPr txBox="1"/>
          <p:nvPr/>
        </p:nvSpPr>
        <p:spPr>
          <a:xfrm>
            <a:off x="6361024" y="2624328"/>
            <a:ext cx="2284400" cy="237744"/>
          </a:xfrm>
          <a:prstGeom prst="rect">
            <a:avLst/>
          </a:prstGeom>
          <a:noFill/>
          <a:ln/>
        </p:spPr>
        <p:txBody>
          <a:bodyPr wrap="square" lIns="0" tIns="0" rIns="0" bIns="0" rtlCol="0" anchor="t"/>
          <a:lstStyle/>
          <a:p>
            <a:pPr marL="0" indent="0">
              <a:buNone/>
            </a:pPr>
            <a:r>
              <a:rPr lang="en-US" sz="1000" b="1" kern="0" spc="100" dirty="0">
                <a:solidFill>
                  <a:srgbClr val="F4A261"/>
                </a:solidFill>
                <a:latin typeface="Calibri" pitchFamily="34" charset="0"/>
                <a:ea typeface="Calibri" pitchFamily="34" charset="-122"/>
                <a:cs typeface="Calibri" pitchFamily="34" charset="-120"/>
              </a:rPr>
              <a:t>CANDIDATE TECHNIQUES</a:t>
            </a:r>
            <a:endParaRPr lang="en-US" sz="1000" dirty="0"/>
          </a:p>
        </p:txBody>
      </p:sp>
      <p:sp>
        <p:nvSpPr>
          <p:cNvPr id="31" name="Text 29"/>
          <p:cNvSpPr txBox="1"/>
          <p:nvPr/>
        </p:nvSpPr>
        <p:spPr>
          <a:xfrm>
            <a:off x="6361024" y="2862072"/>
            <a:ext cx="2284400" cy="73152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FFFFFF"/>
                </a:solidFill>
                <a:latin typeface="Calibri" pitchFamily="34" charset="0"/>
                <a:ea typeface="Calibri" pitchFamily="34" charset="-122"/>
                <a:cs typeface="Calibri" pitchFamily="34" charset="-120"/>
              </a:rPr>
              <a:t>Constraint Programming / OR-Tools</a:t>
            </a:r>
            <a:endParaRPr lang="en-US" sz="1100" dirty="0"/>
          </a:p>
          <a:p>
            <a:pPr marL="127000" indent="-127000">
              <a:spcAft>
                <a:spcPts val="200"/>
              </a:spcAft>
              <a:buSzPct val="100000"/>
              <a:buChar char="•"/>
            </a:pPr>
            <a:r>
              <a:rPr lang="en-US" sz="1100" dirty="0">
                <a:solidFill>
                  <a:srgbClr val="FFFFFF"/>
                </a:solidFill>
                <a:latin typeface="Calibri" pitchFamily="34" charset="0"/>
                <a:ea typeface="Calibri" pitchFamily="34" charset="-122"/>
                <a:cs typeface="Calibri" pitchFamily="34" charset="-120"/>
              </a:rPr>
              <a:t>or a Genetic Algorithm for multi-objective optimisation</a:t>
            </a:r>
            <a:endParaRPr lang="en-US" sz="1100" dirty="0"/>
          </a:p>
        </p:txBody>
      </p:sp>
      <p:sp>
        <p:nvSpPr>
          <p:cNvPr id="32" name="Text 30"/>
          <p:cNvSpPr txBox="1"/>
          <p:nvPr/>
        </p:nvSpPr>
        <p:spPr>
          <a:xfrm>
            <a:off x="6361024" y="3648456"/>
            <a:ext cx="2284400" cy="36576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Selects the best combination of meals across the entire week</a:t>
            </a:r>
            <a:endParaRPr lang="en-US" sz="1100" dirty="0"/>
          </a:p>
        </p:txBody>
      </p:sp>
      <p:sp>
        <p:nvSpPr>
          <p:cNvPr id="33" name="Text 31"/>
          <p:cNvSpPr txBox="1"/>
          <p:nvPr/>
        </p:nvSpPr>
        <p:spPr>
          <a:xfrm>
            <a:off x="6361024" y="4105656"/>
            <a:ext cx="2284400" cy="237744"/>
          </a:xfrm>
          <a:prstGeom prst="rect">
            <a:avLst/>
          </a:prstGeom>
          <a:noFill/>
          <a:ln/>
        </p:spPr>
        <p:txBody>
          <a:bodyPr wrap="square" lIns="0" tIns="0" rIns="0" bIns="0" rtlCol="0" anchor="t"/>
          <a:lstStyle/>
          <a:p>
            <a:pPr marL="0" indent="0">
              <a:buNone/>
            </a:pPr>
            <a:r>
              <a:rPr lang="en-US" sz="1000" b="1" kern="0" spc="100" dirty="0">
                <a:solidFill>
                  <a:srgbClr val="F4A261"/>
                </a:solidFill>
                <a:latin typeface="Calibri" pitchFamily="34" charset="0"/>
                <a:ea typeface="Calibri" pitchFamily="34" charset="-122"/>
                <a:cs typeface="Calibri" pitchFamily="34" charset="-120"/>
              </a:rPr>
              <a:t>OBJECTIVE FUNCTION COMBINES</a:t>
            </a:r>
            <a:endParaRPr lang="en-US" sz="1000" dirty="0"/>
          </a:p>
        </p:txBody>
      </p:sp>
      <p:sp>
        <p:nvSpPr>
          <p:cNvPr id="34" name="Text 32"/>
          <p:cNvSpPr/>
          <p:nvPr/>
        </p:nvSpPr>
        <p:spPr>
          <a:xfrm>
            <a:off x="6361024" y="4361688"/>
            <a:ext cx="544068" cy="256032"/>
          </a:xfrm>
          <a:prstGeom prst="roundRect">
            <a:avLst>
              <a:gd name="adj" fmla="val 28571"/>
            </a:avLst>
          </a:prstGeom>
          <a:solidFill>
            <a:srgbClr val="2A6E55"/>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Waste</a:t>
            </a:r>
            <a:endParaRPr lang="en-US" sz="1000" dirty="0"/>
          </a:p>
        </p:txBody>
      </p:sp>
      <p:sp>
        <p:nvSpPr>
          <p:cNvPr id="35" name="Text 33"/>
          <p:cNvSpPr/>
          <p:nvPr/>
        </p:nvSpPr>
        <p:spPr>
          <a:xfrm>
            <a:off x="6969100" y="4361688"/>
            <a:ext cx="1388059" cy="256032"/>
          </a:xfrm>
          <a:prstGeom prst="roundRect">
            <a:avLst>
              <a:gd name="adj" fmla="val 28571"/>
            </a:avLst>
          </a:prstGeom>
          <a:solidFill>
            <a:srgbClr val="2A6E55"/>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Pantry utilisation</a:t>
            </a:r>
            <a:endParaRPr lang="en-US" sz="1000" dirty="0"/>
          </a:p>
        </p:txBody>
      </p:sp>
      <p:sp>
        <p:nvSpPr>
          <p:cNvPr id="36" name="Text 34"/>
          <p:cNvSpPr/>
          <p:nvPr/>
        </p:nvSpPr>
        <p:spPr>
          <a:xfrm>
            <a:off x="6361024" y="4681728"/>
            <a:ext cx="1517904" cy="256032"/>
          </a:xfrm>
          <a:prstGeom prst="roundRect">
            <a:avLst>
              <a:gd name="adj" fmla="val 28571"/>
            </a:avLst>
          </a:prstGeom>
          <a:solidFill>
            <a:srgbClr val="2A6E55"/>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Grocery requirements</a:t>
            </a:r>
            <a:endParaRPr lang="en-US" sz="1000" dirty="0"/>
          </a:p>
        </p:txBody>
      </p:sp>
      <p:sp>
        <p:nvSpPr>
          <p:cNvPr id="37" name="Text 35"/>
          <p:cNvSpPr/>
          <p:nvPr/>
        </p:nvSpPr>
        <p:spPr>
          <a:xfrm>
            <a:off x="6361024" y="5001768"/>
            <a:ext cx="803758" cy="256032"/>
          </a:xfrm>
          <a:prstGeom prst="roundRect">
            <a:avLst>
              <a:gd name="adj" fmla="val 28571"/>
            </a:avLst>
          </a:prstGeom>
          <a:solidFill>
            <a:srgbClr val="2A6E55"/>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Nutrition</a:t>
            </a:r>
            <a:endParaRPr lang="en-US" sz="1000" dirty="0"/>
          </a:p>
        </p:txBody>
      </p:sp>
      <p:sp>
        <p:nvSpPr>
          <p:cNvPr id="38" name="Text 36"/>
          <p:cNvSpPr/>
          <p:nvPr/>
        </p:nvSpPr>
        <p:spPr>
          <a:xfrm>
            <a:off x="7228789" y="5001768"/>
            <a:ext cx="933602" cy="256032"/>
          </a:xfrm>
          <a:prstGeom prst="roundRect">
            <a:avLst>
              <a:gd name="adj" fmla="val 28571"/>
            </a:avLst>
          </a:prstGeom>
          <a:solidFill>
            <a:srgbClr val="2A6E55"/>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Preferences</a:t>
            </a:r>
            <a:endParaRPr lang="en-US" sz="1000" dirty="0"/>
          </a:p>
        </p:txBody>
      </p:sp>
      <p:sp>
        <p:nvSpPr>
          <p:cNvPr id="39" name="Text 37"/>
          <p:cNvSpPr/>
          <p:nvPr/>
        </p:nvSpPr>
        <p:spPr>
          <a:xfrm>
            <a:off x="6361024" y="5321808"/>
            <a:ext cx="673913" cy="256032"/>
          </a:xfrm>
          <a:prstGeom prst="roundRect">
            <a:avLst>
              <a:gd name="adj" fmla="val 28571"/>
            </a:avLst>
          </a:prstGeom>
          <a:solidFill>
            <a:srgbClr val="2A6E55"/>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Variety</a:t>
            </a:r>
            <a:endParaRPr lang="en-US" sz="1000" dirty="0"/>
          </a:p>
        </p:txBody>
      </p:sp>
      <p:sp>
        <p:nvSpPr>
          <p:cNvPr id="40" name="Text 38"/>
          <p:cNvSpPr/>
          <p:nvPr/>
        </p:nvSpPr>
        <p:spPr>
          <a:xfrm>
            <a:off x="7098944" y="5321808"/>
            <a:ext cx="998525" cy="256032"/>
          </a:xfrm>
          <a:prstGeom prst="roundRect">
            <a:avLst>
              <a:gd name="adj" fmla="val 28571"/>
            </a:avLst>
          </a:prstGeom>
          <a:solidFill>
            <a:srgbClr val="2A6E55"/>
          </a:solid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Cooking time</a:t>
            </a:r>
            <a:endParaRPr lang="en-US" sz="1000" dirty="0"/>
          </a:p>
        </p:txBody>
      </p:sp>
      <p:sp>
        <p:nvSpPr>
          <p:cNvPr id="41" name="Text 39"/>
          <p:cNvSpPr txBox="1"/>
          <p:nvPr/>
        </p:nvSpPr>
        <p:spPr>
          <a:xfrm>
            <a:off x="6361024" y="5705856"/>
            <a:ext cx="2284400" cy="365760"/>
          </a:xfrm>
          <a:prstGeom prst="rect">
            <a:avLst/>
          </a:prstGeom>
          <a:noFill/>
          <a:ln/>
        </p:spPr>
        <p:txBody>
          <a:bodyPr wrap="square" lIns="0" tIns="0" rIns="0" bIns="0" rtlCol="0" anchor="t"/>
          <a:lstStyle/>
          <a:p>
            <a:pPr marL="0" indent="0">
              <a:buNone/>
            </a:pPr>
            <a:r>
              <a:rPr lang="en-US" sz="1100" i="1" dirty="0">
                <a:solidFill>
                  <a:srgbClr val="CFE3D8"/>
                </a:solidFill>
                <a:latin typeface="Calibri" pitchFamily="34" charset="0"/>
                <a:ea typeface="Calibri" pitchFamily="34" charset="-122"/>
                <a:cs typeface="Calibri" pitchFamily="34" charset="-120"/>
              </a:rPr>
              <a:t>Compared against simpler greedy baselines</a:t>
            </a:r>
            <a:endParaRPr lang="en-US" sz="1100" dirty="0"/>
          </a:p>
        </p:txBody>
      </p:sp>
      <p:sp>
        <p:nvSpPr>
          <p:cNvPr id="42" name="Text 40"/>
          <p:cNvSpPr txBox="1"/>
          <p:nvPr/>
        </p:nvSpPr>
        <p:spPr>
          <a:xfrm>
            <a:off x="9175775" y="2624328"/>
            <a:ext cx="2284400" cy="548640"/>
          </a:xfrm>
          <a:prstGeom prst="rect">
            <a:avLst/>
          </a:prstGeom>
          <a:noFill/>
          <a:ln/>
        </p:spPr>
        <p:txBody>
          <a:bodyPr wrap="square" lIns="0" tIns="0" rIns="0" bIns="0" rtlCol="0" anchor="t"/>
          <a:lstStyle/>
          <a:p>
            <a:pPr marL="0" indent="0">
              <a:buNone/>
            </a:pPr>
            <a:r>
              <a:rPr lang="en-US" sz="1150" dirty="0">
                <a:solidFill>
                  <a:srgbClr val="1E2B26"/>
                </a:solidFill>
                <a:latin typeface="Calibri" pitchFamily="34" charset="0"/>
                <a:ea typeface="Calibri" pitchFamily="34" charset="-122"/>
                <a:cs typeface="Calibri" pitchFamily="34" charset="-120"/>
              </a:rPr>
              <a:t>Converts natural-language pantry input into structured information</a:t>
            </a:r>
            <a:endParaRPr lang="en-US" sz="1150" dirty="0"/>
          </a:p>
        </p:txBody>
      </p:sp>
      <p:sp>
        <p:nvSpPr>
          <p:cNvPr id="43" name="Text 41"/>
          <p:cNvSpPr/>
          <p:nvPr/>
        </p:nvSpPr>
        <p:spPr>
          <a:xfrm>
            <a:off x="9175775" y="3227832"/>
            <a:ext cx="2284400" cy="603504"/>
          </a:xfrm>
          <a:prstGeom prst="roundRect">
            <a:avLst>
              <a:gd name="adj" fmla="val 12121"/>
            </a:avLst>
          </a:prstGeom>
          <a:solidFill>
            <a:srgbClr val="FFFFFF"/>
          </a:solidFill>
          <a:ln w="12700">
            <a:solidFill>
              <a:srgbClr val="C9DDD1"/>
            </a:solidFill>
          </a:ln>
        </p:spPr>
        <p:txBody>
          <a:bodyPr wrap="square" lIns="88900" tIns="0" rIns="63500" bIns="0" rtlCol="0" anchor="ctr"/>
          <a:lstStyle/>
          <a:p>
            <a:pPr marL="0" indent="0">
              <a:buNone/>
            </a:pPr>
            <a:r>
              <a:rPr lang="en-US" sz="1050" i="1" dirty="0">
                <a:solidFill>
                  <a:srgbClr val="13342A"/>
                </a:solidFill>
                <a:latin typeface="Calibri" pitchFamily="34" charset="0"/>
                <a:ea typeface="Calibri" pitchFamily="34" charset="-122"/>
                <a:cs typeface="Calibri" pitchFamily="34" charset="-120"/>
              </a:rPr>
              <a:t>“I have four eggs, half a cabbage and some spinach that's going bad.”</a:t>
            </a:r>
            <a:endParaRPr lang="en-US" sz="1050" dirty="0"/>
          </a:p>
        </p:txBody>
      </p:sp>
      <p:sp>
        <p:nvSpPr>
          <p:cNvPr id="44" name="Shape 42"/>
          <p:cNvSpPr/>
          <p:nvPr/>
        </p:nvSpPr>
        <p:spPr>
          <a:xfrm>
            <a:off x="10317975" y="3858768"/>
            <a:ext cx="0" cy="182880"/>
          </a:xfrm>
          <a:prstGeom prst="line">
            <a:avLst/>
          </a:prstGeom>
          <a:noFill/>
          <a:ln w="25400">
            <a:solidFill>
              <a:srgbClr val="D2652A"/>
            </a:solidFill>
            <a:prstDash val="solid"/>
            <a:tailEnd type="triangle"/>
          </a:ln>
        </p:spPr>
      </p:sp>
      <p:sp>
        <p:nvSpPr>
          <p:cNvPr id="45" name="Text 43"/>
          <p:cNvSpPr/>
          <p:nvPr/>
        </p:nvSpPr>
        <p:spPr>
          <a:xfrm>
            <a:off x="9175775" y="4069080"/>
            <a:ext cx="2284400" cy="585216"/>
          </a:xfrm>
          <a:prstGeom prst="roundRect">
            <a:avLst>
              <a:gd name="adj" fmla="val 12500"/>
            </a:avLst>
          </a:prstGeom>
          <a:solidFill>
            <a:srgbClr val="13342A"/>
          </a:solidFill>
          <a:ln/>
        </p:spPr>
        <p:txBody>
          <a:bodyPr wrap="square" lIns="101600" tIns="0" rIns="50800" bIns="0" rtlCol="0" anchor="ctr"/>
          <a:lstStyle/>
          <a:p>
            <a:pPr marL="0" indent="0">
              <a:buNone/>
            </a:pPr>
            <a:r>
              <a:rPr lang="en-US" sz="1050" b="1" dirty="0">
                <a:solidFill>
                  <a:srgbClr val="F4A261"/>
                </a:solidFill>
                <a:latin typeface="Calibri" pitchFamily="34" charset="0"/>
                <a:ea typeface="Calibri" pitchFamily="34" charset="-122"/>
                <a:cs typeface="Calibri" pitchFamily="34" charset="-120"/>
              </a:rPr>
              <a:t>Eggs: </a:t>
            </a:r>
            <a:r>
              <a:rPr lang="en-US" sz="1050" dirty="0">
                <a:solidFill>
                  <a:srgbClr val="FFFFFF"/>
                </a:solidFill>
                <a:latin typeface="Calibri" pitchFamily="34" charset="0"/>
                <a:ea typeface="Calibri" pitchFamily="34" charset="-122"/>
                <a:cs typeface="Calibri" pitchFamily="34" charset="-120"/>
              </a:rPr>
              <a:t>4</a:t>
            </a:r>
            <a:endParaRPr lang="en-US" sz="1050" dirty="0"/>
          </a:p>
          <a:p>
            <a:pPr marL="0" indent="0">
              <a:buNone/>
            </a:pPr>
            <a:r>
              <a:rPr lang="en-US" sz="1050" b="1" dirty="0">
                <a:solidFill>
                  <a:srgbClr val="F4A261"/>
                </a:solidFill>
                <a:latin typeface="Calibri" pitchFamily="34" charset="0"/>
                <a:ea typeface="Calibri" pitchFamily="34" charset="-122"/>
                <a:cs typeface="Calibri" pitchFamily="34" charset="-120"/>
              </a:rPr>
              <a:t>Cabbage: </a:t>
            </a:r>
            <a:r>
              <a:rPr lang="en-US" sz="1050" dirty="0">
                <a:solidFill>
                  <a:srgbClr val="FFFFFF"/>
                </a:solidFill>
                <a:latin typeface="Calibri" pitchFamily="34" charset="0"/>
                <a:ea typeface="Calibri" pitchFamily="34" charset="-122"/>
                <a:cs typeface="Calibri" pitchFamily="34" charset="-120"/>
              </a:rPr>
              <a:t>0.5</a:t>
            </a:r>
            <a:endParaRPr lang="en-US" sz="1050" dirty="0"/>
          </a:p>
          <a:p>
            <a:pPr marL="0" indent="0">
              <a:buNone/>
            </a:pPr>
            <a:r>
              <a:rPr lang="en-US" sz="1050" b="1" dirty="0">
                <a:solidFill>
                  <a:srgbClr val="F4A261"/>
                </a:solidFill>
                <a:latin typeface="Calibri" pitchFamily="34" charset="0"/>
                <a:ea typeface="Calibri" pitchFamily="34" charset="-122"/>
                <a:cs typeface="Calibri" pitchFamily="34" charset="-120"/>
              </a:rPr>
              <a:t>Spinach: </a:t>
            </a:r>
            <a:r>
              <a:rPr lang="en-US" sz="1050" dirty="0">
                <a:solidFill>
                  <a:srgbClr val="FFFFFF"/>
                </a:solidFill>
                <a:latin typeface="Calibri" pitchFamily="34" charset="0"/>
                <a:ea typeface="Calibri" pitchFamily="34" charset="-122"/>
                <a:cs typeface="Calibri" pitchFamily="34" charset="-120"/>
              </a:rPr>
              <a:t>present + high urgency</a:t>
            </a:r>
            <a:endParaRPr lang="en-US" sz="1050" dirty="0"/>
          </a:p>
        </p:txBody>
      </p:sp>
      <p:sp>
        <p:nvSpPr>
          <p:cNvPr id="46" name="Text 44"/>
          <p:cNvSpPr txBox="1"/>
          <p:nvPr/>
        </p:nvSpPr>
        <p:spPr>
          <a:xfrm>
            <a:off x="9175775" y="4745736"/>
            <a:ext cx="2284400" cy="146304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1E2B26"/>
                </a:solidFill>
                <a:latin typeface="Calibri" pitchFamily="34" charset="0"/>
                <a:ea typeface="Calibri" pitchFamily="34" charset="-122"/>
                <a:cs typeface="Calibri" pitchFamily="34" charset="-120"/>
              </a:rPr>
              <a:t>LLM does not make the final meal-planning decision</a:t>
            </a:r>
            <a:endParaRPr lang="en-US" sz="1100" dirty="0"/>
          </a:p>
          <a:p>
            <a:pPr marL="127000" indent="-127000">
              <a:spcAft>
                <a:spcPts val="300"/>
              </a:spcAft>
              <a:buSzPct val="100000"/>
              <a:buChar char="•"/>
            </a:pPr>
            <a:r>
              <a:rPr lang="en-US" sz="1100" dirty="0">
                <a:solidFill>
                  <a:srgbClr val="1E2B26"/>
                </a:solidFill>
                <a:latin typeface="Calibri" pitchFamily="34" charset="0"/>
                <a:ea typeface="Calibri" pitchFamily="34" charset="-122"/>
                <a:cs typeface="Calibri" pitchFamily="34" charset="-120"/>
              </a:rPr>
              <a:t>Structured information is passed to deterministic rules + optimisation</a:t>
            </a:r>
            <a:endParaRPr lang="en-US" sz="1100" dirty="0"/>
          </a:p>
          <a:p>
            <a:pPr marL="127000" indent="-127000">
              <a:spcAft>
                <a:spcPts val="300"/>
              </a:spcAft>
              <a:buSzPct val="100000"/>
              <a:buChar char="•"/>
            </a:pPr>
            <a:r>
              <a:rPr lang="en-US" sz="1100" dirty="0">
                <a:solidFill>
                  <a:srgbClr val="1E2B26"/>
                </a:solidFill>
                <a:latin typeface="Calibri" pitchFamily="34" charset="0"/>
                <a:ea typeface="Calibri" pitchFamily="34" charset="-122"/>
                <a:cs typeface="Calibri" pitchFamily="34" charset="-120"/>
              </a:rPr>
              <a:t>LLM can then translate the resulting reasoning into a natural-language explanation</a:t>
            </a:r>
            <a:endParaRPr lang="en-US" sz="1100" dirty="0"/>
          </a:p>
        </p:txBody>
      </p:sp>
      <p:sp>
        <p:nvSpPr>
          <p:cNvPr id="47" name="Text 45"/>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1000" dirty="0">
                <a:solidFill>
                  <a:srgbClr val="5A6B63"/>
                </a:solidFill>
                <a:latin typeface="Calibri" pitchFamily="34" charset="0"/>
                <a:ea typeface="Calibri" pitchFamily="34" charset="-122"/>
                <a:cs typeface="Calibri" pitchFamily="34" charset="-120"/>
              </a:rPr>
              <a:t>Pantry-to-Plate  ·  IRS Practice Module</a:t>
            </a:r>
            <a:endParaRPr lang="en-US" sz="1000" dirty="0"/>
          </a:p>
        </p:txBody>
      </p:sp>
      <p:sp>
        <p:nvSpPr>
          <p:cNvPr id="48" name="Text 46"/>
          <p:cNvSpPr txBox="1"/>
          <p:nvPr/>
        </p:nvSpPr>
        <p:spPr>
          <a:xfrm>
            <a:off x="10271455" y="6419088"/>
            <a:ext cx="1371600" cy="256032"/>
          </a:xfrm>
          <a:prstGeom prst="rect">
            <a:avLst/>
          </a:prstGeom>
          <a:noFill/>
          <a:ln/>
        </p:spPr>
        <p:txBody>
          <a:bodyPr wrap="square" lIns="0" tIns="0" rIns="0" bIns="0" rtlCol="0" anchor="t"/>
          <a:lstStyle/>
          <a:p>
            <a:pPr marL="0" indent="0" algn="r">
              <a:buNone/>
            </a:pPr>
            <a:r>
              <a:rPr lang="en-US" sz="1000" dirty="0">
                <a:solidFill>
                  <a:srgbClr val="5A6B63"/>
                </a:solidFill>
                <a:latin typeface="Calibri" pitchFamily="34" charset="0"/>
                <a:ea typeface="Calibri" pitchFamily="34" charset="-122"/>
                <a:cs typeface="Calibri" pitchFamily="34" charset="-120"/>
              </a:rPr>
              <a:t>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150" dirty="0">
                <a:solidFill>
                  <a:srgbClr val="D2652A"/>
                </a:solidFill>
                <a:latin typeface="Calibri" pitchFamily="34" charset="0"/>
                <a:ea typeface="Calibri" pitchFamily="34" charset="-122"/>
                <a:cs typeface="Calibri" pitchFamily="34" charset="-120"/>
              </a:rPr>
              <a:t>DATA FOUNDATION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200" b="1" dirty="0">
                <a:solidFill>
                  <a:srgbClr val="13342A"/>
                </a:solidFill>
                <a:latin typeface="Cambria" pitchFamily="34" charset="0"/>
                <a:ea typeface="Cambria" pitchFamily="34" charset="-122"/>
                <a:cs typeface="Cambria" pitchFamily="34" charset="-120"/>
              </a:rPr>
              <a:t>A small, defensible set of data sources</a:t>
            </a:r>
            <a:endParaRPr lang="en-US" sz="3200" dirty="0"/>
          </a:p>
        </p:txBody>
      </p:sp>
      <p:sp>
        <p:nvSpPr>
          <p:cNvPr id="4" name="Text 2"/>
          <p:cNvSpPr txBox="1"/>
          <p:nvPr/>
        </p:nvSpPr>
        <p:spPr>
          <a:xfrm>
            <a:off x="548640" y="1417320"/>
            <a:ext cx="6400800" cy="237744"/>
          </a:xfrm>
          <a:prstGeom prst="rect">
            <a:avLst/>
          </a:prstGeom>
          <a:noFill/>
          <a:ln/>
        </p:spPr>
        <p:txBody>
          <a:bodyPr wrap="square" lIns="0" tIns="0" rIns="0" bIns="0" rtlCol="0" anchor="t"/>
          <a:lstStyle/>
          <a:p>
            <a:pPr marL="0" indent="0">
              <a:buNone/>
            </a:pPr>
            <a:r>
              <a:rPr lang="en-US" sz="1100" b="1" kern="0" spc="100" dirty="0">
                <a:solidFill>
                  <a:srgbClr val="1F5C45"/>
                </a:solidFill>
                <a:latin typeface="Calibri" pitchFamily="34" charset="0"/>
                <a:ea typeface="Calibri" pitchFamily="34" charset="-122"/>
                <a:cs typeface="Calibri" pitchFamily="34" charset="-120"/>
              </a:rPr>
              <a:t>PUBLIC KNOWLEDGE SOURCES</a:t>
            </a:r>
            <a:endParaRPr lang="en-US" sz="1100" dirty="0"/>
          </a:p>
        </p:txBody>
      </p:sp>
      <p:sp>
        <p:nvSpPr>
          <p:cNvPr id="5" name="Text 3"/>
          <p:cNvSpPr txBox="1"/>
          <p:nvPr/>
        </p:nvSpPr>
        <p:spPr>
          <a:xfrm>
            <a:off x="7404811" y="1417320"/>
            <a:ext cx="4206240" cy="237744"/>
          </a:xfrm>
          <a:prstGeom prst="rect">
            <a:avLst/>
          </a:prstGeom>
          <a:noFill/>
          <a:ln/>
        </p:spPr>
        <p:txBody>
          <a:bodyPr wrap="square" lIns="0" tIns="0" rIns="0" bIns="0" rtlCol="0" anchor="t"/>
          <a:lstStyle/>
          <a:p>
            <a:pPr marL="0" indent="0">
              <a:buNone/>
            </a:pPr>
            <a:r>
              <a:rPr lang="en-US" sz="1100" b="1" kern="0" spc="100" dirty="0">
                <a:solidFill>
                  <a:srgbClr val="A84B1A"/>
                </a:solidFill>
                <a:latin typeface="Calibri" pitchFamily="34" charset="0"/>
                <a:ea typeface="Calibri" pitchFamily="34" charset="-122"/>
                <a:cs typeface="Calibri" pitchFamily="34" charset="-120"/>
              </a:rPr>
              <a:t>TEAM-BUILT EVALUATION DATA</a:t>
            </a:r>
            <a:endParaRPr lang="en-US" sz="1100" dirty="0"/>
          </a:p>
        </p:txBody>
      </p:sp>
      <p:sp>
        <p:nvSpPr>
          <p:cNvPr id="6" name="Shape 4"/>
          <p:cNvSpPr/>
          <p:nvPr/>
        </p:nvSpPr>
        <p:spPr>
          <a:xfrm>
            <a:off x="548640" y="1700784"/>
            <a:ext cx="2026310" cy="1810512"/>
          </a:xfrm>
          <a:prstGeom prst="roundRect">
            <a:avLst>
              <a:gd name="adj" fmla="val 6061"/>
            </a:avLst>
          </a:prstGeom>
          <a:solidFill>
            <a:srgbClr val="EEF5F1"/>
          </a:solidFill>
          <a:ln/>
        </p:spPr>
      </p:sp>
      <p:sp>
        <p:nvSpPr>
          <p:cNvPr id="7" name="Shape 5"/>
          <p:cNvSpPr/>
          <p:nvPr/>
        </p:nvSpPr>
        <p:spPr>
          <a:xfrm>
            <a:off x="713232" y="1865376"/>
            <a:ext cx="420624" cy="420624"/>
          </a:xfrm>
          <a:prstGeom prst="ellipse">
            <a:avLst/>
          </a:prstGeom>
          <a:solidFill>
            <a:srgbClr val="1F5C45"/>
          </a:solidFill>
          <a:ln/>
        </p:spPr>
      </p:sp>
      <p:pic>
        <p:nvPicPr>
          <p:cNvPr id="8" name="Image 0" descr="preencoded.png"/>
          <p:cNvPicPr>
            <a:picLocks noChangeAspect="1"/>
          </p:cNvPicPr>
          <p:nvPr/>
        </p:nvPicPr>
        <p:blipFill>
          <a:blip r:embed="rId3"/>
          <a:stretch>
            <a:fillRect/>
          </a:stretch>
        </p:blipFill>
        <p:spPr>
          <a:xfrm>
            <a:off x="809976" y="1962120"/>
            <a:ext cx="227137" cy="227137"/>
          </a:xfrm>
          <a:prstGeom prst="rect">
            <a:avLst/>
          </a:prstGeom>
        </p:spPr>
      </p:pic>
      <p:sp>
        <p:nvSpPr>
          <p:cNvPr id="9" name="Text 6"/>
          <p:cNvSpPr txBox="1"/>
          <p:nvPr/>
        </p:nvSpPr>
        <p:spPr>
          <a:xfrm>
            <a:off x="1225296" y="1865376"/>
            <a:ext cx="1249070" cy="420624"/>
          </a:xfrm>
          <a:prstGeom prst="rect">
            <a:avLst/>
          </a:prstGeom>
          <a:noFill/>
          <a:ln/>
        </p:spPr>
        <p:txBody>
          <a:bodyPr wrap="square" lIns="0" tIns="0" rIns="0" bIns="0" rtlCol="0" anchor="ctr"/>
          <a:lstStyle/>
          <a:p>
            <a:pPr marL="0" indent="0">
              <a:buNone/>
            </a:pPr>
            <a:r>
              <a:rPr lang="en-US" sz="1000" b="1" kern="0" spc="50" dirty="0">
                <a:solidFill>
                  <a:srgbClr val="1F5C45"/>
                </a:solidFill>
                <a:latin typeface="Calibri" pitchFamily="34" charset="0"/>
                <a:ea typeface="Calibri" pitchFamily="34" charset="-122"/>
                <a:cs typeface="Calibri" pitchFamily="34" charset="-120"/>
              </a:rPr>
              <a:t>RECIPES</a:t>
            </a:r>
            <a:endParaRPr lang="en-US" sz="1000" dirty="0"/>
          </a:p>
        </p:txBody>
      </p:sp>
      <p:sp>
        <p:nvSpPr>
          <p:cNvPr id="10" name="Text 7"/>
          <p:cNvSpPr txBox="1"/>
          <p:nvPr/>
        </p:nvSpPr>
        <p:spPr>
          <a:xfrm>
            <a:off x="713232" y="2359152"/>
            <a:ext cx="1715414" cy="420624"/>
          </a:xfrm>
          <a:prstGeom prst="rect">
            <a:avLst/>
          </a:prstGeom>
          <a:noFill/>
          <a:ln/>
        </p:spPr>
        <p:txBody>
          <a:bodyPr wrap="square" lIns="0" tIns="0" rIns="0" bIns="0" rtlCol="0" anchor="t"/>
          <a:lstStyle/>
          <a:p>
            <a:pPr marL="0" indent="0">
              <a:buNone/>
            </a:pPr>
            <a:r>
              <a:rPr lang="en-US" sz="1350" b="1" dirty="0">
                <a:solidFill>
                  <a:srgbClr val="13342A"/>
                </a:solidFill>
                <a:latin typeface="Calibri" pitchFamily="34" charset="0"/>
                <a:ea typeface="Calibri" pitchFamily="34" charset="-122"/>
                <a:cs typeface="Calibri" pitchFamily="34" charset="-120"/>
              </a:rPr>
              <a:t>Food.com Recipes &amp; Interactions</a:t>
            </a:r>
            <a:endParaRPr lang="en-US" sz="1350" dirty="0"/>
          </a:p>
        </p:txBody>
      </p:sp>
      <p:sp>
        <p:nvSpPr>
          <p:cNvPr id="11" name="Text 8"/>
          <p:cNvSpPr txBox="1"/>
          <p:nvPr/>
        </p:nvSpPr>
        <p:spPr>
          <a:xfrm>
            <a:off x="713232" y="2816352"/>
            <a:ext cx="1733702" cy="640080"/>
          </a:xfrm>
          <a:prstGeom prst="rect">
            <a:avLst/>
          </a:prstGeom>
          <a:noFill/>
          <a:ln/>
        </p:spPr>
        <p:txBody>
          <a:bodyPr wrap="square" lIns="0" tIns="0" rIns="0" bIns="0" rtlCol="0" anchor="t"/>
          <a:lstStyle/>
          <a:p>
            <a:pPr marL="0" indent="0">
              <a:buNone/>
            </a:pPr>
            <a:r>
              <a:rPr lang="en-US" sz="1100" dirty="0">
                <a:solidFill>
                  <a:srgbClr val="1E2B26"/>
                </a:solidFill>
                <a:latin typeface="Calibri" pitchFamily="34" charset="0"/>
                <a:ea typeface="Calibri" pitchFamily="34" charset="-122"/>
                <a:cs typeface="Calibri" pitchFamily="34" charset="-120"/>
              </a:rPr>
              <a:t>Candidate recipes: ingredients, steps, cooking time, tags, ratings</a:t>
            </a:r>
            <a:endParaRPr lang="en-US" sz="1100" dirty="0"/>
          </a:p>
        </p:txBody>
      </p:sp>
      <p:sp>
        <p:nvSpPr>
          <p:cNvPr id="12" name="Shape 9"/>
          <p:cNvSpPr/>
          <p:nvPr/>
        </p:nvSpPr>
        <p:spPr>
          <a:xfrm>
            <a:off x="2757830" y="1700784"/>
            <a:ext cx="2026310" cy="1810512"/>
          </a:xfrm>
          <a:prstGeom prst="roundRect">
            <a:avLst>
              <a:gd name="adj" fmla="val 6061"/>
            </a:avLst>
          </a:prstGeom>
          <a:solidFill>
            <a:srgbClr val="EEF5F1"/>
          </a:solidFill>
          <a:ln/>
        </p:spPr>
      </p:sp>
      <p:sp>
        <p:nvSpPr>
          <p:cNvPr id="13" name="Shape 10"/>
          <p:cNvSpPr/>
          <p:nvPr/>
        </p:nvSpPr>
        <p:spPr>
          <a:xfrm>
            <a:off x="2922422" y="1865376"/>
            <a:ext cx="420624" cy="420624"/>
          </a:xfrm>
          <a:prstGeom prst="ellipse">
            <a:avLst/>
          </a:prstGeom>
          <a:solidFill>
            <a:srgbClr val="1F5C45"/>
          </a:solidFill>
          <a:ln/>
        </p:spPr>
      </p:sp>
      <p:pic>
        <p:nvPicPr>
          <p:cNvPr id="14" name="Image 1" descr="preencoded.png"/>
          <p:cNvPicPr>
            <a:picLocks noChangeAspect="1"/>
          </p:cNvPicPr>
          <p:nvPr/>
        </p:nvPicPr>
        <p:blipFill>
          <a:blip r:embed="rId4"/>
          <a:stretch>
            <a:fillRect/>
          </a:stretch>
        </p:blipFill>
        <p:spPr>
          <a:xfrm>
            <a:off x="3019166" y="1962120"/>
            <a:ext cx="227137" cy="227137"/>
          </a:xfrm>
          <a:prstGeom prst="rect">
            <a:avLst/>
          </a:prstGeom>
        </p:spPr>
      </p:pic>
      <p:sp>
        <p:nvSpPr>
          <p:cNvPr id="15" name="Text 11"/>
          <p:cNvSpPr txBox="1"/>
          <p:nvPr/>
        </p:nvSpPr>
        <p:spPr>
          <a:xfrm>
            <a:off x="3434486" y="1865376"/>
            <a:ext cx="1249070" cy="420624"/>
          </a:xfrm>
          <a:prstGeom prst="rect">
            <a:avLst/>
          </a:prstGeom>
          <a:noFill/>
          <a:ln/>
        </p:spPr>
        <p:txBody>
          <a:bodyPr wrap="square" lIns="0" tIns="0" rIns="0" bIns="0" rtlCol="0" anchor="ctr"/>
          <a:lstStyle/>
          <a:p>
            <a:pPr marL="0" indent="0">
              <a:buNone/>
            </a:pPr>
            <a:r>
              <a:rPr lang="en-US" sz="1000" b="1" kern="0" spc="50" dirty="0">
                <a:solidFill>
                  <a:srgbClr val="1F5C45"/>
                </a:solidFill>
                <a:latin typeface="Calibri" pitchFamily="34" charset="0"/>
                <a:ea typeface="Calibri" pitchFamily="34" charset="-122"/>
                <a:cs typeface="Calibri" pitchFamily="34" charset="-120"/>
              </a:rPr>
              <a:t>NUTRITION</a:t>
            </a:r>
            <a:endParaRPr lang="en-US" sz="1000" dirty="0"/>
          </a:p>
        </p:txBody>
      </p:sp>
      <p:sp>
        <p:nvSpPr>
          <p:cNvPr id="16" name="Text 12"/>
          <p:cNvSpPr txBox="1"/>
          <p:nvPr/>
        </p:nvSpPr>
        <p:spPr>
          <a:xfrm>
            <a:off x="2922422" y="2359152"/>
            <a:ext cx="1715414" cy="420624"/>
          </a:xfrm>
          <a:prstGeom prst="rect">
            <a:avLst/>
          </a:prstGeom>
          <a:noFill/>
          <a:ln/>
        </p:spPr>
        <p:txBody>
          <a:bodyPr wrap="square" lIns="0" tIns="0" rIns="0" bIns="0" rtlCol="0" anchor="t"/>
          <a:lstStyle/>
          <a:p>
            <a:pPr marL="0" indent="0">
              <a:buNone/>
            </a:pPr>
            <a:r>
              <a:rPr lang="en-US" sz="1350" b="1" dirty="0">
                <a:solidFill>
                  <a:srgbClr val="13342A"/>
                </a:solidFill>
                <a:latin typeface="Calibri" pitchFamily="34" charset="0"/>
                <a:ea typeface="Calibri" pitchFamily="34" charset="-122"/>
                <a:cs typeface="Calibri" pitchFamily="34" charset="-120"/>
              </a:rPr>
              <a:t>USDA FoodData Central</a:t>
            </a:r>
            <a:endParaRPr lang="en-US" sz="1350" dirty="0"/>
          </a:p>
        </p:txBody>
      </p:sp>
      <p:sp>
        <p:nvSpPr>
          <p:cNvPr id="17" name="Text 13"/>
          <p:cNvSpPr txBox="1"/>
          <p:nvPr/>
        </p:nvSpPr>
        <p:spPr>
          <a:xfrm>
            <a:off x="2922422" y="2816352"/>
            <a:ext cx="1733702" cy="640080"/>
          </a:xfrm>
          <a:prstGeom prst="rect">
            <a:avLst/>
          </a:prstGeom>
          <a:noFill/>
          <a:ln/>
        </p:spPr>
        <p:txBody>
          <a:bodyPr wrap="square" lIns="0" tIns="0" rIns="0" bIns="0" rtlCol="0" anchor="t"/>
          <a:lstStyle/>
          <a:p>
            <a:pPr marL="0" indent="0">
              <a:buNone/>
            </a:pPr>
            <a:r>
              <a:rPr lang="en-US" sz="1100" dirty="0">
                <a:solidFill>
                  <a:srgbClr val="1E2B26"/>
                </a:solidFill>
                <a:latin typeface="Calibri" pitchFamily="34" charset="0"/>
                <a:ea typeface="Calibri" pitchFamily="34" charset="-122"/>
                <a:cs typeface="Calibri" pitchFamily="34" charset="-120"/>
              </a:rPr>
              <a:t>kcal, protein, carbs, fat and fibre per 100 g; portion weights</a:t>
            </a:r>
            <a:endParaRPr lang="en-US" sz="1100" dirty="0"/>
          </a:p>
        </p:txBody>
      </p:sp>
      <p:sp>
        <p:nvSpPr>
          <p:cNvPr id="18" name="Shape 14"/>
          <p:cNvSpPr/>
          <p:nvPr/>
        </p:nvSpPr>
        <p:spPr>
          <a:xfrm>
            <a:off x="4967021" y="1700784"/>
            <a:ext cx="2026310" cy="1810512"/>
          </a:xfrm>
          <a:prstGeom prst="roundRect">
            <a:avLst>
              <a:gd name="adj" fmla="val 6061"/>
            </a:avLst>
          </a:prstGeom>
          <a:solidFill>
            <a:srgbClr val="EEF5F1"/>
          </a:solidFill>
          <a:ln/>
        </p:spPr>
      </p:sp>
      <p:sp>
        <p:nvSpPr>
          <p:cNvPr id="19" name="Shape 15"/>
          <p:cNvSpPr/>
          <p:nvPr/>
        </p:nvSpPr>
        <p:spPr>
          <a:xfrm>
            <a:off x="5131613" y="1865376"/>
            <a:ext cx="420624" cy="420624"/>
          </a:xfrm>
          <a:prstGeom prst="ellipse">
            <a:avLst/>
          </a:prstGeom>
          <a:solidFill>
            <a:srgbClr val="1F5C45"/>
          </a:solidFill>
          <a:ln/>
        </p:spPr>
      </p:sp>
      <p:pic>
        <p:nvPicPr>
          <p:cNvPr id="20" name="Image 2" descr="preencoded.png"/>
          <p:cNvPicPr>
            <a:picLocks noChangeAspect="1"/>
          </p:cNvPicPr>
          <p:nvPr/>
        </p:nvPicPr>
        <p:blipFill>
          <a:blip r:embed="rId5"/>
          <a:stretch>
            <a:fillRect/>
          </a:stretch>
        </p:blipFill>
        <p:spPr>
          <a:xfrm>
            <a:off x="5228356" y="1962120"/>
            <a:ext cx="227137" cy="227137"/>
          </a:xfrm>
          <a:prstGeom prst="rect">
            <a:avLst/>
          </a:prstGeom>
        </p:spPr>
      </p:pic>
      <p:sp>
        <p:nvSpPr>
          <p:cNvPr id="21" name="Text 16"/>
          <p:cNvSpPr txBox="1"/>
          <p:nvPr/>
        </p:nvSpPr>
        <p:spPr>
          <a:xfrm>
            <a:off x="5643677" y="1865376"/>
            <a:ext cx="1249070" cy="420624"/>
          </a:xfrm>
          <a:prstGeom prst="rect">
            <a:avLst/>
          </a:prstGeom>
          <a:noFill/>
          <a:ln/>
        </p:spPr>
        <p:txBody>
          <a:bodyPr wrap="square" lIns="0" tIns="0" rIns="0" bIns="0" rtlCol="0" anchor="ctr"/>
          <a:lstStyle/>
          <a:p>
            <a:pPr marL="0" indent="0">
              <a:buNone/>
            </a:pPr>
            <a:r>
              <a:rPr lang="en-US" sz="1000" b="1" kern="0" spc="50" dirty="0">
                <a:solidFill>
                  <a:srgbClr val="1F5C45"/>
                </a:solidFill>
                <a:latin typeface="Calibri" pitchFamily="34" charset="0"/>
                <a:ea typeface="Calibri" pitchFamily="34" charset="-122"/>
                <a:cs typeface="Calibri" pitchFamily="34" charset="-120"/>
              </a:rPr>
              <a:t>SHELF LIFE</a:t>
            </a:r>
            <a:endParaRPr lang="en-US" sz="1000" dirty="0"/>
          </a:p>
        </p:txBody>
      </p:sp>
      <p:sp>
        <p:nvSpPr>
          <p:cNvPr id="22" name="Text 17"/>
          <p:cNvSpPr txBox="1"/>
          <p:nvPr/>
        </p:nvSpPr>
        <p:spPr>
          <a:xfrm>
            <a:off x="5131613" y="2359152"/>
            <a:ext cx="1715414" cy="420624"/>
          </a:xfrm>
          <a:prstGeom prst="rect">
            <a:avLst/>
          </a:prstGeom>
          <a:noFill/>
          <a:ln/>
        </p:spPr>
        <p:txBody>
          <a:bodyPr wrap="square" lIns="0" tIns="0" rIns="0" bIns="0" rtlCol="0" anchor="t"/>
          <a:lstStyle/>
          <a:p>
            <a:pPr marL="0" indent="0">
              <a:buNone/>
            </a:pPr>
            <a:r>
              <a:rPr lang="en-US" sz="1350" b="1" dirty="0">
                <a:solidFill>
                  <a:srgbClr val="13342A"/>
                </a:solidFill>
                <a:latin typeface="Calibri" pitchFamily="34" charset="0"/>
                <a:ea typeface="Calibri" pitchFamily="34" charset="-122"/>
                <a:cs typeface="Calibri" pitchFamily="34" charset="-120"/>
              </a:rPr>
              <a:t>USDA FoodKeeper</a:t>
            </a:r>
            <a:endParaRPr lang="en-US" sz="1350" dirty="0"/>
          </a:p>
        </p:txBody>
      </p:sp>
      <p:sp>
        <p:nvSpPr>
          <p:cNvPr id="23" name="Text 18"/>
          <p:cNvSpPr txBox="1"/>
          <p:nvPr/>
        </p:nvSpPr>
        <p:spPr>
          <a:xfrm>
            <a:off x="5131613" y="2816352"/>
            <a:ext cx="1733702" cy="640080"/>
          </a:xfrm>
          <a:prstGeom prst="rect">
            <a:avLst/>
          </a:prstGeom>
          <a:noFill/>
          <a:ln/>
        </p:spPr>
        <p:txBody>
          <a:bodyPr wrap="square" lIns="0" tIns="0" rIns="0" bIns="0" rtlCol="0" anchor="t"/>
          <a:lstStyle/>
          <a:p>
            <a:pPr marL="0" indent="0">
              <a:buNone/>
            </a:pPr>
            <a:r>
              <a:rPr lang="en-US" sz="1100" dirty="0">
                <a:solidFill>
                  <a:srgbClr val="1E2B26"/>
                </a:solidFill>
                <a:latin typeface="Calibri" pitchFamily="34" charset="0"/>
                <a:ea typeface="Calibri" pitchFamily="34" charset="-122"/>
                <a:cs typeface="Calibri" pitchFamily="34" charset="-120"/>
              </a:rPr>
              <a:t>Min/max shelf-life estimates by storage method, with confidence</a:t>
            </a:r>
            <a:endParaRPr lang="en-US" sz="1100" dirty="0"/>
          </a:p>
        </p:txBody>
      </p:sp>
      <p:sp>
        <p:nvSpPr>
          <p:cNvPr id="24" name="Shape 19"/>
          <p:cNvSpPr/>
          <p:nvPr/>
        </p:nvSpPr>
        <p:spPr>
          <a:xfrm>
            <a:off x="7404811" y="1700784"/>
            <a:ext cx="2026310" cy="1810512"/>
          </a:xfrm>
          <a:prstGeom prst="roundRect">
            <a:avLst>
              <a:gd name="adj" fmla="val 6061"/>
            </a:avLst>
          </a:prstGeom>
          <a:solidFill>
            <a:srgbClr val="FDF0E6"/>
          </a:solidFill>
          <a:ln/>
        </p:spPr>
      </p:sp>
      <p:sp>
        <p:nvSpPr>
          <p:cNvPr id="25" name="Shape 20"/>
          <p:cNvSpPr/>
          <p:nvPr/>
        </p:nvSpPr>
        <p:spPr>
          <a:xfrm>
            <a:off x="7569403" y="1865376"/>
            <a:ext cx="420624" cy="420624"/>
          </a:xfrm>
          <a:prstGeom prst="ellipse">
            <a:avLst/>
          </a:prstGeom>
          <a:solidFill>
            <a:srgbClr val="D2652A"/>
          </a:solidFill>
          <a:ln/>
        </p:spPr>
      </p:sp>
      <p:pic>
        <p:nvPicPr>
          <p:cNvPr id="26" name="Image 3" descr="preencoded.png"/>
          <p:cNvPicPr>
            <a:picLocks noChangeAspect="1"/>
          </p:cNvPicPr>
          <p:nvPr/>
        </p:nvPicPr>
        <p:blipFill>
          <a:blip r:embed="rId6"/>
          <a:stretch>
            <a:fillRect/>
          </a:stretch>
        </p:blipFill>
        <p:spPr>
          <a:xfrm>
            <a:off x="7666147" y="1962120"/>
            <a:ext cx="227137" cy="227137"/>
          </a:xfrm>
          <a:prstGeom prst="rect">
            <a:avLst/>
          </a:prstGeom>
        </p:spPr>
      </p:pic>
      <p:sp>
        <p:nvSpPr>
          <p:cNvPr id="27" name="Text 21"/>
          <p:cNvSpPr txBox="1"/>
          <p:nvPr/>
        </p:nvSpPr>
        <p:spPr>
          <a:xfrm>
            <a:off x="8081467" y="1865376"/>
            <a:ext cx="1249070" cy="420624"/>
          </a:xfrm>
          <a:prstGeom prst="rect">
            <a:avLst/>
          </a:prstGeom>
          <a:noFill/>
          <a:ln/>
        </p:spPr>
        <p:txBody>
          <a:bodyPr wrap="square" lIns="0" tIns="0" rIns="0" bIns="0" rtlCol="0" anchor="ctr"/>
          <a:lstStyle/>
          <a:p>
            <a:pPr marL="0" indent="0">
              <a:buNone/>
            </a:pPr>
            <a:r>
              <a:rPr lang="en-US" sz="1000" b="1" kern="0" spc="50" dirty="0">
                <a:solidFill>
                  <a:srgbClr val="A84B1A"/>
                </a:solidFill>
                <a:latin typeface="Calibri" pitchFamily="34" charset="0"/>
                <a:ea typeface="Calibri" pitchFamily="34" charset="-122"/>
                <a:cs typeface="Calibri" pitchFamily="34" charset="-120"/>
              </a:rPr>
              <a:t>BENCHMARK</a:t>
            </a:r>
            <a:endParaRPr lang="en-US" sz="1000" dirty="0"/>
          </a:p>
        </p:txBody>
      </p:sp>
      <p:sp>
        <p:nvSpPr>
          <p:cNvPr id="28" name="Text 22"/>
          <p:cNvSpPr txBox="1"/>
          <p:nvPr/>
        </p:nvSpPr>
        <p:spPr>
          <a:xfrm>
            <a:off x="7569403" y="2359152"/>
            <a:ext cx="1715414" cy="420624"/>
          </a:xfrm>
          <a:prstGeom prst="rect">
            <a:avLst/>
          </a:prstGeom>
          <a:noFill/>
          <a:ln/>
        </p:spPr>
        <p:txBody>
          <a:bodyPr wrap="square" lIns="0" tIns="0" rIns="0" bIns="0" rtlCol="0" anchor="t"/>
          <a:lstStyle/>
          <a:p>
            <a:pPr marL="0" indent="0">
              <a:buNone/>
            </a:pPr>
            <a:r>
              <a:rPr lang="en-US" sz="1350" b="1" dirty="0">
                <a:solidFill>
                  <a:srgbClr val="13342A"/>
                </a:solidFill>
                <a:latin typeface="Calibri" pitchFamily="34" charset="0"/>
                <a:ea typeface="Calibri" pitchFamily="34" charset="-122"/>
                <a:cs typeface="Calibri" pitchFamily="34" charset="-120"/>
              </a:rPr>
              <a:t>Synthetic pantry scenarios</a:t>
            </a:r>
            <a:endParaRPr lang="en-US" sz="1350" dirty="0"/>
          </a:p>
        </p:txBody>
      </p:sp>
      <p:sp>
        <p:nvSpPr>
          <p:cNvPr id="29" name="Text 23"/>
          <p:cNvSpPr txBox="1"/>
          <p:nvPr/>
        </p:nvSpPr>
        <p:spPr>
          <a:xfrm>
            <a:off x="7569403" y="2816352"/>
            <a:ext cx="1733702" cy="640080"/>
          </a:xfrm>
          <a:prstGeom prst="rect">
            <a:avLst/>
          </a:prstGeom>
          <a:noFill/>
          <a:ln/>
        </p:spPr>
        <p:txBody>
          <a:bodyPr wrap="square" lIns="0" tIns="0" rIns="0" bIns="0" rtlCol="0" anchor="t"/>
          <a:lstStyle/>
          <a:p>
            <a:pPr marL="0" indent="0">
              <a:buNone/>
            </a:pPr>
            <a:r>
              <a:rPr lang="en-US" sz="1100" dirty="0">
                <a:solidFill>
                  <a:srgbClr val="1E2B26"/>
                </a:solidFill>
                <a:latin typeface="Calibri" pitchFamily="34" charset="0"/>
                <a:ea typeface="Calibri" pitchFamily="34" charset="-122"/>
                <a:cs typeface="Calibri" pitchFamily="34" charset="-120"/>
              </a:rPr>
              <a:t>A few hundred kitchens: stock, expiry, diets, preferences, targets</a:t>
            </a:r>
            <a:endParaRPr lang="en-US" sz="1100" dirty="0"/>
          </a:p>
        </p:txBody>
      </p:sp>
      <p:sp>
        <p:nvSpPr>
          <p:cNvPr id="30" name="Shape 24"/>
          <p:cNvSpPr/>
          <p:nvPr/>
        </p:nvSpPr>
        <p:spPr>
          <a:xfrm>
            <a:off x="9614002" y="1700784"/>
            <a:ext cx="2026310" cy="1810512"/>
          </a:xfrm>
          <a:prstGeom prst="roundRect">
            <a:avLst>
              <a:gd name="adj" fmla="val 6061"/>
            </a:avLst>
          </a:prstGeom>
          <a:solidFill>
            <a:srgbClr val="FDF0E6"/>
          </a:solidFill>
          <a:ln/>
        </p:spPr>
      </p:sp>
      <p:sp>
        <p:nvSpPr>
          <p:cNvPr id="31" name="Shape 25"/>
          <p:cNvSpPr/>
          <p:nvPr/>
        </p:nvSpPr>
        <p:spPr>
          <a:xfrm>
            <a:off x="9778594" y="1865376"/>
            <a:ext cx="420624" cy="420624"/>
          </a:xfrm>
          <a:prstGeom prst="ellipse">
            <a:avLst/>
          </a:prstGeom>
          <a:solidFill>
            <a:srgbClr val="D2652A"/>
          </a:solidFill>
          <a:ln/>
        </p:spPr>
      </p:sp>
      <p:pic>
        <p:nvPicPr>
          <p:cNvPr id="32" name="Image 4" descr="preencoded.png"/>
          <p:cNvPicPr>
            <a:picLocks noChangeAspect="1"/>
          </p:cNvPicPr>
          <p:nvPr/>
        </p:nvPicPr>
        <p:blipFill>
          <a:blip r:embed="rId7"/>
          <a:stretch>
            <a:fillRect/>
          </a:stretch>
        </p:blipFill>
        <p:spPr>
          <a:xfrm>
            <a:off x="9875337" y="1962120"/>
            <a:ext cx="227137" cy="227137"/>
          </a:xfrm>
          <a:prstGeom prst="rect">
            <a:avLst/>
          </a:prstGeom>
        </p:spPr>
      </p:pic>
      <p:sp>
        <p:nvSpPr>
          <p:cNvPr id="33" name="Text 26"/>
          <p:cNvSpPr txBox="1"/>
          <p:nvPr/>
        </p:nvSpPr>
        <p:spPr>
          <a:xfrm>
            <a:off x="10290658" y="1865376"/>
            <a:ext cx="1249070" cy="420624"/>
          </a:xfrm>
          <a:prstGeom prst="rect">
            <a:avLst/>
          </a:prstGeom>
          <a:noFill/>
          <a:ln/>
        </p:spPr>
        <p:txBody>
          <a:bodyPr wrap="square" lIns="0" tIns="0" rIns="0" bIns="0" rtlCol="0" anchor="ctr"/>
          <a:lstStyle/>
          <a:p>
            <a:pPr marL="0" indent="0">
              <a:buNone/>
            </a:pPr>
            <a:r>
              <a:rPr lang="en-US" sz="1000" b="1" kern="0" spc="50" dirty="0">
                <a:solidFill>
                  <a:srgbClr val="A84B1A"/>
                </a:solidFill>
                <a:latin typeface="Calibri" pitchFamily="34" charset="0"/>
                <a:ea typeface="Calibri" pitchFamily="34" charset="-122"/>
                <a:cs typeface="Calibri" pitchFamily="34" charset="-120"/>
              </a:rPr>
              <a:t>NLP GROUND TRUTH</a:t>
            </a:r>
            <a:endParaRPr lang="en-US" sz="1000" dirty="0"/>
          </a:p>
        </p:txBody>
      </p:sp>
      <p:sp>
        <p:nvSpPr>
          <p:cNvPr id="34" name="Text 27"/>
          <p:cNvSpPr txBox="1"/>
          <p:nvPr/>
        </p:nvSpPr>
        <p:spPr>
          <a:xfrm>
            <a:off x="9778594" y="2359152"/>
            <a:ext cx="1715414" cy="420624"/>
          </a:xfrm>
          <a:prstGeom prst="rect">
            <a:avLst/>
          </a:prstGeom>
          <a:noFill/>
          <a:ln/>
        </p:spPr>
        <p:txBody>
          <a:bodyPr wrap="square" lIns="0" tIns="0" rIns="0" bIns="0" rtlCol="0" anchor="t"/>
          <a:lstStyle/>
          <a:p>
            <a:pPr marL="0" indent="0">
              <a:buNone/>
            </a:pPr>
            <a:r>
              <a:rPr lang="en-US" sz="1350" b="1" dirty="0">
                <a:solidFill>
                  <a:srgbClr val="13342A"/>
                </a:solidFill>
                <a:latin typeface="Calibri" pitchFamily="34" charset="0"/>
                <a:ea typeface="Calibri" pitchFamily="34" charset="-122"/>
                <a:cs typeface="Calibri" pitchFamily="34" charset="-120"/>
              </a:rPr>
              <a:t>Labelled NLP utterances</a:t>
            </a:r>
            <a:endParaRPr lang="en-US" sz="1350" dirty="0"/>
          </a:p>
        </p:txBody>
      </p:sp>
      <p:sp>
        <p:nvSpPr>
          <p:cNvPr id="35" name="Text 28"/>
          <p:cNvSpPr txBox="1"/>
          <p:nvPr/>
        </p:nvSpPr>
        <p:spPr>
          <a:xfrm>
            <a:off x="9778594" y="2816352"/>
            <a:ext cx="1733702" cy="640080"/>
          </a:xfrm>
          <a:prstGeom prst="rect">
            <a:avLst/>
          </a:prstGeom>
          <a:noFill/>
          <a:ln/>
        </p:spPr>
        <p:txBody>
          <a:bodyPr wrap="square" lIns="0" tIns="0" rIns="0" bIns="0" rtlCol="0" anchor="t"/>
          <a:lstStyle/>
          <a:p>
            <a:pPr marL="0" indent="0">
              <a:buNone/>
            </a:pPr>
            <a:r>
              <a:rPr lang="en-US" sz="1100" dirty="0">
                <a:solidFill>
                  <a:srgbClr val="1E2B26"/>
                </a:solidFill>
                <a:latin typeface="Calibri" pitchFamily="34" charset="0"/>
                <a:ea typeface="Calibri" pitchFamily="34" charset="-122"/>
                <a:cs typeface="Calibri" pitchFamily="34" charset="-120"/>
              </a:rPr>
              <a:t>200–500 pantry and preference sentences, manually labelled</a:t>
            </a:r>
            <a:endParaRPr lang="en-US" sz="1100" dirty="0"/>
          </a:p>
        </p:txBody>
      </p:sp>
      <p:sp>
        <p:nvSpPr>
          <p:cNvPr id="36" name="Text 29"/>
          <p:cNvSpPr txBox="1"/>
          <p:nvPr/>
        </p:nvSpPr>
        <p:spPr>
          <a:xfrm>
            <a:off x="548640" y="3703320"/>
            <a:ext cx="7315200" cy="237744"/>
          </a:xfrm>
          <a:prstGeom prst="rect">
            <a:avLst/>
          </a:prstGeom>
          <a:noFill/>
          <a:ln/>
        </p:spPr>
        <p:txBody>
          <a:bodyPr wrap="square" lIns="0" tIns="0" rIns="0" bIns="0" rtlCol="0" anchor="t"/>
          <a:lstStyle/>
          <a:p>
            <a:pPr marL="0" indent="0">
              <a:buNone/>
            </a:pPr>
            <a:r>
              <a:rPr lang="en-US" sz="1100" b="1" kern="0" spc="100" dirty="0">
                <a:solidFill>
                  <a:srgbClr val="D2652A"/>
                </a:solidFill>
                <a:latin typeface="Calibri" pitchFamily="34" charset="0"/>
                <a:ea typeface="Calibri" pitchFamily="34" charset="-122"/>
                <a:cs typeface="Calibri" pitchFamily="34" charset="-120"/>
              </a:rPr>
              <a:t>CENTRAL CHALLENGE: INGREDIENT NORMALISATION</a:t>
            </a:r>
            <a:endParaRPr lang="en-US" sz="1100" dirty="0"/>
          </a:p>
        </p:txBody>
      </p:sp>
      <p:sp>
        <p:nvSpPr>
          <p:cNvPr id="37" name="Text 30"/>
          <p:cNvSpPr/>
          <p:nvPr/>
        </p:nvSpPr>
        <p:spPr>
          <a:xfrm>
            <a:off x="548640" y="4023360"/>
            <a:ext cx="2788920" cy="1097280"/>
          </a:xfrm>
          <a:prstGeom prst="roundRect">
            <a:avLst>
              <a:gd name="adj" fmla="val 8333"/>
            </a:avLst>
          </a:prstGeom>
          <a:solidFill>
            <a:srgbClr val="F5F9F7"/>
          </a:solidFill>
          <a:ln w="12700">
            <a:solidFill>
              <a:srgbClr val="C9DDD1"/>
            </a:solidFill>
          </a:ln>
        </p:spPr>
        <p:txBody>
          <a:bodyPr wrap="square" lIns="127000" tIns="0" rIns="50800" bIns="0" rtlCol="0" anchor="ctr"/>
          <a:lstStyle/>
          <a:p>
            <a:pPr marL="0" indent="0">
              <a:spcAft>
                <a:spcPts val="400"/>
              </a:spcAft>
              <a:buNone/>
            </a:pPr>
            <a:r>
              <a:rPr lang="en-US" sz="1100" dirty="0">
                <a:solidFill>
                  <a:srgbClr val="13342A"/>
                </a:solidFill>
                <a:latin typeface="Courier New" pitchFamily="34" charset="0"/>
                <a:ea typeface="Courier New" pitchFamily="34" charset="-122"/>
                <a:cs typeface="Courier New" pitchFamily="34" charset="-120"/>
              </a:rPr>
              <a:t>2 cups chopped baby spinach</a:t>
            </a:r>
            <a:endParaRPr lang="en-US" sz="1100" dirty="0"/>
          </a:p>
          <a:p>
            <a:pPr marL="0" indent="0">
              <a:spcAft>
                <a:spcPts val="400"/>
              </a:spcAft>
              <a:buNone/>
            </a:pPr>
            <a:r>
              <a:rPr lang="en-US" sz="1100" dirty="0">
                <a:solidFill>
                  <a:srgbClr val="13342A"/>
                </a:solidFill>
                <a:latin typeface="Courier New" pitchFamily="34" charset="0"/>
                <a:ea typeface="Courier New" pitchFamily="34" charset="-122"/>
                <a:cs typeface="Courier New" pitchFamily="34" charset="-120"/>
              </a:rPr>
              <a:t>fresh spinach leaves</a:t>
            </a:r>
            <a:endParaRPr lang="en-US" sz="1100" dirty="0"/>
          </a:p>
          <a:p>
            <a:pPr marL="0" indent="0">
              <a:spcAft>
                <a:spcPts val="400"/>
              </a:spcAft>
              <a:buNone/>
            </a:pPr>
            <a:r>
              <a:rPr lang="en-US" sz="1100" dirty="0">
                <a:solidFill>
                  <a:srgbClr val="13342A"/>
                </a:solidFill>
                <a:latin typeface="Courier New" pitchFamily="34" charset="0"/>
                <a:ea typeface="Courier New" pitchFamily="34" charset="-122"/>
                <a:cs typeface="Courier New" pitchFamily="34" charset="-120"/>
              </a:rPr>
              <a:t>spinach</a:t>
            </a:r>
            <a:endParaRPr lang="en-US" sz="1100" dirty="0"/>
          </a:p>
        </p:txBody>
      </p:sp>
      <p:sp>
        <p:nvSpPr>
          <p:cNvPr id="38" name="Shape 31"/>
          <p:cNvSpPr/>
          <p:nvPr/>
        </p:nvSpPr>
        <p:spPr>
          <a:xfrm>
            <a:off x="3374136" y="4572000"/>
            <a:ext cx="301752" cy="0"/>
          </a:xfrm>
          <a:prstGeom prst="line">
            <a:avLst/>
          </a:prstGeom>
          <a:noFill/>
          <a:ln w="28575">
            <a:solidFill>
              <a:srgbClr val="D2652A"/>
            </a:solidFill>
            <a:prstDash val="solid"/>
            <a:tailEnd type="triangle"/>
          </a:ln>
        </p:spPr>
      </p:sp>
      <p:sp>
        <p:nvSpPr>
          <p:cNvPr id="39" name="Shape 32"/>
          <p:cNvSpPr/>
          <p:nvPr/>
        </p:nvSpPr>
        <p:spPr>
          <a:xfrm>
            <a:off x="3721608" y="4023360"/>
            <a:ext cx="2103120" cy="1097280"/>
          </a:xfrm>
          <a:prstGeom prst="roundRect">
            <a:avLst>
              <a:gd name="adj" fmla="val 8333"/>
            </a:avLst>
          </a:prstGeom>
          <a:solidFill>
            <a:srgbClr val="EEF5F1"/>
          </a:solidFill>
          <a:ln/>
        </p:spPr>
      </p:sp>
      <p:sp>
        <p:nvSpPr>
          <p:cNvPr id="40" name="Text 33"/>
          <p:cNvSpPr txBox="1"/>
          <p:nvPr/>
        </p:nvSpPr>
        <p:spPr>
          <a:xfrm>
            <a:off x="3904488" y="4023360"/>
            <a:ext cx="1828800" cy="1097280"/>
          </a:xfrm>
          <a:prstGeom prst="rect">
            <a:avLst/>
          </a:prstGeom>
          <a:noFill/>
          <a:ln/>
        </p:spPr>
        <p:txBody>
          <a:bodyPr wrap="square" lIns="0" tIns="0" rIns="0" bIns="0" rtlCol="0" anchor="ctr"/>
          <a:lstStyle/>
          <a:p>
            <a:pPr marL="0" indent="0">
              <a:spcAft>
                <a:spcPts val="200"/>
              </a:spcAft>
              <a:buNone/>
            </a:pPr>
            <a:r>
              <a:rPr lang="en-US" sz="1050" dirty="0">
                <a:solidFill>
                  <a:srgbClr val="5A6B63"/>
                </a:solidFill>
                <a:latin typeface="Calibri" pitchFamily="34" charset="0"/>
                <a:ea typeface="Calibri" pitchFamily="34" charset="-122"/>
                <a:cs typeface="Calibri" pitchFamily="34" charset="-120"/>
              </a:rPr>
              <a:t>quantity  </a:t>
            </a:r>
            <a:r>
              <a:rPr lang="en-US" sz="1300" b="1" dirty="0">
                <a:solidFill>
                  <a:srgbClr val="13342A"/>
                </a:solidFill>
                <a:latin typeface="Calibri" pitchFamily="34" charset="0"/>
                <a:ea typeface="Calibri" pitchFamily="34" charset="-122"/>
                <a:cs typeface="Calibri" pitchFamily="34" charset="-120"/>
              </a:rPr>
              <a:t>2</a:t>
            </a:r>
            <a:endParaRPr lang="en-US" sz="1400" dirty="0"/>
          </a:p>
          <a:p>
            <a:pPr marL="0" indent="0">
              <a:spcAft>
                <a:spcPts val="200"/>
              </a:spcAft>
              <a:buNone/>
            </a:pPr>
            <a:r>
              <a:rPr lang="en-US" sz="1050" dirty="0">
                <a:solidFill>
                  <a:srgbClr val="5A6B63"/>
                </a:solidFill>
                <a:latin typeface="Calibri" pitchFamily="34" charset="0"/>
                <a:ea typeface="Calibri" pitchFamily="34" charset="-122"/>
                <a:cs typeface="Calibri" pitchFamily="34" charset="-120"/>
              </a:rPr>
              <a:t>unit  </a:t>
            </a:r>
            <a:r>
              <a:rPr lang="en-US" sz="1300" b="1" dirty="0">
                <a:solidFill>
                  <a:srgbClr val="13342A"/>
                </a:solidFill>
                <a:latin typeface="Calibri" pitchFamily="34" charset="0"/>
                <a:ea typeface="Calibri" pitchFamily="34" charset="-122"/>
                <a:cs typeface="Calibri" pitchFamily="34" charset="-120"/>
              </a:rPr>
              <a:t>cup</a:t>
            </a:r>
            <a:endParaRPr lang="en-US" sz="1400" dirty="0"/>
          </a:p>
          <a:p>
            <a:pPr marL="0" indent="0">
              <a:spcAft>
                <a:spcPts val="200"/>
              </a:spcAft>
              <a:buNone/>
            </a:pPr>
            <a:r>
              <a:rPr lang="en-US" sz="1050" dirty="0">
                <a:solidFill>
                  <a:srgbClr val="5A6B63"/>
                </a:solidFill>
                <a:latin typeface="Calibri" pitchFamily="34" charset="0"/>
                <a:ea typeface="Calibri" pitchFamily="34" charset="-122"/>
                <a:cs typeface="Calibri" pitchFamily="34" charset="-120"/>
              </a:rPr>
              <a:t>modifiers  </a:t>
            </a:r>
            <a:r>
              <a:rPr lang="en-US" sz="1300" b="1" dirty="0">
                <a:solidFill>
                  <a:srgbClr val="13342A"/>
                </a:solidFill>
                <a:latin typeface="Calibri" pitchFamily="34" charset="0"/>
                <a:ea typeface="Calibri" pitchFamily="34" charset="-122"/>
                <a:cs typeface="Calibri" pitchFamily="34" charset="-120"/>
              </a:rPr>
              <a:t>chopped, baby</a:t>
            </a:r>
            <a:endParaRPr lang="en-US" sz="1400" dirty="0"/>
          </a:p>
        </p:txBody>
      </p:sp>
      <p:sp>
        <p:nvSpPr>
          <p:cNvPr id="41" name="Shape 34"/>
          <p:cNvSpPr/>
          <p:nvPr/>
        </p:nvSpPr>
        <p:spPr>
          <a:xfrm>
            <a:off x="5861304" y="4572000"/>
            <a:ext cx="301752" cy="0"/>
          </a:xfrm>
          <a:prstGeom prst="line">
            <a:avLst/>
          </a:prstGeom>
          <a:noFill/>
          <a:ln w="28575">
            <a:solidFill>
              <a:srgbClr val="D2652A"/>
            </a:solidFill>
            <a:prstDash val="solid"/>
            <a:tailEnd type="triangle"/>
          </a:ln>
        </p:spPr>
      </p:sp>
      <p:sp>
        <p:nvSpPr>
          <p:cNvPr id="42" name="Text 35"/>
          <p:cNvSpPr/>
          <p:nvPr/>
        </p:nvSpPr>
        <p:spPr>
          <a:xfrm>
            <a:off x="6208776" y="4059936"/>
            <a:ext cx="1600200" cy="1024128"/>
          </a:xfrm>
          <a:prstGeom prst="roundRect">
            <a:avLst>
              <a:gd name="adj" fmla="val 16071"/>
            </a:avLst>
          </a:prstGeom>
          <a:solidFill>
            <a:srgbClr val="1F5C45"/>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spinach</a:t>
            </a:r>
            <a:endParaRPr lang="en-US" sz="2000" dirty="0"/>
          </a:p>
          <a:p>
            <a:pPr marL="0" indent="0" algn="ctr">
              <a:buNone/>
            </a:pPr>
            <a:r>
              <a:rPr lang="en-US" sz="1000" dirty="0">
                <a:solidFill>
                  <a:srgbClr val="CFE3D8"/>
                </a:solidFill>
                <a:latin typeface="Calibri" pitchFamily="34" charset="0"/>
                <a:ea typeface="Calibri" pitchFamily="34" charset="-122"/>
                <a:cs typeface="Calibri" pitchFamily="34" charset="-120"/>
              </a:rPr>
              <a:t>canonical ingredient_id</a:t>
            </a:r>
            <a:endParaRPr lang="en-US" sz="2000" dirty="0"/>
          </a:p>
        </p:txBody>
      </p:sp>
      <p:sp>
        <p:nvSpPr>
          <p:cNvPr id="43" name="Shape 36"/>
          <p:cNvSpPr/>
          <p:nvPr/>
        </p:nvSpPr>
        <p:spPr>
          <a:xfrm flipV="1">
            <a:off x="7845552" y="4288536"/>
            <a:ext cx="338328" cy="146304"/>
          </a:xfrm>
          <a:prstGeom prst="line">
            <a:avLst/>
          </a:prstGeom>
          <a:noFill/>
          <a:ln w="28575">
            <a:solidFill>
              <a:srgbClr val="D2652A"/>
            </a:solidFill>
            <a:prstDash val="solid"/>
            <a:tailEnd type="triangle"/>
          </a:ln>
        </p:spPr>
      </p:sp>
      <p:sp>
        <p:nvSpPr>
          <p:cNvPr id="44" name="Shape 37"/>
          <p:cNvSpPr/>
          <p:nvPr/>
        </p:nvSpPr>
        <p:spPr>
          <a:xfrm>
            <a:off x="7845552" y="4709160"/>
            <a:ext cx="338328" cy="146304"/>
          </a:xfrm>
          <a:prstGeom prst="line">
            <a:avLst/>
          </a:prstGeom>
          <a:noFill/>
          <a:ln w="28575">
            <a:solidFill>
              <a:srgbClr val="D2652A"/>
            </a:solidFill>
            <a:prstDash val="solid"/>
            <a:tailEnd type="triangle"/>
          </a:ln>
        </p:spPr>
      </p:sp>
      <p:sp>
        <p:nvSpPr>
          <p:cNvPr id="45" name="Shape 38"/>
          <p:cNvSpPr/>
          <p:nvPr/>
        </p:nvSpPr>
        <p:spPr>
          <a:xfrm>
            <a:off x="8229600" y="4023360"/>
            <a:ext cx="3413455" cy="502920"/>
          </a:xfrm>
          <a:prstGeom prst="roundRect">
            <a:avLst>
              <a:gd name="adj" fmla="val 14545"/>
            </a:avLst>
          </a:prstGeom>
          <a:solidFill>
            <a:srgbClr val="FFFFFF"/>
          </a:solidFill>
          <a:ln w="12700">
            <a:solidFill>
              <a:srgbClr val="C9DDD1"/>
            </a:solidFill>
            <a:prstDash val="solid"/>
          </a:ln>
        </p:spPr>
      </p:sp>
      <p:sp>
        <p:nvSpPr>
          <p:cNvPr id="46" name="Text 39"/>
          <p:cNvSpPr txBox="1"/>
          <p:nvPr/>
        </p:nvSpPr>
        <p:spPr>
          <a:xfrm>
            <a:off x="8375904" y="4023360"/>
            <a:ext cx="3139135" cy="502920"/>
          </a:xfrm>
          <a:prstGeom prst="rect">
            <a:avLst/>
          </a:prstGeom>
          <a:noFill/>
          <a:ln/>
        </p:spPr>
        <p:txBody>
          <a:bodyPr wrap="square" lIns="0" tIns="0" rIns="0" bIns="0" rtlCol="0" anchor="ctr"/>
          <a:lstStyle/>
          <a:p>
            <a:pPr marL="0" indent="0">
              <a:buNone/>
            </a:pPr>
            <a:r>
              <a:rPr lang="en-US" sz="1200" b="1" dirty="0">
                <a:solidFill>
                  <a:srgbClr val="13342A"/>
                </a:solidFill>
                <a:latin typeface="Calibri" pitchFamily="34" charset="0"/>
                <a:ea typeface="Calibri" pitchFamily="34" charset="-122"/>
                <a:cs typeface="Calibri" pitchFamily="34" charset="-120"/>
              </a:rPr>
              <a:t>USDA FoodData Central</a:t>
            </a:r>
            <a:endParaRPr lang="en-US" sz="1400" dirty="0"/>
          </a:p>
          <a:p>
            <a:pPr marL="0" indent="0">
              <a:buNone/>
            </a:pPr>
            <a:r>
              <a:rPr lang="en-US" sz="1100" dirty="0">
                <a:solidFill>
                  <a:srgbClr val="1E2B26"/>
                </a:solidFill>
                <a:latin typeface="Calibri" pitchFamily="34" charset="0"/>
                <a:ea typeface="Calibri" pitchFamily="34" charset="-122"/>
                <a:cs typeface="Calibri" pitchFamily="34" charset="-120"/>
              </a:rPr>
              <a:t>kcal, protein, carbs, fat, fibre per 100 g</a:t>
            </a:r>
            <a:endParaRPr lang="en-US" sz="1400" dirty="0"/>
          </a:p>
        </p:txBody>
      </p:sp>
      <p:sp>
        <p:nvSpPr>
          <p:cNvPr id="47" name="Shape 40"/>
          <p:cNvSpPr/>
          <p:nvPr/>
        </p:nvSpPr>
        <p:spPr>
          <a:xfrm>
            <a:off x="8229600" y="4617720"/>
            <a:ext cx="3413455" cy="502920"/>
          </a:xfrm>
          <a:prstGeom prst="roundRect">
            <a:avLst>
              <a:gd name="adj" fmla="val 14545"/>
            </a:avLst>
          </a:prstGeom>
          <a:solidFill>
            <a:srgbClr val="FFFFFF"/>
          </a:solidFill>
          <a:ln w="12700">
            <a:solidFill>
              <a:srgbClr val="C9DDD1"/>
            </a:solidFill>
            <a:prstDash val="solid"/>
          </a:ln>
        </p:spPr>
      </p:sp>
      <p:sp>
        <p:nvSpPr>
          <p:cNvPr id="48" name="Text 41"/>
          <p:cNvSpPr txBox="1"/>
          <p:nvPr/>
        </p:nvSpPr>
        <p:spPr>
          <a:xfrm>
            <a:off x="8375904" y="4617720"/>
            <a:ext cx="3139135" cy="502920"/>
          </a:xfrm>
          <a:prstGeom prst="rect">
            <a:avLst/>
          </a:prstGeom>
          <a:noFill/>
          <a:ln/>
        </p:spPr>
        <p:txBody>
          <a:bodyPr wrap="square" lIns="0" tIns="0" rIns="0" bIns="0" rtlCol="0" anchor="ctr"/>
          <a:lstStyle/>
          <a:p>
            <a:pPr marL="0" indent="0">
              <a:buNone/>
            </a:pPr>
            <a:r>
              <a:rPr lang="en-US" sz="1200" b="1" dirty="0">
                <a:solidFill>
                  <a:srgbClr val="13342A"/>
                </a:solidFill>
                <a:latin typeface="Calibri" pitchFamily="34" charset="0"/>
                <a:ea typeface="Calibri" pitchFamily="34" charset="-122"/>
                <a:cs typeface="Calibri" pitchFamily="34" charset="-120"/>
              </a:rPr>
              <a:t>USDA FoodKeeper</a:t>
            </a:r>
            <a:endParaRPr lang="en-US" sz="1400" dirty="0"/>
          </a:p>
          <a:p>
            <a:pPr marL="0" indent="0">
              <a:buNone/>
            </a:pPr>
            <a:r>
              <a:rPr lang="en-US" sz="1100" dirty="0">
                <a:solidFill>
                  <a:srgbClr val="1E2B26"/>
                </a:solidFill>
                <a:latin typeface="Calibri" pitchFamily="34" charset="0"/>
                <a:ea typeface="Calibri" pitchFamily="34" charset="-122"/>
                <a:cs typeface="Calibri" pitchFamily="34" charset="-120"/>
              </a:rPr>
              <a:t>storage method, min–max shelf life, confidence</a:t>
            </a:r>
            <a:endParaRPr lang="en-US" sz="1400" dirty="0"/>
          </a:p>
        </p:txBody>
      </p:sp>
      <p:sp>
        <p:nvSpPr>
          <p:cNvPr id="49" name="Shape 42"/>
          <p:cNvSpPr/>
          <p:nvPr/>
        </p:nvSpPr>
        <p:spPr>
          <a:xfrm>
            <a:off x="548640" y="5303520"/>
            <a:ext cx="5455768" cy="896112"/>
          </a:xfrm>
          <a:prstGeom prst="roundRect">
            <a:avLst>
              <a:gd name="adj" fmla="val 12245"/>
            </a:avLst>
          </a:prstGeom>
          <a:solidFill>
            <a:srgbClr val="EEF5F1"/>
          </a:solidFill>
          <a:ln/>
        </p:spPr>
      </p:sp>
      <p:sp>
        <p:nvSpPr>
          <p:cNvPr id="50" name="Shape 43"/>
          <p:cNvSpPr/>
          <p:nvPr/>
        </p:nvSpPr>
        <p:spPr>
          <a:xfrm>
            <a:off x="731520" y="5522976"/>
            <a:ext cx="457200" cy="457200"/>
          </a:xfrm>
          <a:prstGeom prst="ellipse">
            <a:avLst/>
          </a:prstGeom>
          <a:solidFill>
            <a:srgbClr val="1F5C45"/>
          </a:solidFill>
          <a:ln/>
        </p:spPr>
      </p:sp>
      <p:pic>
        <p:nvPicPr>
          <p:cNvPr id="51" name="Image 5" descr="preencoded.png"/>
          <p:cNvPicPr>
            <a:picLocks noChangeAspect="1"/>
          </p:cNvPicPr>
          <p:nvPr/>
        </p:nvPicPr>
        <p:blipFill>
          <a:blip r:embed="rId8"/>
          <a:stretch>
            <a:fillRect/>
          </a:stretch>
        </p:blipFill>
        <p:spPr>
          <a:xfrm>
            <a:off x="836676" y="5628132"/>
            <a:ext cx="246888" cy="246888"/>
          </a:xfrm>
          <a:prstGeom prst="rect">
            <a:avLst/>
          </a:prstGeom>
        </p:spPr>
      </p:pic>
      <p:sp>
        <p:nvSpPr>
          <p:cNvPr id="52" name="Text 44"/>
          <p:cNvSpPr txBox="1"/>
          <p:nvPr/>
        </p:nvSpPr>
        <p:spPr>
          <a:xfrm>
            <a:off x="1353312" y="5303520"/>
            <a:ext cx="4495648" cy="896112"/>
          </a:xfrm>
          <a:prstGeom prst="rect">
            <a:avLst/>
          </a:prstGeom>
          <a:noFill/>
          <a:ln/>
        </p:spPr>
        <p:txBody>
          <a:bodyPr wrap="square" lIns="0" tIns="0" rIns="0" bIns="0" rtlCol="0" anchor="ctr"/>
          <a:lstStyle/>
          <a:p>
            <a:pPr marL="0" indent="0">
              <a:buNone/>
            </a:pPr>
            <a:r>
              <a:rPr lang="en-US" sz="1300" b="1" dirty="0">
                <a:solidFill>
                  <a:srgbClr val="13342A"/>
                </a:solidFill>
                <a:latin typeface="Calibri" pitchFamily="34" charset="0"/>
                <a:ea typeface="Calibri" pitchFamily="34" charset="-122"/>
                <a:cs typeface="Calibri" pitchFamily="34" charset="-120"/>
              </a:rPr>
              <a:t>Nutrition is computed, not guessed</a:t>
            </a:r>
            <a:endParaRPr lang="en-US" sz="1200" dirty="0"/>
          </a:p>
          <a:p>
            <a:pPr marL="0" indent="0">
              <a:buNone/>
            </a:pPr>
            <a:r>
              <a:rPr lang="en-US" sz="1200" b="1" i="1" dirty="0">
                <a:solidFill>
                  <a:srgbClr val="13342A"/>
                </a:solidFill>
                <a:latin typeface="Cambria" pitchFamily="34" charset="0"/>
                <a:ea typeface="Cambria" pitchFamily="34" charset="-122"/>
                <a:cs typeface="Cambria" pitchFamily="34" charset="-120"/>
              </a:rPr>
              <a:t>Σ (grams ÷ 100 × nutrient per 100 g)</a:t>
            </a:r>
            <a:r>
              <a:rPr lang="en-US" sz="1200" dirty="0">
                <a:solidFill>
                  <a:srgbClr val="1E2B26"/>
                </a:solidFill>
                <a:latin typeface="Calibri" pitchFamily="34" charset="0"/>
                <a:ea typeface="Calibri" pitchFamily="34" charset="-122"/>
                <a:cs typeface="Calibri" pitchFamily="34" charset="-120"/>
              </a:rPr>
              <a:t>, summed over the ingredients: deterministic, never LLM-estimated.</a:t>
            </a:r>
            <a:endParaRPr lang="en-US" sz="1200" dirty="0"/>
          </a:p>
        </p:txBody>
      </p:sp>
      <p:sp>
        <p:nvSpPr>
          <p:cNvPr id="53" name="Shape 45"/>
          <p:cNvSpPr/>
          <p:nvPr/>
        </p:nvSpPr>
        <p:spPr>
          <a:xfrm>
            <a:off x="6187288" y="5303520"/>
            <a:ext cx="5455768" cy="896112"/>
          </a:xfrm>
          <a:prstGeom prst="roundRect">
            <a:avLst>
              <a:gd name="adj" fmla="val 12245"/>
            </a:avLst>
          </a:prstGeom>
          <a:solidFill>
            <a:srgbClr val="EEF5F1"/>
          </a:solidFill>
          <a:ln/>
        </p:spPr>
      </p:sp>
      <p:sp>
        <p:nvSpPr>
          <p:cNvPr id="54" name="Shape 46"/>
          <p:cNvSpPr/>
          <p:nvPr/>
        </p:nvSpPr>
        <p:spPr>
          <a:xfrm>
            <a:off x="6370168" y="5522976"/>
            <a:ext cx="457200" cy="457200"/>
          </a:xfrm>
          <a:prstGeom prst="ellipse">
            <a:avLst/>
          </a:prstGeom>
          <a:solidFill>
            <a:srgbClr val="1F5C45"/>
          </a:solidFill>
          <a:ln/>
        </p:spPr>
      </p:sp>
      <p:pic>
        <p:nvPicPr>
          <p:cNvPr id="55" name="Image 6" descr="preencoded.png"/>
          <p:cNvPicPr>
            <a:picLocks noChangeAspect="1"/>
          </p:cNvPicPr>
          <p:nvPr/>
        </p:nvPicPr>
        <p:blipFill>
          <a:blip r:embed="rId5"/>
          <a:stretch>
            <a:fillRect/>
          </a:stretch>
        </p:blipFill>
        <p:spPr>
          <a:xfrm>
            <a:off x="6475324" y="5628132"/>
            <a:ext cx="246888" cy="246888"/>
          </a:xfrm>
          <a:prstGeom prst="rect">
            <a:avLst/>
          </a:prstGeom>
        </p:spPr>
      </p:pic>
      <p:sp>
        <p:nvSpPr>
          <p:cNvPr id="56" name="Text 47"/>
          <p:cNvSpPr txBox="1"/>
          <p:nvPr/>
        </p:nvSpPr>
        <p:spPr>
          <a:xfrm>
            <a:off x="6991960" y="5303520"/>
            <a:ext cx="4495648" cy="896112"/>
          </a:xfrm>
          <a:prstGeom prst="rect">
            <a:avLst/>
          </a:prstGeom>
          <a:noFill/>
          <a:ln/>
        </p:spPr>
        <p:txBody>
          <a:bodyPr wrap="square" lIns="0" tIns="0" rIns="0" bIns="0" rtlCol="0" anchor="ctr"/>
          <a:lstStyle/>
          <a:p>
            <a:pPr marL="0" indent="0">
              <a:buNone/>
            </a:pPr>
            <a:r>
              <a:rPr lang="en-US" sz="1300" b="1" dirty="0">
                <a:solidFill>
                  <a:srgbClr val="13342A"/>
                </a:solidFill>
                <a:latin typeface="Calibri" pitchFamily="34" charset="0"/>
                <a:ea typeface="Calibri" pitchFamily="34" charset="-122"/>
                <a:cs typeface="Calibri" pitchFamily="34" charset="-120"/>
              </a:rPr>
              <a:t>Estimates stay estimates</a:t>
            </a:r>
            <a:endParaRPr lang="en-US" sz="1200" dirty="0"/>
          </a:p>
          <a:p>
            <a:pPr marL="0" indent="0">
              <a:buNone/>
            </a:pPr>
            <a:r>
              <a:rPr lang="en-US" sz="1200" dirty="0">
                <a:solidFill>
                  <a:srgbClr val="1E2B26"/>
                </a:solidFill>
                <a:latin typeface="Calibri" pitchFamily="34" charset="0"/>
                <a:ea typeface="Calibri" pitchFamily="34" charset="-122"/>
                <a:cs typeface="Calibri" pitchFamily="34" charset="-120"/>
              </a:rPr>
              <a:t>Service-supplied items have known use-by dates; user-entered items get FoodKeeper estimates with a confidence level.</a:t>
            </a:r>
            <a:endParaRPr lang="en-US" sz="1200" dirty="0"/>
          </a:p>
        </p:txBody>
      </p:sp>
      <p:sp>
        <p:nvSpPr>
          <p:cNvPr id="57" name="Text 48"/>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1000" dirty="0">
                <a:solidFill>
                  <a:srgbClr val="5A6B63"/>
                </a:solidFill>
                <a:latin typeface="Calibri" pitchFamily="34" charset="0"/>
                <a:ea typeface="Calibri" pitchFamily="34" charset="-122"/>
                <a:cs typeface="Calibri" pitchFamily="34" charset="-120"/>
              </a:rPr>
              <a:t>Pantry-to-Plate  ·  IRS Practice Module</a:t>
            </a:r>
            <a:endParaRPr lang="en-US" sz="1000" dirty="0"/>
          </a:p>
        </p:txBody>
      </p:sp>
      <p:sp>
        <p:nvSpPr>
          <p:cNvPr id="58" name="Text 49"/>
          <p:cNvSpPr txBox="1"/>
          <p:nvPr/>
        </p:nvSpPr>
        <p:spPr>
          <a:xfrm>
            <a:off x="10271455" y="6419088"/>
            <a:ext cx="1371600" cy="256032"/>
          </a:xfrm>
          <a:prstGeom prst="rect">
            <a:avLst/>
          </a:prstGeom>
          <a:noFill/>
          <a:ln/>
        </p:spPr>
        <p:txBody>
          <a:bodyPr wrap="square" lIns="0" tIns="0" rIns="0" bIns="0" rtlCol="0" anchor="t"/>
          <a:lstStyle/>
          <a:p>
            <a:pPr marL="0" indent="0" algn="r">
              <a:buNone/>
            </a:pPr>
            <a:r>
              <a:rPr lang="en-US" sz="1000" dirty="0">
                <a:solidFill>
                  <a:srgbClr val="5A6B63"/>
                </a:solidFill>
                <a:latin typeface="Calibri" pitchFamily="34" charset="0"/>
                <a:ea typeface="Calibri" pitchFamily="34" charset="-122"/>
                <a:cs typeface="Calibri" pitchFamily="34" charset="-120"/>
              </a:rPr>
              <a:t>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150" dirty="0">
                <a:solidFill>
                  <a:srgbClr val="D2652A"/>
                </a:solidFill>
                <a:latin typeface="Calibri" pitchFamily="34" charset="0"/>
                <a:ea typeface="Calibri" pitchFamily="34" charset="-122"/>
                <a:cs typeface="Calibri" pitchFamily="34" charset="-120"/>
              </a:rPr>
              <a:t>OPTIMISATION OBJECTIVE</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200" b="1" dirty="0">
                <a:solidFill>
                  <a:srgbClr val="13342A"/>
                </a:solidFill>
                <a:latin typeface="Cambria" pitchFamily="34" charset="0"/>
                <a:ea typeface="Cambria" pitchFamily="34" charset="-122"/>
                <a:cs typeface="Cambria" pitchFamily="34" charset="-120"/>
              </a:rPr>
              <a:t>What the optimiser minimises</a:t>
            </a:r>
            <a:endParaRPr lang="en-US" sz="3200" dirty="0"/>
          </a:p>
        </p:txBody>
      </p:sp>
      <p:sp>
        <p:nvSpPr>
          <p:cNvPr id="4" name="Shape 2"/>
          <p:cNvSpPr/>
          <p:nvPr/>
        </p:nvSpPr>
        <p:spPr>
          <a:xfrm>
            <a:off x="548640" y="1463040"/>
            <a:ext cx="11094415" cy="676656"/>
          </a:xfrm>
          <a:prstGeom prst="roundRect">
            <a:avLst>
              <a:gd name="adj" fmla="val 16216"/>
            </a:avLst>
          </a:prstGeom>
          <a:solidFill>
            <a:srgbClr val="13342A"/>
          </a:solidFill>
          <a:ln/>
        </p:spPr>
      </p:sp>
      <p:sp>
        <p:nvSpPr>
          <p:cNvPr id="5" name="Text 3"/>
          <p:cNvSpPr txBox="1"/>
          <p:nvPr/>
        </p:nvSpPr>
        <p:spPr>
          <a:xfrm>
            <a:off x="822960" y="1463040"/>
            <a:ext cx="10545775" cy="676656"/>
          </a:xfrm>
          <a:prstGeom prst="rect">
            <a:avLst/>
          </a:prstGeom>
          <a:noFill/>
          <a:ln/>
        </p:spPr>
        <p:txBody>
          <a:bodyPr wrap="square" lIns="0" tIns="0" rIns="0" bIns="0" rtlCol="0" anchor="ctr"/>
          <a:lstStyle/>
          <a:p>
            <a:pPr marL="0" indent="0" algn="ctr">
              <a:buNone/>
            </a:pPr>
            <a:r>
              <a:rPr lang="en-US" sz="1700" b="1" i="1" dirty="0">
                <a:solidFill>
                  <a:srgbClr val="CFE3D8"/>
                </a:solidFill>
                <a:latin typeface="Cambria" pitchFamily="34" charset="0"/>
                <a:ea typeface="Cambria" pitchFamily="34" charset="-122"/>
                <a:cs typeface="Cambria" pitchFamily="34" charset="-120"/>
              </a:rPr>
              <a:t>minimise   </a:t>
            </a:r>
            <a:r>
              <a:rPr lang="en-US" sz="1700" b="1" i="1" dirty="0">
                <a:solidFill>
                  <a:srgbClr val="F4A261"/>
                </a:solidFill>
                <a:latin typeface="Calibri" pitchFamily="34" charset="0"/>
                <a:ea typeface="Calibri" pitchFamily="34" charset="-122"/>
                <a:cs typeface="Calibri" pitchFamily="34" charset="-120"/>
              </a:rPr>
              <a:t>w</a:t>
            </a:r>
            <a:r>
              <a:rPr lang="en-US" sz="1700" b="1" i="1" baseline="-40000" dirty="0">
                <a:solidFill>
                  <a:srgbClr val="F4A261"/>
                </a:solidFill>
                <a:latin typeface="Calibri" pitchFamily="34" charset="0"/>
                <a:ea typeface="Calibri" pitchFamily="34" charset="-122"/>
                <a:cs typeface="Calibri" pitchFamily="34" charset="-120"/>
              </a:rPr>
              <a:t>1</a:t>
            </a:r>
            <a:r>
              <a:rPr lang="en-US" sz="1700" b="1" dirty="0">
                <a:solidFill>
                  <a:srgbClr val="FFFFFF"/>
                </a:solidFill>
                <a:latin typeface="Calibri" pitchFamily="34" charset="0"/>
                <a:ea typeface="Calibri" pitchFamily="34" charset="-122"/>
                <a:cs typeface="Calibri" pitchFamily="34" charset="-120"/>
              </a:rPr>
              <a:t> Waste  +  </a:t>
            </a:r>
            <a:r>
              <a:rPr lang="en-US" sz="1700" b="1" i="1" dirty="0">
                <a:solidFill>
                  <a:srgbClr val="F4A261"/>
                </a:solidFill>
                <a:latin typeface="Calibri" pitchFamily="34" charset="0"/>
                <a:ea typeface="Calibri" pitchFamily="34" charset="-122"/>
                <a:cs typeface="Calibri" pitchFamily="34" charset="-120"/>
              </a:rPr>
              <a:t>w</a:t>
            </a:r>
            <a:r>
              <a:rPr lang="en-US" sz="1700" b="1" i="1" baseline="-40000" dirty="0">
                <a:solidFill>
                  <a:srgbClr val="F4A261"/>
                </a:solidFill>
                <a:latin typeface="Calibri" pitchFamily="34" charset="0"/>
                <a:ea typeface="Calibri" pitchFamily="34" charset="-122"/>
                <a:cs typeface="Calibri" pitchFamily="34" charset="-120"/>
              </a:rPr>
              <a:t>2</a:t>
            </a:r>
            <a:r>
              <a:rPr lang="en-US" sz="1700" b="1" dirty="0">
                <a:solidFill>
                  <a:srgbClr val="FFFFFF"/>
                </a:solidFill>
                <a:latin typeface="Calibri" pitchFamily="34" charset="0"/>
                <a:ea typeface="Calibri" pitchFamily="34" charset="-122"/>
                <a:cs typeface="Calibri" pitchFamily="34" charset="-120"/>
              </a:rPr>
              <a:t> Extra groceries  +  </a:t>
            </a:r>
            <a:r>
              <a:rPr lang="en-US" sz="1700" b="1" i="1" dirty="0">
                <a:solidFill>
                  <a:srgbClr val="F4A261"/>
                </a:solidFill>
                <a:latin typeface="Calibri" pitchFamily="34" charset="0"/>
                <a:ea typeface="Calibri" pitchFamily="34" charset="-122"/>
                <a:cs typeface="Calibri" pitchFamily="34" charset="-120"/>
              </a:rPr>
              <a:t>w</a:t>
            </a:r>
            <a:r>
              <a:rPr lang="en-US" sz="1700" b="1" i="1" baseline="-40000" dirty="0">
                <a:solidFill>
                  <a:srgbClr val="F4A261"/>
                </a:solidFill>
                <a:latin typeface="Calibri" pitchFamily="34" charset="0"/>
                <a:ea typeface="Calibri" pitchFamily="34" charset="-122"/>
                <a:cs typeface="Calibri" pitchFamily="34" charset="-120"/>
              </a:rPr>
              <a:t>3</a:t>
            </a:r>
            <a:r>
              <a:rPr lang="en-US" sz="1700" b="1" dirty="0">
                <a:solidFill>
                  <a:srgbClr val="FFFFFF"/>
                </a:solidFill>
                <a:latin typeface="Calibri" pitchFamily="34" charset="0"/>
                <a:ea typeface="Calibri" pitchFamily="34" charset="-122"/>
                <a:cs typeface="Calibri" pitchFamily="34" charset="-120"/>
              </a:rPr>
              <a:t> Nutrition deviation  +  </a:t>
            </a:r>
            <a:r>
              <a:rPr lang="en-US" sz="1700" b="1" i="1" dirty="0">
                <a:solidFill>
                  <a:srgbClr val="F4A261"/>
                </a:solidFill>
                <a:latin typeface="Calibri" pitchFamily="34" charset="0"/>
                <a:ea typeface="Calibri" pitchFamily="34" charset="-122"/>
                <a:cs typeface="Calibri" pitchFamily="34" charset="-120"/>
              </a:rPr>
              <a:t>w</a:t>
            </a:r>
            <a:r>
              <a:rPr lang="en-US" sz="1700" b="1" i="1" baseline="-40000" dirty="0">
                <a:solidFill>
                  <a:srgbClr val="F4A261"/>
                </a:solidFill>
                <a:latin typeface="Calibri" pitchFamily="34" charset="0"/>
                <a:ea typeface="Calibri" pitchFamily="34" charset="-122"/>
                <a:cs typeface="Calibri" pitchFamily="34" charset="-120"/>
              </a:rPr>
              <a:t>4</a:t>
            </a:r>
            <a:r>
              <a:rPr lang="en-US" sz="1700" b="1" dirty="0">
                <a:solidFill>
                  <a:srgbClr val="FFFFFF"/>
                </a:solidFill>
                <a:latin typeface="Calibri" pitchFamily="34" charset="0"/>
                <a:ea typeface="Calibri" pitchFamily="34" charset="-122"/>
                <a:cs typeface="Calibri" pitchFamily="34" charset="-120"/>
              </a:rPr>
              <a:t> Time &amp; preference penalties</a:t>
            </a:r>
            <a:endParaRPr lang="en-US" sz="1700" dirty="0"/>
          </a:p>
        </p:txBody>
      </p:sp>
      <p:sp>
        <p:nvSpPr>
          <p:cNvPr id="6" name="Shape 4"/>
          <p:cNvSpPr/>
          <p:nvPr/>
        </p:nvSpPr>
        <p:spPr>
          <a:xfrm>
            <a:off x="548640" y="2322576"/>
            <a:ext cx="3383280" cy="1572768"/>
          </a:xfrm>
          <a:prstGeom prst="roundRect">
            <a:avLst>
              <a:gd name="adj" fmla="val 6977"/>
            </a:avLst>
          </a:prstGeom>
          <a:solidFill>
            <a:srgbClr val="EEF5F1"/>
          </a:solidFill>
          <a:ln/>
        </p:spPr>
      </p:sp>
      <p:sp>
        <p:nvSpPr>
          <p:cNvPr id="7" name="Shape 5"/>
          <p:cNvSpPr/>
          <p:nvPr/>
        </p:nvSpPr>
        <p:spPr>
          <a:xfrm>
            <a:off x="731520" y="2505456"/>
            <a:ext cx="475488" cy="475488"/>
          </a:xfrm>
          <a:prstGeom prst="ellipse">
            <a:avLst/>
          </a:prstGeom>
          <a:solidFill>
            <a:srgbClr val="1F5C45"/>
          </a:solidFill>
          <a:ln/>
        </p:spPr>
      </p:sp>
      <p:pic>
        <p:nvPicPr>
          <p:cNvPr id="8" name="Image 0" descr="preencoded.png"/>
          <p:cNvPicPr>
            <a:picLocks noChangeAspect="1"/>
          </p:cNvPicPr>
          <p:nvPr/>
        </p:nvPicPr>
        <p:blipFill>
          <a:blip r:embed="rId3"/>
          <a:stretch>
            <a:fillRect/>
          </a:stretch>
        </p:blipFill>
        <p:spPr>
          <a:xfrm>
            <a:off x="840882" y="2614818"/>
            <a:ext cx="256764" cy="256764"/>
          </a:xfrm>
          <a:prstGeom prst="rect">
            <a:avLst/>
          </a:prstGeom>
        </p:spPr>
      </p:pic>
      <p:sp>
        <p:nvSpPr>
          <p:cNvPr id="9" name="Text 6"/>
          <p:cNvSpPr txBox="1"/>
          <p:nvPr/>
        </p:nvSpPr>
        <p:spPr>
          <a:xfrm>
            <a:off x="1325880" y="2487168"/>
            <a:ext cx="1783080" cy="512064"/>
          </a:xfrm>
          <a:prstGeom prst="rect">
            <a:avLst/>
          </a:prstGeom>
          <a:noFill/>
          <a:ln/>
        </p:spPr>
        <p:txBody>
          <a:bodyPr wrap="square" lIns="0" tIns="0" rIns="0" bIns="0" rtlCol="0" anchor="ctr"/>
          <a:lstStyle/>
          <a:p>
            <a:pPr marL="0" indent="0">
              <a:buNone/>
            </a:pPr>
            <a:r>
              <a:rPr lang="en-US" sz="1500" b="1" dirty="0">
                <a:solidFill>
                  <a:srgbClr val="13342A"/>
                </a:solidFill>
                <a:latin typeface="Calibri" pitchFamily="34" charset="0"/>
                <a:ea typeface="Calibri" pitchFamily="34" charset="-122"/>
                <a:cs typeface="Calibri" pitchFamily="34" charset="-120"/>
              </a:rPr>
              <a:t>Waste &amp; pantry use</a:t>
            </a:r>
            <a:endParaRPr lang="en-US" sz="1500" dirty="0"/>
          </a:p>
        </p:txBody>
      </p:sp>
      <p:sp>
        <p:nvSpPr>
          <p:cNvPr id="10" name="Text 7"/>
          <p:cNvSpPr/>
          <p:nvPr/>
        </p:nvSpPr>
        <p:spPr>
          <a:xfrm>
            <a:off x="3218688" y="2560320"/>
            <a:ext cx="530352" cy="365760"/>
          </a:xfrm>
          <a:prstGeom prst="roundRect">
            <a:avLst>
              <a:gd name="adj" fmla="val 20000"/>
            </a:avLst>
          </a:prstGeom>
          <a:solidFill>
            <a:srgbClr val="FDF0E6"/>
          </a:solidFill>
          <a:ln/>
        </p:spPr>
        <p:txBody>
          <a:bodyPr wrap="square" lIns="0" tIns="0" rIns="0" bIns="0" rtlCol="0" anchor="ctr"/>
          <a:lstStyle/>
          <a:p>
            <a:pPr marL="0" indent="0" algn="ctr">
              <a:buNone/>
            </a:pPr>
            <a:r>
              <a:rPr lang="en-US" sz="1500" b="1" i="1" dirty="0">
                <a:solidFill>
                  <a:srgbClr val="A84B1A"/>
                </a:solidFill>
                <a:latin typeface="Calibri" pitchFamily="34" charset="0"/>
                <a:ea typeface="Calibri" pitchFamily="34" charset="-122"/>
                <a:cs typeface="Calibri" pitchFamily="34" charset="-120"/>
              </a:rPr>
              <a:t>w</a:t>
            </a:r>
            <a:r>
              <a:rPr lang="en-US" sz="1500" b="1" i="1" baseline="-40000" dirty="0">
                <a:solidFill>
                  <a:srgbClr val="A84B1A"/>
                </a:solidFill>
                <a:latin typeface="Calibri" pitchFamily="34" charset="0"/>
                <a:ea typeface="Calibri" pitchFamily="34" charset="-122"/>
                <a:cs typeface="Calibri" pitchFamily="34" charset="-120"/>
              </a:rPr>
              <a:t>1</a:t>
            </a:r>
            <a:endParaRPr lang="en-US" sz="1500" dirty="0"/>
          </a:p>
        </p:txBody>
      </p:sp>
      <p:sp>
        <p:nvSpPr>
          <p:cNvPr id="11" name="Text 8"/>
          <p:cNvSpPr txBox="1"/>
          <p:nvPr/>
        </p:nvSpPr>
        <p:spPr>
          <a:xfrm>
            <a:off x="731520" y="3090672"/>
            <a:ext cx="3017520" cy="768096"/>
          </a:xfrm>
          <a:prstGeom prst="rect">
            <a:avLst/>
          </a:prstGeom>
          <a:noFill/>
          <a:ln/>
        </p:spPr>
        <p:txBody>
          <a:bodyPr wrap="square" lIns="0" tIns="0" rIns="0" bIns="0" rtlCol="0" anchor="t"/>
          <a:lstStyle/>
          <a:p>
            <a:pPr marL="0" indent="0">
              <a:buNone/>
            </a:pPr>
            <a:r>
              <a:rPr lang="en-US" sz="1200" dirty="0">
                <a:solidFill>
                  <a:srgbClr val="1E2B26"/>
                </a:solidFill>
                <a:latin typeface="Calibri" pitchFamily="34" charset="0"/>
                <a:ea typeface="Calibri" pitchFamily="34" charset="-122"/>
                <a:cs typeface="Calibri" pitchFamily="34" charset="-120"/>
              </a:rPr>
              <a:t>Simulate the week: subtract each recipe's grams from the pantry. Food still unused at expiry counts as waste, so the pantry gets used and urgent items are cooked first.</a:t>
            </a:r>
            <a:endParaRPr lang="en-US" sz="1200" dirty="0"/>
          </a:p>
        </p:txBody>
      </p:sp>
      <p:sp>
        <p:nvSpPr>
          <p:cNvPr id="12" name="Shape 9"/>
          <p:cNvSpPr/>
          <p:nvPr/>
        </p:nvSpPr>
        <p:spPr>
          <a:xfrm>
            <a:off x="4114800" y="2322576"/>
            <a:ext cx="3383280" cy="1572768"/>
          </a:xfrm>
          <a:prstGeom prst="roundRect">
            <a:avLst>
              <a:gd name="adj" fmla="val 6977"/>
            </a:avLst>
          </a:prstGeom>
          <a:solidFill>
            <a:srgbClr val="EEF5F1"/>
          </a:solidFill>
          <a:ln/>
        </p:spPr>
      </p:sp>
      <p:sp>
        <p:nvSpPr>
          <p:cNvPr id="13" name="Shape 10"/>
          <p:cNvSpPr/>
          <p:nvPr/>
        </p:nvSpPr>
        <p:spPr>
          <a:xfrm>
            <a:off x="4297680" y="2505456"/>
            <a:ext cx="475488" cy="475488"/>
          </a:xfrm>
          <a:prstGeom prst="ellipse">
            <a:avLst/>
          </a:prstGeom>
          <a:solidFill>
            <a:srgbClr val="1F5C45"/>
          </a:solidFill>
          <a:ln/>
        </p:spPr>
      </p:sp>
      <p:pic>
        <p:nvPicPr>
          <p:cNvPr id="14" name="Image 1" descr="preencoded.png"/>
          <p:cNvPicPr>
            <a:picLocks noChangeAspect="1"/>
          </p:cNvPicPr>
          <p:nvPr/>
        </p:nvPicPr>
        <p:blipFill>
          <a:blip r:embed="rId4"/>
          <a:stretch>
            <a:fillRect/>
          </a:stretch>
        </p:blipFill>
        <p:spPr>
          <a:xfrm>
            <a:off x="4407042" y="2614818"/>
            <a:ext cx="256764" cy="256764"/>
          </a:xfrm>
          <a:prstGeom prst="rect">
            <a:avLst/>
          </a:prstGeom>
        </p:spPr>
      </p:pic>
      <p:sp>
        <p:nvSpPr>
          <p:cNvPr id="15" name="Text 11"/>
          <p:cNvSpPr txBox="1"/>
          <p:nvPr/>
        </p:nvSpPr>
        <p:spPr>
          <a:xfrm>
            <a:off x="4892040" y="2487168"/>
            <a:ext cx="1783080" cy="512064"/>
          </a:xfrm>
          <a:prstGeom prst="rect">
            <a:avLst/>
          </a:prstGeom>
          <a:noFill/>
          <a:ln/>
        </p:spPr>
        <p:txBody>
          <a:bodyPr wrap="square" lIns="0" tIns="0" rIns="0" bIns="0" rtlCol="0" anchor="ctr"/>
          <a:lstStyle/>
          <a:p>
            <a:pPr marL="0" indent="0">
              <a:buNone/>
            </a:pPr>
            <a:r>
              <a:rPr lang="en-US" sz="1500" b="1" dirty="0">
                <a:solidFill>
                  <a:srgbClr val="13342A"/>
                </a:solidFill>
                <a:latin typeface="Calibri" pitchFamily="34" charset="0"/>
                <a:ea typeface="Calibri" pitchFamily="34" charset="-122"/>
                <a:cs typeface="Calibri" pitchFamily="34" charset="-120"/>
              </a:rPr>
              <a:t>Grocery requirements</a:t>
            </a:r>
            <a:endParaRPr lang="en-US" sz="1500" dirty="0"/>
          </a:p>
        </p:txBody>
      </p:sp>
      <p:sp>
        <p:nvSpPr>
          <p:cNvPr id="16" name="Text 12"/>
          <p:cNvSpPr/>
          <p:nvPr/>
        </p:nvSpPr>
        <p:spPr>
          <a:xfrm>
            <a:off x="6784848" y="2560320"/>
            <a:ext cx="530352" cy="365760"/>
          </a:xfrm>
          <a:prstGeom prst="roundRect">
            <a:avLst>
              <a:gd name="adj" fmla="val 20000"/>
            </a:avLst>
          </a:prstGeom>
          <a:solidFill>
            <a:srgbClr val="FDF0E6"/>
          </a:solidFill>
          <a:ln/>
        </p:spPr>
        <p:txBody>
          <a:bodyPr wrap="square" lIns="0" tIns="0" rIns="0" bIns="0" rtlCol="0" anchor="ctr"/>
          <a:lstStyle/>
          <a:p>
            <a:pPr marL="0" indent="0" algn="ctr">
              <a:buNone/>
            </a:pPr>
            <a:r>
              <a:rPr lang="en-US" sz="1500" b="1" i="1" dirty="0">
                <a:solidFill>
                  <a:srgbClr val="A84B1A"/>
                </a:solidFill>
                <a:latin typeface="Calibri" pitchFamily="34" charset="0"/>
                <a:ea typeface="Calibri" pitchFamily="34" charset="-122"/>
                <a:cs typeface="Calibri" pitchFamily="34" charset="-120"/>
              </a:rPr>
              <a:t>w</a:t>
            </a:r>
            <a:r>
              <a:rPr lang="en-US" sz="1500" b="1" i="1" baseline="-40000" dirty="0">
                <a:solidFill>
                  <a:srgbClr val="A84B1A"/>
                </a:solidFill>
                <a:latin typeface="Calibri" pitchFamily="34" charset="0"/>
                <a:ea typeface="Calibri" pitchFamily="34" charset="-122"/>
                <a:cs typeface="Calibri" pitchFamily="34" charset="-120"/>
              </a:rPr>
              <a:t>2</a:t>
            </a:r>
            <a:endParaRPr lang="en-US" sz="1500" dirty="0"/>
          </a:p>
        </p:txBody>
      </p:sp>
      <p:sp>
        <p:nvSpPr>
          <p:cNvPr id="17" name="Text 13"/>
          <p:cNvSpPr txBox="1"/>
          <p:nvPr/>
        </p:nvSpPr>
        <p:spPr>
          <a:xfrm>
            <a:off x="4297680" y="3090672"/>
            <a:ext cx="3017520" cy="768096"/>
          </a:xfrm>
          <a:prstGeom prst="rect">
            <a:avLst/>
          </a:prstGeom>
          <a:noFill/>
          <a:ln/>
        </p:spPr>
        <p:txBody>
          <a:bodyPr wrap="square" lIns="0" tIns="0" rIns="0" bIns="0" rtlCol="0" anchor="t"/>
          <a:lstStyle/>
          <a:p>
            <a:pPr marL="0" indent="0">
              <a:buNone/>
            </a:pPr>
            <a:r>
              <a:rPr lang="en-US" sz="1200" dirty="0">
                <a:solidFill>
                  <a:srgbClr val="1E2B26"/>
                </a:solidFill>
                <a:latin typeface="Calibri" pitchFamily="34" charset="0"/>
                <a:ea typeface="Calibri" pitchFamily="34" charset="-122"/>
                <a:cs typeface="Calibri" pitchFamily="34" charset="-120"/>
              </a:rPr>
              <a:t>What the chosen recipes need minus what is already in the pantry. The shortfall becomes the grocery box (unique items and quantity).</a:t>
            </a:r>
            <a:endParaRPr lang="en-US" sz="1200" dirty="0"/>
          </a:p>
        </p:txBody>
      </p:sp>
      <p:sp>
        <p:nvSpPr>
          <p:cNvPr id="18" name="Shape 14"/>
          <p:cNvSpPr/>
          <p:nvPr/>
        </p:nvSpPr>
        <p:spPr>
          <a:xfrm>
            <a:off x="548640" y="4041648"/>
            <a:ext cx="3383280" cy="1572768"/>
          </a:xfrm>
          <a:prstGeom prst="roundRect">
            <a:avLst>
              <a:gd name="adj" fmla="val 6977"/>
            </a:avLst>
          </a:prstGeom>
          <a:solidFill>
            <a:srgbClr val="EEF5F1"/>
          </a:solidFill>
          <a:ln/>
        </p:spPr>
      </p:sp>
      <p:sp>
        <p:nvSpPr>
          <p:cNvPr id="19" name="Shape 15"/>
          <p:cNvSpPr/>
          <p:nvPr/>
        </p:nvSpPr>
        <p:spPr>
          <a:xfrm>
            <a:off x="731520" y="4224528"/>
            <a:ext cx="475488" cy="475488"/>
          </a:xfrm>
          <a:prstGeom prst="ellipse">
            <a:avLst/>
          </a:prstGeom>
          <a:solidFill>
            <a:srgbClr val="1F5C45"/>
          </a:solidFill>
          <a:ln/>
        </p:spPr>
      </p:sp>
      <p:pic>
        <p:nvPicPr>
          <p:cNvPr id="20" name="Image 2" descr="preencoded.png"/>
          <p:cNvPicPr>
            <a:picLocks noChangeAspect="1"/>
          </p:cNvPicPr>
          <p:nvPr/>
        </p:nvPicPr>
        <p:blipFill>
          <a:blip r:embed="rId5"/>
          <a:stretch>
            <a:fillRect/>
          </a:stretch>
        </p:blipFill>
        <p:spPr>
          <a:xfrm>
            <a:off x="840882" y="4333890"/>
            <a:ext cx="256764" cy="256764"/>
          </a:xfrm>
          <a:prstGeom prst="rect">
            <a:avLst/>
          </a:prstGeom>
        </p:spPr>
      </p:pic>
      <p:sp>
        <p:nvSpPr>
          <p:cNvPr id="21" name="Text 16"/>
          <p:cNvSpPr txBox="1"/>
          <p:nvPr/>
        </p:nvSpPr>
        <p:spPr>
          <a:xfrm>
            <a:off x="1325880" y="4206240"/>
            <a:ext cx="1783080" cy="512064"/>
          </a:xfrm>
          <a:prstGeom prst="rect">
            <a:avLst/>
          </a:prstGeom>
          <a:noFill/>
          <a:ln/>
        </p:spPr>
        <p:txBody>
          <a:bodyPr wrap="square" lIns="0" tIns="0" rIns="0" bIns="0" rtlCol="0" anchor="ctr"/>
          <a:lstStyle/>
          <a:p>
            <a:pPr marL="0" indent="0">
              <a:buNone/>
            </a:pPr>
            <a:r>
              <a:rPr lang="en-US" sz="1500" b="1" dirty="0">
                <a:solidFill>
                  <a:srgbClr val="13342A"/>
                </a:solidFill>
                <a:latin typeface="Calibri" pitchFamily="34" charset="0"/>
                <a:ea typeface="Calibri" pitchFamily="34" charset="-122"/>
                <a:cs typeface="Calibri" pitchFamily="34" charset="-120"/>
              </a:rPr>
              <a:t>Nutrition deviation</a:t>
            </a:r>
            <a:endParaRPr lang="en-US" sz="1500" dirty="0"/>
          </a:p>
        </p:txBody>
      </p:sp>
      <p:sp>
        <p:nvSpPr>
          <p:cNvPr id="22" name="Text 17"/>
          <p:cNvSpPr/>
          <p:nvPr/>
        </p:nvSpPr>
        <p:spPr>
          <a:xfrm>
            <a:off x="3218688" y="4279392"/>
            <a:ext cx="530352" cy="365760"/>
          </a:xfrm>
          <a:prstGeom prst="roundRect">
            <a:avLst>
              <a:gd name="adj" fmla="val 20000"/>
            </a:avLst>
          </a:prstGeom>
          <a:solidFill>
            <a:srgbClr val="FDF0E6"/>
          </a:solidFill>
          <a:ln/>
        </p:spPr>
        <p:txBody>
          <a:bodyPr wrap="square" lIns="0" tIns="0" rIns="0" bIns="0" rtlCol="0" anchor="ctr"/>
          <a:lstStyle/>
          <a:p>
            <a:pPr marL="0" indent="0" algn="ctr">
              <a:buNone/>
            </a:pPr>
            <a:r>
              <a:rPr lang="en-US" sz="1500" b="1" i="1" dirty="0">
                <a:solidFill>
                  <a:srgbClr val="A84B1A"/>
                </a:solidFill>
                <a:latin typeface="Calibri" pitchFamily="34" charset="0"/>
                <a:ea typeface="Calibri" pitchFamily="34" charset="-122"/>
                <a:cs typeface="Calibri" pitchFamily="34" charset="-120"/>
              </a:rPr>
              <a:t>w</a:t>
            </a:r>
            <a:r>
              <a:rPr lang="en-US" sz="1500" b="1" i="1" baseline="-40000" dirty="0">
                <a:solidFill>
                  <a:srgbClr val="A84B1A"/>
                </a:solidFill>
                <a:latin typeface="Calibri" pitchFamily="34" charset="0"/>
                <a:ea typeface="Calibri" pitchFamily="34" charset="-122"/>
                <a:cs typeface="Calibri" pitchFamily="34" charset="-120"/>
              </a:rPr>
              <a:t>3</a:t>
            </a:r>
            <a:endParaRPr lang="en-US" sz="1500" dirty="0"/>
          </a:p>
        </p:txBody>
      </p:sp>
      <p:sp>
        <p:nvSpPr>
          <p:cNvPr id="23" name="Text 18"/>
          <p:cNvSpPr txBox="1"/>
          <p:nvPr/>
        </p:nvSpPr>
        <p:spPr>
          <a:xfrm>
            <a:off x="731520" y="4809744"/>
            <a:ext cx="3017520" cy="768096"/>
          </a:xfrm>
          <a:prstGeom prst="rect">
            <a:avLst/>
          </a:prstGeom>
          <a:noFill/>
          <a:ln/>
        </p:spPr>
        <p:txBody>
          <a:bodyPr wrap="square" lIns="0" tIns="0" rIns="0" bIns="0" rtlCol="0" anchor="t"/>
          <a:lstStyle/>
          <a:p>
            <a:pPr marL="0" indent="0">
              <a:buNone/>
            </a:pPr>
            <a:r>
              <a:rPr lang="en-US" sz="1200" dirty="0">
                <a:solidFill>
                  <a:srgbClr val="1E2B26"/>
                </a:solidFill>
                <a:latin typeface="Calibri" pitchFamily="34" charset="0"/>
                <a:ea typeface="Calibri" pitchFamily="34" charset="-122"/>
                <a:cs typeface="Calibri" pitchFamily="34" charset="-120"/>
              </a:rPr>
              <a:t>Intake computed from USDA values per 100 g and compared with the user's target range. No penalty while inside the range.</a:t>
            </a:r>
            <a:endParaRPr lang="en-US" sz="1200" dirty="0"/>
          </a:p>
        </p:txBody>
      </p:sp>
      <p:sp>
        <p:nvSpPr>
          <p:cNvPr id="24" name="Shape 19"/>
          <p:cNvSpPr/>
          <p:nvPr/>
        </p:nvSpPr>
        <p:spPr>
          <a:xfrm>
            <a:off x="4114800" y="4041648"/>
            <a:ext cx="3383280" cy="1572768"/>
          </a:xfrm>
          <a:prstGeom prst="roundRect">
            <a:avLst>
              <a:gd name="adj" fmla="val 6977"/>
            </a:avLst>
          </a:prstGeom>
          <a:solidFill>
            <a:srgbClr val="EEF5F1"/>
          </a:solidFill>
          <a:ln/>
        </p:spPr>
      </p:sp>
      <p:sp>
        <p:nvSpPr>
          <p:cNvPr id="25" name="Shape 20"/>
          <p:cNvSpPr/>
          <p:nvPr/>
        </p:nvSpPr>
        <p:spPr>
          <a:xfrm>
            <a:off x="4297680" y="4224528"/>
            <a:ext cx="475488" cy="475488"/>
          </a:xfrm>
          <a:prstGeom prst="ellipse">
            <a:avLst/>
          </a:prstGeom>
          <a:solidFill>
            <a:srgbClr val="1F5C45"/>
          </a:solidFill>
          <a:ln/>
        </p:spPr>
      </p:sp>
      <p:pic>
        <p:nvPicPr>
          <p:cNvPr id="26" name="Image 3" descr="preencoded.png"/>
          <p:cNvPicPr>
            <a:picLocks noChangeAspect="1"/>
          </p:cNvPicPr>
          <p:nvPr/>
        </p:nvPicPr>
        <p:blipFill>
          <a:blip r:embed="rId6"/>
          <a:stretch>
            <a:fillRect/>
          </a:stretch>
        </p:blipFill>
        <p:spPr>
          <a:xfrm>
            <a:off x="4407042" y="4333890"/>
            <a:ext cx="256764" cy="256764"/>
          </a:xfrm>
          <a:prstGeom prst="rect">
            <a:avLst/>
          </a:prstGeom>
        </p:spPr>
      </p:pic>
      <p:sp>
        <p:nvSpPr>
          <p:cNvPr id="27" name="Text 21"/>
          <p:cNvSpPr txBox="1"/>
          <p:nvPr/>
        </p:nvSpPr>
        <p:spPr>
          <a:xfrm>
            <a:off x="4892040" y="4206240"/>
            <a:ext cx="1783080" cy="512064"/>
          </a:xfrm>
          <a:prstGeom prst="rect">
            <a:avLst/>
          </a:prstGeom>
          <a:noFill/>
          <a:ln/>
        </p:spPr>
        <p:txBody>
          <a:bodyPr wrap="square" lIns="0" tIns="0" rIns="0" bIns="0" rtlCol="0" anchor="ctr"/>
          <a:lstStyle/>
          <a:p>
            <a:pPr marL="0" indent="0">
              <a:buNone/>
            </a:pPr>
            <a:r>
              <a:rPr lang="en-US" sz="1500" b="1" dirty="0">
                <a:solidFill>
                  <a:srgbClr val="13342A"/>
                </a:solidFill>
                <a:latin typeface="Calibri" pitchFamily="34" charset="0"/>
                <a:ea typeface="Calibri" pitchFamily="34" charset="-122"/>
                <a:cs typeface="Calibri" pitchFamily="34" charset="-120"/>
              </a:rPr>
              <a:t>Preferences, variety &amp; time</a:t>
            </a:r>
            <a:endParaRPr lang="en-US" sz="1500" dirty="0"/>
          </a:p>
        </p:txBody>
      </p:sp>
      <p:sp>
        <p:nvSpPr>
          <p:cNvPr id="28" name="Text 22"/>
          <p:cNvSpPr/>
          <p:nvPr/>
        </p:nvSpPr>
        <p:spPr>
          <a:xfrm>
            <a:off x="6784848" y="4279392"/>
            <a:ext cx="530352" cy="365760"/>
          </a:xfrm>
          <a:prstGeom prst="roundRect">
            <a:avLst>
              <a:gd name="adj" fmla="val 20000"/>
            </a:avLst>
          </a:prstGeom>
          <a:solidFill>
            <a:srgbClr val="FDF0E6"/>
          </a:solidFill>
          <a:ln/>
        </p:spPr>
        <p:txBody>
          <a:bodyPr wrap="square" lIns="0" tIns="0" rIns="0" bIns="0" rtlCol="0" anchor="ctr"/>
          <a:lstStyle/>
          <a:p>
            <a:pPr marL="0" indent="0" algn="ctr">
              <a:buNone/>
            </a:pPr>
            <a:r>
              <a:rPr lang="en-US" sz="1500" b="1" i="1" dirty="0">
                <a:solidFill>
                  <a:srgbClr val="A84B1A"/>
                </a:solidFill>
                <a:latin typeface="Calibri" pitchFamily="34" charset="0"/>
                <a:ea typeface="Calibri" pitchFamily="34" charset="-122"/>
                <a:cs typeface="Calibri" pitchFamily="34" charset="-120"/>
              </a:rPr>
              <a:t>w</a:t>
            </a:r>
            <a:r>
              <a:rPr lang="en-US" sz="1500" b="1" i="1" baseline="-40000" dirty="0">
                <a:solidFill>
                  <a:srgbClr val="A84B1A"/>
                </a:solidFill>
                <a:latin typeface="Calibri" pitchFamily="34" charset="0"/>
                <a:ea typeface="Calibri" pitchFamily="34" charset="-122"/>
                <a:cs typeface="Calibri" pitchFamily="34" charset="-120"/>
              </a:rPr>
              <a:t>4</a:t>
            </a:r>
            <a:endParaRPr lang="en-US" sz="1500" dirty="0"/>
          </a:p>
        </p:txBody>
      </p:sp>
      <p:sp>
        <p:nvSpPr>
          <p:cNvPr id="29" name="Text 23"/>
          <p:cNvSpPr txBox="1"/>
          <p:nvPr/>
        </p:nvSpPr>
        <p:spPr>
          <a:xfrm>
            <a:off x="4297680" y="4809744"/>
            <a:ext cx="3017520" cy="768096"/>
          </a:xfrm>
          <a:prstGeom prst="rect">
            <a:avLst/>
          </a:prstGeom>
          <a:noFill/>
          <a:ln/>
        </p:spPr>
        <p:txBody>
          <a:bodyPr wrap="square" lIns="0" tIns="0" rIns="0" bIns="0" rtlCol="0" anchor="t"/>
          <a:lstStyle/>
          <a:p>
            <a:pPr marL="0" indent="0">
              <a:buNone/>
            </a:pPr>
            <a:r>
              <a:rPr lang="en-US" sz="1200" dirty="0">
                <a:solidFill>
                  <a:srgbClr val="1E2B26"/>
                </a:solidFill>
                <a:latin typeface="Calibri" pitchFamily="34" charset="0"/>
                <a:ea typeface="Calibri" pitchFamily="34" charset="-122"/>
                <a:cs typeface="Calibri" pitchFamily="34" charset="-120"/>
              </a:rPr>
              <a:t>Weekday recipes over the cooking-time limit, disliked foods, cuisine mismatch and repeated meals (variety).</a:t>
            </a:r>
            <a:endParaRPr lang="en-US" sz="1200" dirty="0"/>
          </a:p>
        </p:txBody>
      </p:sp>
      <p:sp>
        <p:nvSpPr>
          <p:cNvPr id="30" name="Shape 24"/>
          <p:cNvSpPr/>
          <p:nvPr/>
        </p:nvSpPr>
        <p:spPr>
          <a:xfrm>
            <a:off x="7726680" y="2322576"/>
            <a:ext cx="3916375" cy="3291840"/>
          </a:xfrm>
          <a:prstGeom prst="roundRect">
            <a:avLst>
              <a:gd name="adj" fmla="val 3333"/>
            </a:avLst>
          </a:prstGeom>
          <a:solidFill>
            <a:srgbClr val="1F5C45"/>
          </a:solidFill>
          <a:ln/>
        </p:spPr>
      </p:sp>
      <p:sp>
        <p:nvSpPr>
          <p:cNvPr id="31" name="Text 25"/>
          <p:cNvSpPr txBox="1"/>
          <p:nvPr/>
        </p:nvSpPr>
        <p:spPr>
          <a:xfrm>
            <a:off x="8001000" y="2523744"/>
            <a:ext cx="3459175" cy="256032"/>
          </a:xfrm>
          <a:prstGeom prst="rect">
            <a:avLst/>
          </a:prstGeom>
          <a:noFill/>
          <a:ln/>
        </p:spPr>
        <p:txBody>
          <a:bodyPr wrap="square" lIns="0" tIns="0" rIns="0" bIns="0" rtlCol="0" anchor="t"/>
          <a:lstStyle/>
          <a:p>
            <a:pPr marL="0" indent="0">
              <a:buNone/>
            </a:pPr>
            <a:r>
              <a:rPr lang="en-US" sz="1100" b="1" kern="0" spc="100" dirty="0">
                <a:solidFill>
                  <a:srgbClr val="F4A261"/>
                </a:solidFill>
                <a:latin typeface="Calibri" pitchFamily="34" charset="0"/>
                <a:ea typeface="Calibri" pitchFamily="34" charset="-122"/>
                <a:cs typeface="Calibri" pitchFamily="34" charset="-120"/>
              </a:rPr>
              <a:t>HARD CONSTRAINTS · NEVER TRADED OFF</a:t>
            </a:r>
            <a:endParaRPr lang="en-US" sz="1100" dirty="0"/>
          </a:p>
        </p:txBody>
      </p:sp>
      <p:sp>
        <p:nvSpPr>
          <p:cNvPr id="32" name="Text 26"/>
          <p:cNvSpPr txBox="1"/>
          <p:nvPr/>
        </p:nvSpPr>
        <p:spPr>
          <a:xfrm>
            <a:off x="8001000" y="2834640"/>
            <a:ext cx="3459175" cy="566928"/>
          </a:xfrm>
          <a:prstGeom prst="rect">
            <a:avLst/>
          </a:prstGeom>
          <a:noFill/>
          <a:ln/>
        </p:spPr>
        <p:txBody>
          <a:bodyPr wrap="square" lIns="0" tIns="0" rIns="0" bIns="0" rtlCol="0" anchor="t"/>
          <a:lstStyle/>
          <a:p>
            <a:pPr marL="127000" indent="-127000">
              <a:spcAft>
                <a:spcPts val="200"/>
              </a:spcAft>
              <a:buSzPct val="100000"/>
              <a:buChar char="•"/>
            </a:pPr>
            <a:r>
              <a:rPr lang="en-US" sz="1300" dirty="0">
                <a:solidFill>
                  <a:srgbClr val="FFFFFF"/>
                </a:solidFill>
                <a:latin typeface="Calibri" pitchFamily="34" charset="0"/>
                <a:ea typeface="Calibri" pitchFamily="34" charset="-122"/>
                <a:cs typeface="Calibri" pitchFamily="34" charset="-120"/>
              </a:rPr>
              <a:t>Zero allergy / diet violations</a:t>
            </a:r>
            <a:endParaRPr lang="en-US" sz="1300" dirty="0"/>
          </a:p>
          <a:p>
            <a:pPr marL="127000" indent="-127000">
              <a:spcAft>
                <a:spcPts val="200"/>
              </a:spcAft>
              <a:buSzPct val="100000"/>
              <a:buChar char="•"/>
            </a:pPr>
            <a:r>
              <a:rPr lang="en-US" sz="1300" dirty="0">
                <a:solidFill>
                  <a:srgbClr val="FFFFFF"/>
                </a:solidFill>
                <a:latin typeface="Calibri" pitchFamily="34" charset="0"/>
                <a:ea typeface="Calibri" pitchFamily="34" charset="-122"/>
                <a:cs typeface="Calibri" pitchFamily="34" charset="-120"/>
              </a:rPr>
              <a:t>No planned use after a known use-by date</a:t>
            </a:r>
            <a:endParaRPr lang="en-US" sz="1300" dirty="0"/>
          </a:p>
        </p:txBody>
      </p:sp>
      <p:sp>
        <p:nvSpPr>
          <p:cNvPr id="33" name="Text 27"/>
          <p:cNvSpPr txBox="1"/>
          <p:nvPr/>
        </p:nvSpPr>
        <p:spPr>
          <a:xfrm>
            <a:off x="8001000" y="3438144"/>
            <a:ext cx="3413455" cy="411480"/>
          </a:xfrm>
          <a:prstGeom prst="rect">
            <a:avLst/>
          </a:prstGeom>
          <a:noFill/>
          <a:ln/>
        </p:spPr>
        <p:txBody>
          <a:bodyPr wrap="square" lIns="0" tIns="0" rIns="0" bIns="0" rtlCol="0" anchor="t"/>
          <a:lstStyle/>
          <a:p>
            <a:pPr marL="0" indent="0">
              <a:buNone/>
            </a:pPr>
            <a:r>
              <a:rPr lang="en-US" sz="1150" i="1" dirty="0">
                <a:solidFill>
                  <a:srgbClr val="CFE3D8"/>
                </a:solidFill>
                <a:latin typeface="Calibri" pitchFamily="34" charset="0"/>
                <a:ea typeface="Calibri" pitchFamily="34" charset="-122"/>
                <a:cs typeface="Calibri" pitchFamily="34" charset="-120"/>
              </a:rPr>
              <a:t>Estimated expiry (user-entered food) feeds the waste cost instead.</a:t>
            </a:r>
            <a:endParaRPr lang="en-US" sz="1150" dirty="0"/>
          </a:p>
        </p:txBody>
      </p:sp>
      <p:sp>
        <p:nvSpPr>
          <p:cNvPr id="34" name="Text 28"/>
          <p:cNvSpPr txBox="1"/>
          <p:nvPr/>
        </p:nvSpPr>
        <p:spPr>
          <a:xfrm>
            <a:off x="8001000" y="4023360"/>
            <a:ext cx="3459175" cy="256032"/>
          </a:xfrm>
          <a:prstGeom prst="rect">
            <a:avLst/>
          </a:prstGeom>
          <a:noFill/>
          <a:ln/>
        </p:spPr>
        <p:txBody>
          <a:bodyPr wrap="square" lIns="0" tIns="0" rIns="0" bIns="0" rtlCol="0" anchor="t"/>
          <a:lstStyle/>
          <a:p>
            <a:pPr marL="0" indent="0">
              <a:buNone/>
            </a:pPr>
            <a:r>
              <a:rPr lang="en-US" sz="1100" b="1" kern="0" spc="100" dirty="0">
                <a:solidFill>
                  <a:srgbClr val="F4A261"/>
                </a:solidFill>
                <a:latin typeface="Calibri" pitchFamily="34" charset="0"/>
                <a:ea typeface="Calibri" pitchFamily="34" charset="-122"/>
                <a:cs typeface="Calibri" pitchFamily="34" charset="-120"/>
              </a:rPr>
              <a:t>SETTING THE WEIGHTS</a:t>
            </a:r>
            <a:endParaRPr lang="en-US" sz="1100" dirty="0"/>
          </a:p>
        </p:txBody>
      </p:sp>
      <p:sp>
        <p:nvSpPr>
          <p:cNvPr id="35" name="Text 29"/>
          <p:cNvSpPr txBox="1"/>
          <p:nvPr/>
        </p:nvSpPr>
        <p:spPr>
          <a:xfrm>
            <a:off x="8001000" y="4315968"/>
            <a:ext cx="3459175" cy="1188720"/>
          </a:xfrm>
          <a:prstGeom prst="rect">
            <a:avLst/>
          </a:prstGeom>
          <a:noFill/>
          <a:ln/>
        </p:spPr>
        <p:txBody>
          <a:bodyPr wrap="square" lIns="0" tIns="0" rIns="0" bIns="0" rtlCol="0" anchor="t"/>
          <a:lstStyle/>
          <a:p>
            <a:pPr marL="127000" indent="-1270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Scale each cost to 0–1</a:t>
            </a:r>
            <a:endParaRPr lang="en-US" sz="1250" dirty="0"/>
          </a:p>
          <a:p>
            <a:pPr marL="127000" indent="-1270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Tune on a validation split of the synthetic scenarios, never the test set</a:t>
            </a:r>
            <a:endParaRPr lang="en-US" sz="1250" dirty="0"/>
          </a:p>
          <a:p>
            <a:pPr marL="127000" indent="-127000">
              <a:spcAft>
                <a:spcPts val="400"/>
              </a:spcAft>
              <a:buSzPct val="100000"/>
              <a:buChar char="•"/>
            </a:pPr>
            <a:r>
              <a:rPr lang="en-US" sz="1250" dirty="0">
                <a:solidFill>
                  <a:srgbClr val="FFFFFF"/>
                </a:solidFill>
                <a:latin typeface="Calibri" pitchFamily="34" charset="0"/>
                <a:ea typeface="Calibri" pitchFamily="34" charset="-122"/>
                <a:cs typeface="Calibri" pitchFamily="34" charset="-120"/>
              </a:rPr>
              <a:t>Sensitivity check: waste-heavy vs nutrition-heavy weights</a:t>
            </a:r>
            <a:endParaRPr lang="en-US" sz="1250" dirty="0"/>
          </a:p>
        </p:txBody>
      </p:sp>
      <p:sp>
        <p:nvSpPr>
          <p:cNvPr id="36" name="Shape 30"/>
          <p:cNvSpPr/>
          <p:nvPr/>
        </p:nvSpPr>
        <p:spPr>
          <a:xfrm>
            <a:off x="548640" y="5742432"/>
            <a:ext cx="11094415" cy="530352"/>
          </a:xfrm>
          <a:prstGeom prst="roundRect">
            <a:avLst>
              <a:gd name="adj" fmla="val 17241"/>
            </a:avLst>
          </a:prstGeom>
          <a:solidFill>
            <a:srgbClr val="FDF0E6"/>
          </a:solidFill>
          <a:ln/>
        </p:spPr>
      </p:sp>
      <p:pic>
        <p:nvPicPr>
          <p:cNvPr id="37" name="Image 4" descr="preencoded.png"/>
          <p:cNvPicPr>
            <a:picLocks noChangeAspect="1"/>
          </p:cNvPicPr>
          <p:nvPr/>
        </p:nvPicPr>
        <p:blipFill>
          <a:blip r:embed="rId7"/>
          <a:stretch>
            <a:fillRect/>
          </a:stretch>
        </p:blipFill>
        <p:spPr>
          <a:xfrm>
            <a:off x="749808" y="5852160"/>
            <a:ext cx="310896" cy="310896"/>
          </a:xfrm>
          <a:prstGeom prst="rect">
            <a:avLst/>
          </a:prstGeom>
        </p:spPr>
      </p:pic>
      <p:sp>
        <p:nvSpPr>
          <p:cNvPr id="38" name="Text 31"/>
          <p:cNvSpPr txBox="1"/>
          <p:nvPr/>
        </p:nvSpPr>
        <p:spPr>
          <a:xfrm>
            <a:off x="1207008" y="5742432"/>
            <a:ext cx="10225735" cy="530352"/>
          </a:xfrm>
          <a:prstGeom prst="rect">
            <a:avLst/>
          </a:prstGeom>
          <a:noFill/>
          <a:ln/>
        </p:spPr>
        <p:txBody>
          <a:bodyPr wrap="square" lIns="0" tIns="0" rIns="0" bIns="0" rtlCol="0" anchor="ctr"/>
          <a:lstStyle/>
          <a:p>
            <a:pPr marL="0" indent="0">
              <a:buNone/>
            </a:pPr>
            <a:r>
              <a:rPr lang="en-US" sz="1250" b="1" dirty="0">
                <a:solidFill>
                  <a:srgbClr val="13342A"/>
                </a:solidFill>
                <a:latin typeface="Calibri" pitchFamily="34" charset="0"/>
                <a:ea typeface="Calibri" pitchFamily="34" charset="-122"/>
                <a:cs typeface="Calibri" pitchFamily="34" charset="-120"/>
              </a:rPr>
              <a:t>Evaluated on these same costs, on purpose: </a:t>
            </a:r>
            <a:r>
              <a:rPr lang="en-US" sz="1250" dirty="0">
                <a:solidFill>
                  <a:srgbClr val="1E2B26"/>
                </a:solidFill>
                <a:latin typeface="Calibri" pitchFamily="34" charset="0"/>
                <a:ea typeface="Calibri" pitchFamily="34" charset="-122"/>
                <a:cs typeface="Calibri" pitchFamily="34" charset="-120"/>
              </a:rPr>
              <a:t>the claim is that planning the week jointly beats greedy and one-meal-at-a-time planning. Robustness tests, the frozen NLP set and ablations are independent checks.</a:t>
            </a:r>
            <a:endParaRPr lang="en-US" sz="1250" dirty="0"/>
          </a:p>
        </p:txBody>
      </p:sp>
      <p:sp>
        <p:nvSpPr>
          <p:cNvPr id="39" name="Text 3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1000" dirty="0">
                <a:solidFill>
                  <a:srgbClr val="5A6B63"/>
                </a:solidFill>
                <a:latin typeface="Calibri" pitchFamily="34" charset="0"/>
                <a:ea typeface="Calibri" pitchFamily="34" charset="-122"/>
                <a:cs typeface="Calibri" pitchFamily="34" charset="-120"/>
              </a:rPr>
              <a:t>Pantry-to-Plate  ·  IRS Practice Module</a:t>
            </a:r>
            <a:endParaRPr lang="en-US" sz="1000" dirty="0"/>
          </a:p>
        </p:txBody>
      </p:sp>
      <p:sp>
        <p:nvSpPr>
          <p:cNvPr id="40" name="Text 33"/>
          <p:cNvSpPr txBox="1"/>
          <p:nvPr/>
        </p:nvSpPr>
        <p:spPr>
          <a:xfrm>
            <a:off x="10271455" y="6419088"/>
            <a:ext cx="1371600" cy="256032"/>
          </a:xfrm>
          <a:prstGeom prst="rect">
            <a:avLst/>
          </a:prstGeom>
          <a:noFill/>
          <a:ln/>
        </p:spPr>
        <p:txBody>
          <a:bodyPr wrap="square" lIns="0" tIns="0" rIns="0" bIns="0" rtlCol="0" anchor="t"/>
          <a:lstStyle/>
          <a:p>
            <a:pPr marL="0" indent="0" algn="r">
              <a:buNone/>
            </a:pPr>
            <a:r>
              <a:rPr lang="en-US" sz="1000" dirty="0">
                <a:solidFill>
                  <a:srgbClr val="5A6B63"/>
                </a:solidFill>
                <a:latin typeface="Calibri" pitchFamily="34" charset="0"/>
                <a:ea typeface="Calibri" pitchFamily="34" charset="-122"/>
                <a:cs typeface="Calibri" pitchFamily="34" charset="-120"/>
              </a:rPr>
              <a:t>7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150" dirty="0">
                <a:solidFill>
                  <a:srgbClr val="D2652A"/>
                </a:solidFill>
                <a:latin typeface="Calibri" pitchFamily="34" charset="0"/>
                <a:ea typeface="Calibri" pitchFamily="34" charset="-122"/>
                <a:cs typeface="Calibri" pitchFamily="34" charset="-120"/>
              </a:rPr>
              <a:t>EVALUATION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200" b="1" dirty="0">
                <a:solidFill>
                  <a:srgbClr val="13342A"/>
                </a:solidFill>
                <a:latin typeface="Cambria" pitchFamily="34" charset="0"/>
                <a:ea typeface="Cambria" pitchFamily="34" charset="-122"/>
                <a:cs typeface="Cambria" pitchFamily="34" charset="-120"/>
              </a:rPr>
              <a:t>Eight measures, each against a simple baseline</a:t>
            </a:r>
            <a:endParaRPr lang="en-US" sz="3200" dirty="0"/>
          </a:p>
        </p:txBody>
      </p:sp>
      <p:sp>
        <p:nvSpPr>
          <p:cNvPr id="4" name="Text 2"/>
          <p:cNvSpPr txBox="1"/>
          <p:nvPr/>
        </p:nvSpPr>
        <p:spPr>
          <a:xfrm>
            <a:off x="548640" y="1316736"/>
            <a:ext cx="11094415" cy="310896"/>
          </a:xfrm>
          <a:prstGeom prst="rect">
            <a:avLst/>
          </a:prstGeom>
          <a:noFill/>
          <a:ln/>
        </p:spPr>
        <p:txBody>
          <a:bodyPr wrap="square" lIns="0" tIns="0" rIns="0" bIns="0" rtlCol="0" anchor="t"/>
          <a:lstStyle/>
          <a:p>
            <a:pPr marL="0" indent="0">
              <a:buNone/>
            </a:pPr>
            <a:r>
              <a:rPr lang="en-US" sz="1350" dirty="0">
                <a:solidFill>
                  <a:srgbClr val="5A6B63"/>
                </a:solidFill>
                <a:latin typeface="Calibri" pitchFamily="34" charset="0"/>
                <a:ea typeface="Calibri" pitchFamily="34" charset="-122"/>
                <a:cs typeface="Calibri" pitchFamily="34" charset="-120"/>
              </a:rPr>
              <a:t>Tested on a few hundred held-out scenarios fixed before tuning, so gains come from the reasoning, not the test design.</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3572256"/>
        </p:xfrm>
        <a:graphic>
          <a:graphicData uri="http://schemas.openxmlformats.org/drawingml/2006/table">
            <a:tbl>
              <a:tblPr/>
              <a:tblGrid>
                <a:gridCol w="2377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4142232">
                  <a:extLst>
                    <a:ext uri="{9D8B030D-6E8A-4147-A177-3AD203B41FA5}">
                      <a16:colId xmlns:a16="http://schemas.microsoft.com/office/drawing/2014/main" val="20002"/>
                    </a:ext>
                  </a:extLst>
                </a:gridCol>
                <a:gridCol w="1557223">
                  <a:extLst>
                    <a:ext uri="{9D8B030D-6E8A-4147-A177-3AD203B41FA5}">
                      <a16:colId xmlns:a16="http://schemas.microsoft.com/office/drawing/2014/main" val="20003"/>
                    </a:ext>
                  </a:extLst>
                </a:gridCol>
              </a:tblGrid>
              <a:tr h="347472">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Measure</a:t>
                      </a:r>
                      <a:endParaRPr lang="en-US" sz="1150" dirty="0">
                        <a:latin typeface="Calibri" charset="0"/>
                        <a:ea typeface="Calibri" charset="0"/>
                        <a:cs typeface="Calibri" charset="0"/>
                      </a:endParaRPr>
                    </a:p>
                  </a:txBody>
                  <a:tcPr marL="502920"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1F5C45"/>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1F5C45"/>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Compared against / ground truth</a:t>
                      </a:r>
                      <a:endParaRPr lang="en-US" sz="115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1F5C45"/>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Goal</a:t>
                      </a:r>
                      <a:endParaRPr lang="en-US" sz="115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1F5C45"/>
                    </a:solidFill>
                  </a:tcPr>
                </a:tc>
                <a:extLst>
                  <a:ext uri="{0D108BD9-81ED-4DB2-BD59-A6C34878D82A}">
                    <a16:rowId xmlns:a16="http://schemas.microsoft.com/office/drawing/2014/main" val="10000"/>
                  </a:ext>
                </a:extLst>
              </a:tr>
              <a:tr h="402336">
                <a:tc>
                  <a:txBody>
                    <a:bodyPr/>
                    <a:lstStyle/>
                    <a:p>
                      <a:pPr marL="0" indent="0" algn="l">
                        <a:buNone/>
                      </a:pPr>
                      <a:r>
                        <a:rPr lang="en-US" sz="1150" b="1" dirty="0">
                          <a:solidFill>
                            <a:srgbClr val="13342A"/>
                          </a:solidFill>
                          <a:latin typeface="Calibri" pitchFamily="34" charset="0"/>
                          <a:ea typeface="Calibri" pitchFamily="34" charset="-122"/>
                          <a:cs typeface="Calibri" pitchFamily="34" charset="-120"/>
                        </a:rPr>
                        <a:t>Pantry utilisation</a:t>
                      </a:r>
                      <a:endParaRPr lang="en-US" sz="1150" dirty="0">
                        <a:latin typeface="Calibri" charset="0"/>
                        <a:ea typeface="Calibri" charset="0"/>
                        <a:cs typeface="Calibri" charset="0"/>
                      </a:endParaRPr>
                    </a:p>
                  </a:txBody>
                  <a:tcPr marL="502920"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 of starting inventory consumed</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Greedy ingredient-match; random feasible planner</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F5C45"/>
                          </a:solidFill>
                          <a:latin typeface="Calibri" pitchFamily="34" charset="0"/>
                          <a:ea typeface="Calibri" pitchFamily="34" charset="-122"/>
                          <a:cs typeface="Calibri" pitchFamily="34" charset="-120"/>
                        </a:rPr>
                        <a:t>↑ Higher</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150" b="1" dirty="0">
                          <a:solidFill>
                            <a:srgbClr val="13342A"/>
                          </a:solidFill>
                          <a:latin typeface="Calibri" pitchFamily="34" charset="0"/>
                          <a:ea typeface="Calibri" pitchFamily="34" charset="-122"/>
                          <a:cs typeface="Calibri" pitchFamily="34" charset="-120"/>
                        </a:rPr>
                        <a:t>Food waste</a:t>
                      </a:r>
                      <a:endParaRPr lang="en-US" sz="1150" dirty="0">
                        <a:latin typeface="Calibri" charset="0"/>
                        <a:ea typeface="Calibri" charset="0"/>
                        <a:cs typeface="Calibri" charset="0"/>
                      </a:endParaRPr>
                    </a:p>
                  </a:txBody>
                  <a:tcPr marL="502920"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5F9F7"/>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 or quantity expiring unused</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5F9F7"/>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Greedy planner; known / simulated expiry metadata</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5F9F7"/>
                    </a:solidFill>
                  </a:tcPr>
                </a:tc>
                <a:tc>
                  <a:txBody>
                    <a:bodyPr/>
                    <a:lstStyle/>
                    <a:p>
                      <a:pPr marL="0" indent="0" algn="ctr">
                        <a:buNone/>
                      </a:pPr>
                      <a:r>
                        <a:rPr lang="en-US" sz="1100" b="1" dirty="0">
                          <a:solidFill>
                            <a:srgbClr val="1F5C45"/>
                          </a:solidFill>
                          <a:latin typeface="Calibri" pitchFamily="34" charset="0"/>
                          <a:ea typeface="Calibri" pitchFamily="34" charset="-122"/>
                          <a:cs typeface="Calibri" pitchFamily="34" charset="-120"/>
                        </a:rPr>
                        <a:t>↓ Lower</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5F9F7"/>
                    </a:solidFill>
                  </a:tcPr>
                </a:tc>
                <a:extLst>
                  <a:ext uri="{0D108BD9-81ED-4DB2-BD59-A6C34878D82A}">
                    <a16:rowId xmlns:a16="http://schemas.microsoft.com/office/drawing/2014/main" val="10002"/>
                  </a:ext>
                </a:extLst>
              </a:tr>
              <a:tr h="402336">
                <a:tc>
                  <a:txBody>
                    <a:bodyPr/>
                    <a:lstStyle/>
                    <a:p>
                      <a:pPr marL="0" indent="0" algn="l">
                        <a:buNone/>
                      </a:pPr>
                      <a:r>
                        <a:rPr lang="en-US" sz="1150" b="1" dirty="0">
                          <a:solidFill>
                            <a:srgbClr val="13342A"/>
                          </a:solidFill>
                          <a:latin typeface="Calibri" pitchFamily="34" charset="0"/>
                          <a:ea typeface="Calibri" pitchFamily="34" charset="-122"/>
                          <a:cs typeface="Calibri" pitchFamily="34" charset="-120"/>
                        </a:rPr>
                        <a:t>Additional groceries</a:t>
                      </a:r>
                      <a:endParaRPr lang="en-US" sz="1150" dirty="0">
                        <a:latin typeface="Calibri" charset="0"/>
                        <a:ea typeface="Calibri" charset="0"/>
                        <a:cs typeface="Calibri" charset="0"/>
                      </a:endParaRPr>
                    </a:p>
                  </a:txBody>
                  <a:tcPr marL="502920"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Unique items / quantity required</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Single-meal greedy planner</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F5C45"/>
                          </a:solidFill>
                          <a:latin typeface="Calibri" pitchFamily="34" charset="0"/>
                          <a:ea typeface="Calibri" pitchFamily="34" charset="-122"/>
                          <a:cs typeface="Calibri" pitchFamily="34" charset="-120"/>
                        </a:rPr>
                        <a:t>↓ Lower</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150" b="1" dirty="0">
                          <a:solidFill>
                            <a:srgbClr val="13342A"/>
                          </a:solidFill>
                          <a:latin typeface="Calibri" pitchFamily="34" charset="0"/>
                          <a:ea typeface="Calibri" pitchFamily="34" charset="-122"/>
                          <a:cs typeface="Calibri" pitchFamily="34" charset="-120"/>
                        </a:rPr>
                        <a:t>Constraint safety</a:t>
                      </a:r>
                      <a:endParaRPr lang="en-US" sz="1150" dirty="0">
                        <a:latin typeface="Calibri" charset="0"/>
                        <a:ea typeface="Calibri" charset="0"/>
                        <a:cs typeface="Calibri" charset="0"/>
                      </a:endParaRPr>
                    </a:p>
                  </a:txBody>
                  <a:tcPr marL="502920"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DF0E6"/>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Diet / allergy violations</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DF0E6"/>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Rule-labelled constraints</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DF0E6"/>
                    </a:solidFill>
                  </a:tcPr>
                </a:tc>
                <a:tc>
                  <a:txBody>
                    <a:bodyPr/>
                    <a:lstStyle/>
                    <a:p>
                      <a:pPr marL="0" indent="0" algn="ctr">
                        <a:buNone/>
                      </a:pPr>
                      <a:r>
                        <a:rPr lang="en-US" sz="1100" b="1" dirty="0">
                          <a:solidFill>
                            <a:srgbClr val="A84B1A"/>
                          </a:solidFill>
                          <a:latin typeface="Calibri" pitchFamily="34" charset="0"/>
                          <a:ea typeface="Calibri" pitchFamily="34" charset="-122"/>
                          <a:cs typeface="Calibri" pitchFamily="34" charset="-120"/>
                        </a:rPr>
                        <a:t>0 violations</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DF0E6"/>
                    </a:solidFill>
                  </a:tcPr>
                </a:tc>
                <a:extLst>
                  <a:ext uri="{0D108BD9-81ED-4DB2-BD59-A6C34878D82A}">
                    <a16:rowId xmlns:a16="http://schemas.microsoft.com/office/drawing/2014/main" val="10004"/>
                  </a:ext>
                </a:extLst>
              </a:tr>
              <a:tr h="402336">
                <a:tc>
                  <a:txBody>
                    <a:bodyPr/>
                    <a:lstStyle/>
                    <a:p>
                      <a:pPr marL="0" indent="0" algn="l">
                        <a:buNone/>
                      </a:pPr>
                      <a:r>
                        <a:rPr lang="en-US" sz="1150" b="1" dirty="0">
                          <a:solidFill>
                            <a:srgbClr val="13342A"/>
                          </a:solidFill>
                          <a:latin typeface="Calibri" pitchFamily="34" charset="0"/>
                          <a:ea typeface="Calibri" pitchFamily="34" charset="-122"/>
                          <a:cs typeface="Calibri" pitchFamily="34" charset="-120"/>
                        </a:rPr>
                        <a:t>Nutrition adherence</a:t>
                      </a:r>
                      <a:endParaRPr lang="en-US" sz="1150" dirty="0">
                        <a:latin typeface="Calibri" charset="0"/>
                        <a:ea typeface="Calibri" charset="0"/>
                        <a:cs typeface="Calibri" charset="0"/>
                      </a:endParaRPr>
                    </a:p>
                  </a:txBody>
                  <a:tcPr marL="502920"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Mean deviation; % of days within target range</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Nutrition-only and greedy baselines; published reference targets</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F5C45"/>
                          </a:solidFill>
                          <a:latin typeface="Calibri" pitchFamily="34" charset="0"/>
                          <a:ea typeface="Calibri" pitchFamily="34" charset="-122"/>
                          <a:cs typeface="Calibri" pitchFamily="34" charset="-120"/>
                        </a:rPr>
                        <a:t>↓ Deviation</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150" b="1" dirty="0">
                          <a:solidFill>
                            <a:srgbClr val="13342A"/>
                          </a:solidFill>
                          <a:latin typeface="Calibri" pitchFamily="34" charset="0"/>
                          <a:ea typeface="Calibri" pitchFamily="34" charset="-122"/>
                          <a:cs typeface="Calibri" pitchFamily="34" charset="-120"/>
                        </a:rPr>
                        <a:t>Preference quality</a:t>
                      </a:r>
                      <a:endParaRPr lang="en-US" sz="1150" dirty="0">
                        <a:latin typeface="Calibri" charset="0"/>
                        <a:ea typeface="Calibri" charset="0"/>
                        <a:cs typeface="Calibri" charset="0"/>
                      </a:endParaRPr>
                    </a:p>
                  </a:txBody>
                  <a:tcPr marL="502920"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5F9F7"/>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Mean preference score; disliked-meal rate</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5F9F7"/>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Planner without the preference objective</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5F9F7"/>
                    </a:solidFill>
                  </a:tcPr>
                </a:tc>
                <a:tc>
                  <a:txBody>
                    <a:bodyPr/>
                    <a:lstStyle/>
                    <a:p>
                      <a:pPr marL="0" indent="0" algn="ctr">
                        <a:buNone/>
                      </a:pPr>
                      <a:r>
                        <a:rPr lang="en-US" sz="1100" b="1" dirty="0">
                          <a:solidFill>
                            <a:srgbClr val="1F5C45"/>
                          </a:solidFill>
                          <a:latin typeface="Calibri" pitchFamily="34" charset="0"/>
                          <a:ea typeface="Calibri" pitchFamily="34" charset="-122"/>
                          <a:cs typeface="Calibri" pitchFamily="34" charset="-120"/>
                        </a:rPr>
                        <a:t>↑ Score, ↓ dislikes</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5F9F7"/>
                    </a:solidFill>
                  </a:tcPr>
                </a:tc>
                <a:extLst>
                  <a:ext uri="{0D108BD9-81ED-4DB2-BD59-A6C34878D82A}">
                    <a16:rowId xmlns:a16="http://schemas.microsoft.com/office/drawing/2014/main" val="10006"/>
                  </a:ext>
                </a:extLst>
              </a:tr>
              <a:tr h="402336">
                <a:tc>
                  <a:txBody>
                    <a:bodyPr/>
                    <a:lstStyle/>
                    <a:p>
                      <a:pPr marL="0" indent="0" algn="l">
                        <a:buNone/>
                      </a:pPr>
                      <a:r>
                        <a:rPr lang="en-US" sz="1150" b="1" dirty="0">
                          <a:solidFill>
                            <a:srgbClr val="13342A"/>
                          </a:solidFill>
                          <a:latin typeface="Calibri" pitchFamily="34" charset="0"/>
                          <a:ea typeface="Calibri" pitchFamily="34" charset="-122"/>
                          <a:cs typeface="Calibri" pitchFamily="34" charset="-120"/>
                        </a:rPr>
                        <a:t>Ingredient NLP</a:t>
                      </a:r>
                      <a:endParaRPr lang="en-US" sz="1150" dirty="0">
                        <a:latin typeface="Calibri" charset="0"/>
                        <a:ea typeface="Calibri" charset="0"/>
                        <a:cs typeface="Calibri" charset="0"/>
                      </a:endParaRPr>
                    </a:p>
                  </a:txBody>
                  <a:tcPr marL="502920"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Precision, recall, F1; exact-field accuracy</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Held-out, manually labelled pantry messages</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F5C45"/>
                          </a:solidFill>
                          <a:latin typeface="Calibri" pitchFamily="34" charset="0"/>
                          <a:ea typeface="Calibri" pitchFamily="34" charset="-122"/>
                          <a:cs typeface="Calibri" pitchFamily="34" charset="-120"/>
                        </a:rPr>
                        <a:t>↑ Higher</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l">
                        <a:buNone/>
                      </a:pPr>
                      <a:r>
                        <a:rPr lang="en-US" sz="1150" b="1" dirty="0">
                          <a:solidFill>
                            <a:srgbClr val="13342A"/>
                          </a:solidFill>
                          <a:latin typeface="Calibri" pitchFamily="34" charset="0"/>
                          <a:ea typeface="Calibri" pitchFamily="34" charset="-122"/>
                          <a:cs typeface="Calibri" pitchFamily="34" charset="-120"/>
                        </a:rPr>
                        <a:t>Optimisation robustness</a:t>
                      </a:r>
                      <a:endParaRPr lang="en-US" sz="1150" dirty="0">
                        <a:latin typeface="Calibri" charset="0"/>
                        <a:ea typeface="Calibri" charset="0"/>
                        <a:cs typeface="Calibri" charset="0"/>
                      </a:endParaRPr>
                    </a:p>
                  </a:txBody>
                  <a:tcPr marL="502920"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5F9F7"/>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Performance under expiry / quantity perturbations</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5F9F7"/>
                    </a:solidFill>
                  </a:tcPr>
                </a:tc>
                <a:tc>
                  <a:txBody>
                    <a:bodyPr/>
                    <a:lstStyle/>
                    <a:p>
                      <a:pPr marL="0" indent="0" algn="l">
                        <a:buNone/>
                      </a:pPr>
                      <a:r>
                        <a:rPr lang="en-US" sz="1100" dirty="0">
                          <a:solidFill>
                            <a:srgbClr val="1E2B26"/>
                          </a:solidFill>
                          <a:latin typeface="Calibri" pitchFamily="34" charset="0"/>
                          <a:ea typeface="Calibri" pitchFamily="34" charset="-122"/>
                          <a:cs typeface="Calibri" pitchFamily="34" charset="-120"/>
                        </a:rPr>
                        <a:t>Planner without expiry awareness</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5F9F7"/>
                    </a:solidFill>
                  </a:tcPr>
                </a:tc>
                <a:tc>
                  <a:txBody>
                    <a:bodyPr/>
                    <a:lstStyle/>
                    <a:p>
                      <a:pPr marL="0" indent="0" algn="ctr">
                        <a:buNone/>
                      </a:pPr>
                      <a:r>
                        <a:rPr lang="en-US" sz="1100" b="1" dirty="0">
                          <a:solidFill>
                            <a:srgbClr val="1F5C45"/>
                          </a:solidFill>
                          <a:latin typeface="Calibri" pitchFamily="34" charset="0"/>
                          <a:ea typeface="Calibri" pitchFamily="34" charset="-122"/>
                          <a:cs typeface="Calibri" pitchFamily="34" charset="-120"/>
                        </a:rPr>
                        <a:t>Less degradation</a:t>
                      </a:r>
                      <a:endParaRPr lang="en-US" sz="1100" dirty="0">
                        <a:latin typeface="Calibri" charset="0"/>
                        <a:ea typeface="Calibri" charset="0"/>
                        <a:cs typeface="Calibri" charset="0"/>
                      </a:endParaRPr>
                    </a:p>
                  </a:txBody>
                  <a:tcPr marL="109728" marR="109728" marT="36576" marB="36576" anchor="ctr">
                    <a:lnL w="9525" cap="flat" cmpd="sng" algn="ctr">
                      <a:solidFill>
                        <a:srgbClr val="DDE7E1"/>
                      </a:solidFill>
                      <a:prstDash val="solid"/>
                      <a:round/>
                      <a:headEnd type="none" w="med" len="med"/>
                      <a:tailEnd type="none" w="med" len="med"/>
                    </a:lnL>
                    <a:lnR w="9525" cap="flat" cmpd="sng" algn="ctr">
                      <a:solidFill>
                        <a:srgbClr val="DDE7E1"/>
                      </a:solidFill>
                      <a:prstDash val="solid"/>
                      <a:round/>
                      <a:headEnd type="none" w="med" len="med"/>
                      <a:tailEnd type="none" w="med" len="med"/>
                    </a:lnR>
                    <a:lnT w="9525" cap="flat" cmpd="sng" algn="ctr">
                      <a:solidFill>
                        <a:srgbClr val="DDE7E1"/>
                      </a:solidFill>
                      <a:prstDash val="solid"/>
                      <a:round/>
                      <a:headEnd type="none" w="med" len="med"/>
                      <a:tailEnd type="none" w="med" len="med"/>
                    </a:lnT>
                    <a:lnB w="9525" cap="flat" cmpd="sng" algn="ctr">
                      <a:solidFill>
                        <a:srgbClr val="DDE7E1"/>
                      </a:solidFill>
                      <a:prstDash val="solid"/>
                      <a:round/>
                      <a:headEnd type="none" w="med" len="med"/>
                      <a:tailEnd type="none" w="med" len="med"/>
                    </a:lnB>
                    <a:solidFill>
                      <a:srgbClr val="F5F9F7"/>
                    </a:solidFill>
                  </a:tcPr>
                </a:tc>
                <a:extLst>
                  <a:ext uri="{0D108BD9-81ED-4DB2-BD59-A6C34878D82A}">
                    <a16:rowId xmlns:a16="http://schemas.microsoft.com/office/drawing/2014/main" val="10008"/>
                  </a:ext>
                </a:extLst>
              </a:tr>
            </a:tbl>
          </a:graphicData>
        </a:graphic>
      </p:graphicFrame>
      <p:pic>
        <p:nvPicPr>
          <p:cNvPr id="6" name="Image 0" descr="preencoded.png"/>
          <p:cNvPicPr>
            <a:picLocks noChangeAspect="1"/>
          </p:cNvPicPr>
          <p:nvPr/>
        </p:nvPicPr>
        <p:blipFill>
          <a:blip r:embed="rId3"/>
          <a:stretch>
            <a:fillRect/>
          </a:stretch>
        </p:blipFill>
        <p:spPr>
          <a:xfrm>
            <a:off x="685800" y="2167128"/>
            <a:ext cx="237744" cy="237744"/>
          </a:xfrm>
          <a:prstGeom prst="rect">
            <a:avLst/>
          </a:prstGeom>
        </p:spPr>
      </p:pic>
      <p:pic>
        <p:nvPicPr>
          <p:cNvPr id="7" name="Image 1" descr="preencoded.png"/>
          <p:cNvPicPr>
            <a:picLocks noChangeAspect="1"/>
          </p:cNvPicPr>
          <p:nvPr/>
        </p:nvPicPr>
        <p:blipFill>
          <a:blip r:embed="rId4"/>
          <a:stretch>
            <a:fillRect/>
          </a:stretch>
        </p:blipFill>
        <p:spPr>
          <a:xfrm>
            <a:off x="685800" y="2569464"/>
            <a:ext cx="237744" cy="237744"/>
          </a:xfrm>
          <a:prstGeom prst="rect">
            <a:avLst/>
          </a:prstGeom>
        </p:spPr>
      </p:pic>
      <p:pic>
        <p:nvPicPr>
          <p:cNvPr id="8" name="Image 2" descr="preencoded.png"/>
          <p:cNvPicPr>
            <a:picLocks noChangeAspect="1"/>
          </p:cNvPicPr>
          <p:nvPr/>
        </p:nvPicPr>
        <p:blipFill>
          <a:blip r:embed="rId5"/>
          <a:stretch>
            <a:fillRect/>
          </a:stretch>
        </p:blipFill>
        <p:spPr>
          <a:xfrm>
            <a:off x="685800" y="2971800"/>
            <a:ext cx="237744" cy="237744"/>
          </a:xfrm>
          <a:prstGeom prst="rect">
            <a:avLst/>
          </a:prstGeom>
        </p:spPr>
      </p:pic>
      <p:pic>
        <p:nvPicPr>
          <p:cNvPr id="5" name="Image 3" descr="preencoded.png"/>
          <p:cNvPicPr>
            <a:picLocks noChangeAspect="1"/>
          </p:cNvPicPr>
          <p:nvPr/>
        </p:nvPicPr>
        <p:blipFill>
          <a:blip r:embed="rId6"/>
          <a:stretch>
            <a:fillRect/>
          </a:stretch>
        </p:blipFill>
        <p:spPr>
          <a:xfrm>
            <a:off x="685800" y="3374136"/>
            <a:ext cx="237744" cy="237744"/>
          </a:xfrm>
          <a:prstGeom prst="rect">
            <a:avLst/>
          </a:prstGeom>
        </p:spPr>
      </p:pic>
      <p:pic>
        <p:nvPicPr>
          <p:cNvPr id="10" name="Image 4" descr="preencoded.png"/>
          <p:cNvPicPr>
            <a:picLocks noChangeAspect="1"/>
          </p:cNvPicPr>
          <p:nvPr/>
        </p:nvPicPr>
        <p:blipFill>
          <a:blip r:embed="rId7"/>
          <a:stretch>
            <a:fillRect/>
          </a:stretch>
        </p:blipFill>
        <p:spPr>
          <a:xfrm>
            <a:off x="685800" y="3776472"/>
            <a:ext cx="237744" cy="237744"/>
          </a:xfrm>
          <a:prstGeom prst="rect">
            <a:avLst/>
          </a:prstGeom>
        </p:spPr>
      </p:pic>
      <p:pic>
        <p:nvPicPr>
          <p:cNvPr id="11" name="Image 5" descr="preencoded.png"/>
          <p:cNvPicPr>
            <a:picLocks noChangeAspect="1"/>
          </p:cNvPicPr>
          <p:nvPr/>
        </p:nvPicPr>
        <p:blipFill>
          <a:blip r:embed="rId8"/>
          <a:stretch>
            <a:fillRect/>
          </a:stretch>
        </p:blipFill>
        <p:spPr>
          <a:xfrm>
            <a:off x="685800" y="4178808"/>
            <a:ext cx="237744" cy="237744"/>
          </a:xfrm>
          <a:prstGeom prst="rect">
            <a:avLst/>
          </a:prstGeom>
        </p:spPr>
      </p:pic>
      <p:pic>
        <p:nvPicPr>
          <p:cNvPr id="12" name="Image 6" descr="preencoded.png"/>
          <p:cNvPicPr>
            <a:picLocks noChangeAspect="1"/>
          </p:cNvPicPr>
          <p:nvPr/>
        </p:nvPicPr>
        <p:blipFill>
          <a:blip r:embed="rId9"/>
          <a:stretch>
            <a:fillRect/>
          </a:stretch>
        </p:blipFill>
        <p:spPr>
          <a:xfrm>
            <a:off x="685800" y="4581144"/>
            <a:ext cx="237744" cy="237744"/>
          </a:xfrm>
          <a:prstGeom prst="rect">
            <a:avLst/>
          </a:prstGeom>
        </p:spPr>
      </p:pic>
      <p:pic>
        <p:nvPicPr>
          <p:cNvPr id="13" name="Image 7" descr="preencoded.png"/>
          <p:cNvPicPr>
            <a:picLocks noChangeAspect="1"/>
          </p:cNvPicPr>
          <p:nvPr/>
        </p:nvPicPr>
        <p:blipFill>
          <a:blip r:embed="rId10"/>
          <a:stretch>
            <a:fillRect/>
          </a:stretch>
        </p:blipFill>
        <p:spPr>
          <a:xfrm>
            <a:off x="685800" y="4983480"/>
            <a:ext cx="237744" cy="237744"/>
          </a:xfrm>
          <a:prstGeom prst="rect">
            <a:avLst/>
          </a:prstGeom>
        </p:spPr>
      </p:pic>
      <p:sp>
        <p:nvSpPr>
          <p:cNvPr id="14" name="Shape 3"/>
          <p:cNvSpPr/>
          <p:nvPr/>
        </p:nvSpPr>
        <p:spPr>
          <a:xfrm>
            <a:off x="548640" y="5468112"/>
            <a:ext cx="3606698" cy="804672"/>
          </a:xfrm>
          <a:prstGeom prst="roundRect">
            <a:avLst>
              <a:gd name="adj" fmla="val 11364"/>
            </a:avLst>
          </a:prstGeom>
          <a:solidFill>
            <a:srgbClr val="EEF5F1"/>
          </a:solidFill>
          <a:ln/>
        </p:spPr>
      </p:sp>
      <p:sp>
        <p:nvSpPr>
          <p:cNvPr id="15" name="Text 4"/>
          <p:cNvSpPr/>
          <p:nvPr/>
        </p:nvSpPr>
        <p:spPr>
          <a:xfrm>
            <a:off x="694944" y="5669280"/>
            <a:ext cx="402336" cy="402336"/>
          </a:xfrm>
          <a:prstGeom prst="ellipse">
            <a:avLst/>
          </a:prstGeom>
          <a:solidFill>
            <a:srgbClr val="D2652A"/>
          </a:solid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6" name="Text 5"/>
          <p:cNvSpPr txBox="1"/>
          <p:nvPr/>
        </p:nvSpPr>
        <p:spPr>
          <a:xfrm>
            <a:off x="1225296" y="5495544"/>
            <a:ext cx="2802026" cy="749808"/>
          </a:xfrm>
          <a:prstGeom prst="rect">
            <a:avLst/>
          </a:prstGeom>
          <a:noFill/>
          <a:ln/>
        </p:spPr>
        <p:txBody>
          <a:bodyPr wrap="square" lIns="0" tIns="0" rIns="0" bIns="0" rtlCol="0" anchor="ctr"/>
          <a:lstStyle/>
          <a:p>
            <a:pPr marL="0" indent="0">
              <a:buNone/>
            </a:pPr>
            <a:r>
              <a:rPr lang="en-US" sz="1250" b="1" dirty="0">
                <a:solidFill>
                  <a:srgbClr val="13342A"/>
                </a:solidFill>
                <a:latin typeface="Calibri" pitchFamily="34" charset="0"/>
                <a:ea typeface="Calibri" pitchFamily="34" charset="-122"/>
                <a:cs typeface="Calibri" pitchFamily="34" charset="-120"/>
              </a:rPr>
              <a:t>Gate the data</a:t>
            </a:r>
            <a:endParaRPr lang="en-US" sz="1400" dirty="0"/>
          </a:p>
          <a:p>
            <a:pPr marL="0" indent="0">
              <a:buNone/>
            </a:pPr>
            <a:r>
              <a:rPr lang="en-US" sz="1100" dirty="0">
                <a:solidFill>
                  <a:srgbClr val="1E2B26"/>
                </a:solidFill>
                <a:latin typeface="Calibri" pitchFamily="34" charset="0"/>
                <a:ea typeface="Calibri" pitchFamily="34" charset="-122"/>
                <a:cs typeface="Calibri" pitchFamily="34" charset="-120"/>
              </a:rPr>
              <a:t>Mapping, parsing, nutrition and shelf-life coverage, calorie consistency and NLP quality</a:t>
            </a:r>
            <a:endParaRPr lang="en-US" sz="1400" dirty="0"/>
          </a:p>
        </p:txBody>
      </p:sp>
      <p:sp>
        <p:nvSpPr>
          <p:cNvPr id="17" name="Shape 6"/>
          <p:cNvSpPr/>
          <p:nvPr/>
        </p:nvSpPr>
        <p:spPr>
          <a:xfrm>
            <a:off x="4292498" y="5468112"/>
            <a:ext cx="3606698" cy="804672"/>
          </a:xfrm>
          <a:prstGeom prst="roundRect">
            <a:avLst>
              <a:gd name="adj" fmla="val 11364"/>
            </a:avLst>
          </a:prstGeom>
          <a:solidFill>
            <a:srgbClr val="EEF5F1"/>
          </a:solidFill>
          <a:ln/>
        </p:spPr>
      </p:sp>
      <p:sp>
        <p:nvSpPr>
          <p:cNvPr id="18" name="Text 7"/>
          <p:cNvSpPr/>
          <p:nvPr/>
        </p:nvSpPr>
        <p:spPr>
          <a:xfrm>
            <a:off x="4438802" y="5669280"/>
            <a:ext cx="402336" cy="402336"/>
          </a:xfrm>
          <a:prstGeom prst="ellipse">
            <a:avLst/>
          </a:prstGeom>
          <a:solidFill>
            <a:srgbClr val="D2652A"/>
          </a:solid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9" name="Text 8"/>
          <p:cNvSpPr txBox="1"/>
          <p:nvPr/>
        </p:nvSpPr>
        <p:spPr>
          <a:xfrm>
            <a:off x="4969154" y="5495544"/>
            <a:ext cx="2802026" cy="749808"/>
          </a:xfrm>
          <a:prstGeom prst="rect">
            <a:avLst/>
          </a:prstGeom>
          <a:noFill/>
          <a:ln/>
        </p:spPr>
        <p:txBody>
          <a:bodyPr wrap="square" lIns="0" tIns="0" rIns="0" bIns="0" rtlCol="0" anchor="ctr"/>
          <a:lstStyle/>
          <a:p>
            <a:pPr marL="0" indent="0">
              <a:buNone/>
            </a:pPr>
            <a:r>
              <a:rPr lang="en-US" sz="1250" b="1" dirty="0">
                <a:solidFill>
                  <a:srgbClr val="13342A"/>
                </a:solidFill>
                <a:latin typeface="Calibri" pitchFamily="34" charset="0"/>
                <a:ea typeface="Calibri" pitchFamily="34" charset="-122"/>
                <a:cs typeface="Calibri" pitchFamily="34" charset="-120"/>
              </a:rPr>
              <a:t>Beat the baselines</a:t>
            </a:r>
            <a:endParaRPr lang="en-US" sz="1400" dirty="0"/>
          </a:p>
          <a:p>
            <a:pPr marL="0" indent="0">
              <a:buNone/>
            </a:pPr>
            <a:r>
              <a:rPr lang="en-US" sz="1100" dirty="0">
                <a:solidFill>
                  <a:srgbClr val="1E2B26"/>
                </a:solidFill>
                <a:latin typeface="Calibri" pitchFamily="34" charset="0"/>
                <a:ea typeface="Calibri" pitchFamily="34" charset="-122"/>
                <a:cs typeface="Calibri" pitchFamily="34" charset="-120"/>
              </a:rPr>
              <a:t>Random feasible, greedy ingredient-match, single-meal greedy and nutrition-only planners</a:t>
            </a:r>
            <a:endParaRPr lang="en-US" sz="1400" dirty="0"/>
          </a:p>
        </p:txBody>
      </p:sp>
      <p:sp>
        <p:nvSpPr>
          <p:cNvPr id="20" name="Shape 9"/>
          <p:cNvSpPr/>
          <p:nvPr/>
        </p:nvSpPr>
        <p:spPr>
          <a:xfrm>
            <a:off x="8036357" y="5468112"/>
            <a:ext cx="3606698" cy="804672"/>
          </a:xfrm>
          <a:prstGeom prst="roundRect">
            <a:avLst>
              <a:gd name="adj" fmla="val 11364"/>
            </a:avLst>
          </a:prstGeom>
          <a:solidFill>
            <a:srgbClr val="EEF5F1"/>
          </a:solidFill>
          <a:ln/>
        </p:spPr>
      </p:sp>
      <p:sp>
        <p:nvSpPr>
          <p:cNvPr id="21" name="Text 10"/>
          <p:cNvSpPr/>
          <p:nvPr/>
        </p:nvSpPr>
        <p:spPr>
          <a:xfrm>
            <a:off x="8182661" y="5669280"/>
            <a:ext cx="402336" cy="402336"/>
          </a:xfrm>
          <a:prstGeom prst="ellipse">
            <a:avLst/>
          </a:prstGeom>
          <a:solidFill>
            <a:srgbClr val="D2652A"/>
          </a:solid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2" name="Text 11"/>
          <p:cNvSpPr txBox="1"/>
          <p:nvPr/>
        </p:nvSpPr>
        <p:spPr>
          <a:xfrm>
            <a:off x="8713013" y="5495544"/>
            <a:ext cx="2802026" cy="749808"/>
          </a:xfrm>
          <a:prstGeom prst="rect">
            <a:avLst/>
          </a:prstGeom>
          <a:noFill/>
          <a:ln/>
        </p:spPr>
        <p:txBody>
          <a:bodyPr wrap="square" lIns="0" tIns="0" rIns="0" bIns="0" rtlCol="0" anchor="ctr"/>
          <a:lstStyle/>
          <a:p>
            <a:pPr marL="0" indent="0">
              <a:buNone/>
            </a:pPr>
            <a:r>
              <a:rPr lang="en-US" sz="1250" b="1" dirty="0">
                <a:solidFill>
                  <a:srgbClr val="13342A"/>
                </a:solidFill>
                <a:latin typeface="Calibri" pitchFamily="34" charset="0"/>
                <a:ea typeface="Calibri" pitchFamily="34" charset="-122"/>
                <a:cs typeface="Calibri" pitchFamily="34" charset="-120"/>
              </a:rPr>
              <a:t>Ablate components</a:t>
            </a:r>
            <a:endParaRPr lang="en-US" sz="1400" dirty="0"/>
          </a:p>
          <a:p>
            <a:pPr marL="0" indent="0">
              <a:buNone/>
            </a:pPr>
            <a:r>
              <a:rPr lang="en-US" sz="1100" dirty="0">
                <a:solidFill>
                  <a:srgbClr val="1E2B26"/>
                </a:solidFill>
                <a:latin typeface="Calibri" pitchFamily="34" charset="0"/>
                <a:ea typeface="Calibri" pitchFamily="34" charset="-122"/>
                <a:cs typeface="Calibri" pitchFamily="34" charset="-120"/>
              </a:rPr>
              <a:t>Remove expiry awareness, nutrition optimisation and preference scoring one at a time</a:t>
            </a:r>
            <a:endParaRPr lang="en-US" sz="1400" dirty="0"/>
          </a:p>
        </p:txBody>
      </p:sp>
      <p:sp>
        <p:nvSpPr>
          <p:cNvPr id="23" name="Text 12"/>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1000" dirty="0">
                <a:solidFill>
                  <a:srgbClr val="5A6B63"/>
                </a:solidFill>
                <a:latin typeface="Calibri" pitchFamily="34" charset="0"/>
                <a:ea typeface="Calibri" pitchFamily="34" charset="-122"/>
                <a:cs typeface="Calibri" pitchFamily="34" charset="-120"/>
              </a:rPr>
              <a:t>Pantry-to-Plate  ·  IRS Practice Module</a:t>
            </a:r>
            <a:endParaRPr lang="en-US" sz="1000" dirty="0"/>
          </a:p>
        </p:txBody>
      </p:sp>
      <p:sp>
        <p:nvSpPr>
          <p:cNvPr id="24" name="Text 13"/>
          <p:cNvSpPr txBox="1"/>
          <p:nvPr/>
        </p:nvSpPr>
        <p:spPr>
          <a:xfrm>
            <a:off x="10271455" y="6419088"/>
            <a:ext cx="1371600" cy="256032"/>
          </a:xfrm>
          <a:prstGeom prst="rect">
            <a:avLst/>
          </a:prstGeom>
          <a:noFill/>
          <a:ln/>
        </p:spPr>
        <p:txBody>
          <a:bodyPr wrap="square" lIns="0" tIns="0" rIns="0" bIns="0" rtlCol="0" anchor="t"/>
          <a:lstStyle/>
          <a:p>
            <a:pPr marL="0" indent="0" algn="r">
              <a:buNone/>
            </a:pPr>
            <a:r>
              <a:rPr lang="en-US" sz="1000" dirty="0">
                <a:solidFill>
                  <a:srgbClr val="5A6B63"/>
                </a:solidFill>
                <a:latin typeface="Calibri" pitchFamily="34" charset="0"/>
                <a:ea typeface="Calibri" pitchFamily="34" charset="-122"/>
                <a:cs typeface="Calibri" pitchFamily="34" charset="-120"/>
              </a:rPr>
              <a:t>8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150" dirty="0">
                <a:solidFill>
                  <a:srgbClr val="D2652A"/>
                </a:solidFill>
                <a:latin typeface="Calibri" pitchFamily="34" charset="0"/>
                <a:ea typeface="Calibri" pitchFamily="34" charset="-122"/>
                <a:cs typeface="Calibri" pitchFamily="34" charset="-120"/>
              </a:rPr>
              <a:t>EXPLAINABILITY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200" b="1" dirty="0">
                <a:solidFill>
                  <a:srgbClr val="13342A"/>
                </a:solidFill>
                <a:latin typeface="Cambria" pitchFamily="34" charset="0"/>
                <a:ea typeface="Cambria" pitchFamily="34" charset="-122"/>
                <a:cs typeface="Cambria" pitchFamily="34" charset="-120"/>
              </a:rPr>
              <a:t>Explainable AI (XAI) component</a:t>
            </a:r>
            <a:endParaRPr lang="en-US" sz="3200" dirty="0"/>
          </a:p>
        </p:txBody>
      </p:sp>
      <p:sp>
        <p:nvSpPr>
          <p:cNvPr id="4" name="Shape 2"/>
          <p:cNvSpPr/>
          <p:nvPr/>
        </p:nvSpPr>
        <p:spPr>
          <a:xfrm>
            <a:off x="548640" y="1417320"/>
            <a:ext cx="3246120" cy="2286000"/>
          </a:xfrm>
          <a:prstGeom prst="roundRect">
            <a:avLst>
              <a:gd name="adj" fmla="val 4800"/>
            </a:avLst>
          </a:prstGeom>
          <a:solidFill>
            <a:srgbClr val="EEF5F1"/>
          </a:solidFill>
          <a:ln/>
        </p:spPr>
      </p:sp>
      <p:sp>
        <p:nvSpPr>
          <p:cNvPr id="5" name="Text 3"/>
          <p:cNvSpPr txBox="1"/>
          <p:nvPr/>
        </p:nvSpPr>
        <p:spPr>
          <a:xfrm>
            <a:off x="777240" y="1572768"/>
            <a:ext cx="2880360" cy="237744"/>
          </a:xfrm>
          <a:prstGeom prst="rect">
            <a:avLst/>
          </a:prstGeom>
          <a:noFill/>
          <a:ln/>
        </p:spPr>
        <p:txBody>
          <a:bodyPr wrap="square" lIns="0" tIns="0" rIns="0" bIns="0" rtlCol="0" anchor="t"/>
          <a:lstStyle/>
          <a:p>
            <a:pPr marL="0" indent="0">
              <a:buNone/>
            </a:pPr>
            <a:r>
              <a:rPr lang="en-US" sz="1100" b="1" kern="0" spc="100" dirty="0">
                <a:solidFill>
                  <a:srgbClr val="D2652A"/>
                </a:solidFill>
                <a:latin typeface="Calibri" pitchFamily="34" charset="0"/>
                <a:ea typeface="Calibri" pitchFamily="34" charset="-122"/>
                <a:cs typeface="Calibri" pitchFamily="34" charset="-120"/>
              </a:rPr>
              <a:t>WHY EXPLAINABILITY?</a:t>
            </a:r>
            <a:endParaRPr lang="en-US" sz="1100" dirty="0"/>
          </a:p>
        </p:txBody>
      </p:sp>
      <p:sp>
        <p:nvSpPr>
          <p:cNvPr id="6" name="Text 4"/>
          <p:cNvSpPr txBox="1"/>
          <p:nvPr/>
        </p:nvSpPr>
        <p:spPr>
          <a:xfrm>
            <a:off x="777240" y="1874520"/>
            <a:ext cx="2862072" cy="1755648"/>
          </a:xfrm>
          <a:prstGeom prst="rect">
            <a:avLst/>
          </a:prstGeom>
          <a:noFill/>
          <a:ln/>
        </p:spPr>
        <p:txBody>
          <a:bodyPr wrap="square" lIns="0" tIns="0" rIns="0" bIns="0" rtlCol="0" anchor="t"/>
          <a:lstStyle/>
          <a:p>
            <a:pPr marL="127000" indent="-127000">
              <a:spcAft>
                <a:spcPts val="400"/>
              </a:spcAft>
              <a:buSzPct val="100000"/>
              <a:buChar char="•"/>
            </a:pPr>
            <a:r>
              <a:rPr lang="en-US" sz="1150" dirty="0">
                <a:solidFill>
                  <a:srgbClr val="1E2B26"/>
                </a:solidFill>
                <a:latin typeface="Calibri" pitchFamily="34" charset="0"/>
                <a:ea typeface="Calibri" pitchFamily="34" charset="-122"/>
                <a:cs typeface="Calibri" pitchFamily="34" charset="-120"/>
              </a:rPr>
              <a:t>Users should understand why a particular meal was selected and scheduled on a particular day.</a:t>
            </a:r>
            <a:endParaRPr lang="en-US" sz="1150" dirty="0"/>
          </a:p>
          <a:p>
            <a:pPr marL="127000" indent="-127000">
              <a:spcAft>
                <a:spcPts val="400"/>
              </a:spcAft>
              <a:buSzPct val="100000"/>
              <a:buChar char="•"/>
            </a:pPr>
            <a:r>
              <a:rPr lang="en-US" sz="1150" dirty="0">
                <a:solidFill>
                  <a:srgbClr val="1E2B26"/>
                </a:solidFill>
                <a:latin typeface="Calibri" pitchFamily="34" charset="0"/>
                <a:ea typeface="Calibri" pitchFamily="34" charset="-122"/>
                <a:cs typeface="Calibri" pitchFamily="34" charset="-120"/>
              </a:rPr>
              <a:t>Makes recommendations transparent rather than returning a black-box “AI-generated meal plan”.</a:t>
            </a:r>
            <a:endParaRPr lang="en-US" sz="1150" dirty="0"/>
          </a:p>
          <a:p>
            <a:pPr marL="127000" indent="-127000">
              <a:spcAft>
                <a:spcPts val="400"/>
              </a:spcAft>
              <a:buSzPct val="100000"/>
              <a:buChar char="•"/>
            </a:pPr>
            <a:r>
              <a:rPr lang="en-US" sz="1150" dirty="0">
                <a:solidFill>
                  <a:srgbClr val="1E2B26"/>
                </a:solidFill>
                <a:latin typeface="Calibri" pitchFamily="34" charset="0"/>
                <a:ea typeface="Calibri" pitchFamily="34" charset="-122"/>
                <a:cs typeface="Calibri" pitchFamily="34" charset="-120"/>
              </a:rPr>
              <a:t>Allows users to understand trade-offs between nutrition, expiry, preferences and grocery requirements.</a:t>
            </a:r>
            <a:endParaRPr lang="en-US" sz="1150" dirty="0"/>
          </a:p>
        </p:txBody>
      </p:sp>
      <p:sp>
        <p:nvSpPr>
          <p:cNvPr id="7" name="Shape 5"/>
          <p:cNvSpPr/>
          <p:nvPr/>
        </p:nvSpPr>
        <p:spPr>
          <a:xfrm>
            <a:off x="548640" y="3822192"/>
            <a:ext cx="3246120" cy="2450592"/>
          </a:xfrm>
          <a:prstGeom prst="roundRect">
            <a:avLst>
              <a:gd name="adj" fmla="val 4478"/>
            </a:avLst>
          </a:prstGeom>
          <a:solidFill>
            <a:srgbClr val="13342A"/>
          </a:solidFill>
          <a:ln/>
        </p:spPr>
      </p:sp>
      <p:sp>
        <p:nvSpPr>
          <p:cNvPr id="8" name="Text 6"/>
          <p:cNvSpPr txBox="1"/>
          <p:nvPr/>
        </p:nvSpPr>
        <p:spPr>
          <a:xfrm>
            <a:off x="777240" y="3977640"/>
            <a:ext cx="2880360" cy="237744"/>
          </a:xfrm>
          <a:prstGeom prst="rect">
            <a:avLst/>
          </a:prstGeom>
          <a:noFill/>
          <a:ln/>
        </p:spPr>
        <p:txBody>
          <a:bodyPr wrap="square" lIns="0" tIns="0" rIns="0" bIns="0" rtlCol="0" anchor="t"/>
          <a:lstStyle/>
          <a:p>
            <a:pPr marL="0" indent="0">
              <a:buNone/>
            </a:pPr>
            <a:r>
              <a:rPr lang="en-US" sz="1100" b="1" kern="0" spc="100" dirty="0">
                <a:solidFill>
                  <a:srgbClr val="F4A261"/>
                </a:solidFill>
                <a:latin typeface="Calibri" pitchFamily="34" charset="0"/>
                <a:ea typeface="Calibri" pitchFamily="34" charset="-122"/>
                <a:cs typeface="Calibri" pitchFamily="34" charset="-120"/>
              </a:rPr>
              <a:t>COUNTERFACTUAL EXPLANATIONS</a:t>
            </a:r>
            <a:endParaRPr lang="en-US" sz="1100" dirty="0"/>
          </a:p>
        </p:txBody>
      </p:sp>
      <p:sp>
        <p:nvSpPr>
          <p:cNvPr id="9" name="Text 7"/>
          <p:cNvSpPr txBox="1"/>
          <p:nvPr/>
        </p:nvSpPr>
        <p:spPr>
          <a:xfrm>
            <a:off x="777240" y="4251960"/>
            <a:ext cx="2834640" cy="365760"/>
          </a:xfrm>
          <a:prstGeom prst="rect">
            <a:avLst/>
          </a:prstGeom>
          <a:noFill/>
          <a:ln/>
        </p:spPr>
        <p:txBody>
          <a:bodyPr wrap="square" lIns="0" tIns="0" rIns="0" bIns="0" rtlCol="0" anchor="t"/>
          <a:lstStyle/>
          <a:p>
            <a:pPr marL="0" indent="0">
              <a:buNone/>
            </a:pPr>
            <a:r>
              <a:rPr lang="en-US" sz="1150" dirty="0">
                <a:solidFill>
                  <a:srgbClr val="CFE3D8"/>
                </a:solidFill>
                <a:latin typeface="Calibri" pitchFamily="34" charset="0"/>
                <a:ea typeface="Calibri" pitchFamily="34" charset="-122"/>
                <a:cs typeface="Calibri" pitchFamily="34" charset="-120"/>
              </a:rPr>
              <a:t>Explain what would change if a constraint changed:</a:t>
            </a:r>
            <a:endParaRPr lang="en-US" sz="1150" dirty="0"/>
          </a:p>
        </p:txBody>
      </p:sp>
      <p:sp>
        <p:nvSpPr>
          <p:cNvPr id="10" name="Text 8"/>
          <p:cNvSpPr txBox="1"/>
          <p:nvPr/>
        </p:nvSpPr>
        <p:spPr>
          <a:xfrm>
            <a:off x="777240" y="4663440"/>
            <a:ext cx="28346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“Why wasn't Recipe X selected?”</a:t>
            </a:r>
            <a:endParaRPr lang="en-US" sz="1200" dirty="0"/>
          </a:p>
        </p:txBody>
      </p:sp>
      <p:sp>
        <p:nvSpPr>
          <p:cNvPr id="11" name="Text 9"/>
          <p:cNvSpPr txBox="1"/>
          <p:nvPr/>
        </p:nvSpPr>
        <p:spPr>
          <a:xfrm>
            <a:off x="777240" y="4910328"/>
            <a:ext cx="2834640" cy="365760"/>
          </a:xfrm>
          <a:prstGeom prst="rect">
            <a:avLst/>
          </a:prstGeom>
          <a:noFill/>
          <a:ln/>
        </p:spPr>
        <p:txBody>
          <a:bodyPr wrap="square" lIns="0" tIns="0" rIns="0" bIns="0" rtlCol="0" anchor="t"/>
          <a:lstStyle/>
          <a:p>
            <a:pPr marL="0" indent="0">
              <a:buNone/>
            </a:pPr>
            <a:r>
              <a:rPr lang="en-US" sz="1100" b="1" dirty="0">
                <a:solidFill>
                  <a:srgbClr val="F4A261"/>
                </a:solidFill>
                <a:latin typeface="Calibri" pitchFamily="34" charset="0"/>
                <a:ea typeface="Calibri" pitchFamily="34" charset="-122"/>
                <a:cs typeface="Calibri" pitchFamily="34" charset="-120"/>
              </a:rPr>
              <a:t>→ </a:t>
            </a:r>
            <a:r>
              <a:rPr lang="en-US" sz="1100" dirty="0">
                <a:solidFill>
                  <a:srgbClr val="CFE3D8"/>
                </a:solidFill>
                <a:latin typeface="Calibri" pitchFamily="34" charset="0"/>
                <a:ea typeface="Calibri" pitchFamily="34" charset="-122"/>
                <a:cs typeface="Calibri" pitchFamily="34" charset="-120"/>
              </a:rPr>
              <a:t>Requires four additional ingredients and would increase predicted food waste.</a:t>
            </a:r>
            <a:endParaRPr lang="en-US" sz="1100" dirty="0"/>
          </a:p>
        </p:txBody>
      </p:sp>
      <p:sp>
        <p:nvSpPr>
          <p:cNvPr id="12" name="Text 10"/>
          <p:cNvSpPr txBox="1"/>
          <p:nvPr/>
        </p:nvSpPr>
        <p:spPr>
          <a:xfrm>
            <a:off x="777240" y="5385816"/>
            <a:ext cx="28346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“What if I don't want paneer?”</a:t>
            </a:r>
            <a:endParaRPr lang="en-US" sz="1200" dirty="0"/>
          </a:p>
        </p:txBody>
      </p:sp>
      <p:sp>
        <p:nvSpPr>
          <p:cNvPr id="13" name="Text 11"/>
          <p:cNvSpPr txBox="1"/>
          <p:nvPr/>
        </p:nvSpPr>
        <p:spPr>
          <a:xfrm>
            <a:off x="777240" y="5632704"/>
            <a:ext cx="2834640" cy="530352"/>
          </a:xfrm>
          <a:prstGeom prst="rect">
            <a:avLst/>
          </a:prstGeom>
          <a:noFill/>
          <a:ln/>
        </p:spPr>
        <p:txBody>
          <a:bodyPr wrap="square" lIns="0" tIns="0" rIns="0" bIns="0" rtlCol="0" anchor="t"/>
          <a:lstStyle/>
          <a:p>
            <a:pPr marL="0" indent="0">
              <a:buNone/>
            </a:pPr>
            <a:r>
              <a:rPr lang="en-US" sz="1100" b="1" dirty="0">
                <a:solidFill>
                  <a:srgbClr val="F4A261"/>
                </a:solidFill>
                <a:latin typeface="Calibri" pitchFamily="34" charset="0"/>
                <a:ea typeface="Calibri" pitchFamily="34" charset="-122"/>
                <a:cs typeface="Calibri" pitchFamily="34" charset="-120"/>
              </a:rPr>
              <a:t>→ </a:t>
            </a:r>
            <a:r>
              <a:rPr lang="en-US" sz="1100" dirty="0">
                <a:solidFill>
                  <a:srgbClr val="CFE3D8"/>
                </a:solidFill>
                <a:latin typeface="Calibri" pitchFamily="34" charset="0"/>
                <a:ea typeface="Calibri" pitchFamily="34" charset="-122"/>
                <a:cs typeface="Calibri" pitchFamily="34" charset="-120"/>
              </a:rPr>
              <a:t>Removing paneer changes Wednesday's meal to Recipe Y and increases additional groceries by two items.</a:t>
            </a:r>
            <a:endParaRPr lang="en-US" sz="1100" dirty="0"/>
          </a:p>
        </p:txBody>
      </p:sp>
      <p:sp>
        <p:nvSpPr>
          <p:cNvPr id="14" name="Shape 12"/>
          <p:cNvSpPr/>
          <p:nvPr/>
        </p:nvSpPr>
        <p:spPr>
          <a:xfrm>
            <a:off x="3977640" y="1417320"/>
            <a:ext cx="4069080" cy="4855464"/>
          </a:xfrm>
          <a:prstGeom prst="roundRect">
            <a:avLst>
              <a:gd name="adj" fmla="val 2697"/>
            </a:avLst>
          </a:prstGeom>
          <a:solidFill>
            <a:srgbClr val="F5F9F7"/>
          </a:solidFill>
          <a:ln/>
        </p:spPr>
      </p:sp>
      <p:sp>
        <p:nvSpPr>
          <p:cNvPr id="15" name="Text 13"/>
          <p:cNvSpPr txBox="1"/>
          <p:nvPr/>
        </p:nvSpPr>
        <p:spPr>
          <a:xfrm>
            <a:off x="4206240" y="1545336"/>
            <a:ext cx="3657600" cy="457200"/>
          </a:xfrm>
          <a:prstGeom prst="rect">
            <a:avLst/>
          </a:prstGeom>
          <a:noFill/>
          <a:ln/>
        </p:spPr>
        <p:txBody>
          <a:bodyPr wrap="square" lIns="0" tIns="0" rIns="0" bIns="0" rtlCol="0" anchor="ctr"/>
          <a:lstStyle/>
          <a:p>
            <a:pPr marL="0" indent="0">
              <a:buNone/>
            </a:pPr>
            <a:r>
              <a:rPr lang="en-US" sz="1400" b="1" dirty="0">
                <a:solidFill>
                  <a:srgbClr val="13342A"/>
                </a:solidFill>
                <a:latin typeface="Calibri" pitchFamily="34" charset="0"/>
                <a:ea typeface="Calibri" pitchFamily="34" charset="-122"/>
                <a:cs typeface="Calibri" pitchFamily="34" charset="-120"/>
              </a:rPr>
              <a:t>Explanation generated from optimiser decisions</a:t>
            </a:r>
            <a:endParaRPr lang="en-US" sz="1400" dirty="0"/>
          </a:p>
        </p:txBody>
      </p:sp>
      <p:sp>
        <p:nvSpPr>
          <p:cNvPr id="16" name="Text 14"/>
          <p:cNvSpPr txBox="1"/>
          <p:nvPr/>
        </p:nvSpPr>
        <p:spPr>
          <a:xfrm>
            <a:off x="4206240" y="2029968"/>
            <a:ext cx="3611880" cy="365760"/>
          </a:xfrm>
          <a:prstGeom prst="rect">
            <a:avLst/>
          </a:prstGeom>
          <a:noFill/>
          <a:ln/>
        </p:spPr>
        <p:txBody>
          <a:bodyPr wrap="square" lIns="0" tIns="0" rIns="0" bIns="0" rtlCol="0" anchor="t"/>
          <a:lstStyle/>
          <a:p>
            <a:pPr marL="0" indent="0">
              <a:buNone/>
            </a:pPr>
            <a:r>
              <a:rPr lang="en-US" sz="1150" dirty="0">
                <a:solidFill>
                  <a:srgbClr val="1E2B26"/>
                </a:solidFill>
                <a:latin typeface="Calibri" pitchFamily="34" charset="0"/>
                <a:ea typeface="Calibri" pitchFamily="34" charset="-122"/>
                <a:cs typeface="Calibri" pitchFamily="34" charset="-120"/>
              </a:rPr>
              <a:t>For every recommended meal, expose the factors responsible for selection:</a:t>
            </a:r>
            <a:endParaRPr lang="en-US" sz="1150" dirty="0"/>
          </a:p>
        </p:txBody>
      </p:sp>
      <p:sp>
        <p:nvSpPr>
          <p:cNvPr id="17" name="Shape 15"/>
          <p:cNvSpPr/>
          <p:nvPr/>
        </p:nvSpPr>
        <p:spPr>
          <a:xfrm>
            <a:off x="4160520" y="2487168"/>
            <a:ext cx="3703320" cy="3218688"/>
          </a:xfrm>
          <a:prstGeom prst="roundRect">
            <a:avLst>
              <a:gd name="adj" fmla="val 3409"/>
            </a:avLst>
          </a:prstGeom>
          <a:solidFill>
            <a:srgbClr val="FFFFFF"/>
          </a:solidFill>
          <a:ln/>
          <a:effectLst>
            <a:outerShdw blurRad="101600" dist="25400" dir="5400000" algn="bl" rotWithShape="0">
              <a:srgbClr val="000000">
                <a:alpha val="12000"/>
              </a:srgbClr>
            </a:outerShdw>
          </a:effectLst>
        </p:spPr>
      </p:sp>
      <p:sp>
        <p:nvSpPr>
          <p:cNvPr id="18" name="Text 16"/>
          <p:cNvSpPr txBox="1"/>
          <p:nvPr/>
        </p:nvSpPr>
        <p:spPr>
          <a:xfrm>
            <a:off x="4389120" y="2633472"/>
            <a:ext cx="1828800" cy="219456"/>
          </a:xfrm>
          <a:prstGeom prst="rect">
            <a:avLst/>
          </a:prstGeom>
          <a:noFill/>
          <a:ln/>
        </p:spPr>
        <p:txBody>
          <a:bodyPr wrap="square" lIns="0" tIns="0" rIns="0" bIns="0" rtlCol="0" anchor="t"/>
          <a:lstStyle/>
          <a:p>
            <a:pPr marL="0" indent="0">
              <a:buNone/>
            </a:pPr>
            <a:r>
              <a:rPr lang="en-US" sz="1050" b="1" kern="0" spc="150" dirty="0">
                <a:solidFill>
                  <a:srgbClr val="D2652A"/>
                </a:solidFill>
                <a:latin typeface="Calibri" pitchFamily="34" charset="0"/>
                <a:ea typeface="Calibri" pitchFamily="34" charset="-122"/>
                <a:cs typeface="Calibri" pitchFamily="34" charset="-120"/>
              </a:rPr>
              <a:t>MONDAY</a:t>
            </a:r>
            <a:endParaRPr lang="en-US" sz="1050" dirty="0"/>
          </a:p>
        </p:txBody>
      </p:sp>
      <p:sp>
        <p:nvSpPr>
          <p:cNvPr id="19" name="Text 17"/>
          <p:cNvSpPr txBox="1"/>
          <p:nvPr/>
        </p:nvSpPr>
        <p:spPr>
          <a:xfrm>
            <a:off x="4389120" y="2834640"/>
            <a:ext cx="2788920" cy="384048"/>
          </a:xfrm>
          <a:prstGeom prst="rect">
            <a:avLst/>
          </a:prstGeom>
          <a:noFill/>
          <a:ln/>
        </p:spPr>
        <p:txBody>
          <a:bodyPr wrap="square" lIns="0" tIns="0" rIns="0" bIns="0" rtlCol="0" anchor="ctr"/>
          <a:lstStyle/>
          <a:p>
            <a:pPr marL="0" indent="0">
              <a:buNone/>
            </a:pPr>
            <a:r>
              <a:rPr lang="en-US" sz="1900" b="1" dirty="0">
                <a:solidFill>
                  <a:srgbClr val="13342A"/>
                </a:solidFill>
                <a:latin typeface="Cambria" pitchFamily="34" charset="0"/>
                <a:ea typeface="Cambria" pitchFamily="34" charset="-122"/>
                <a:cs typeface="Cambria" pitchFamily="34" charset="-120"/>
              </a:rPr>
              <a:t>Palak Paneer</a:t>
            </a:r>
            <a:endParaRPr lang="en-US" sz="1900" dirty="0"/>
          </a:p>
        </p:txBody>
      </p:sp>
      <p:sp>
        <p:nvSpPr>
          <p:cNvPr id="20" name="Shape 18"/>
          <p:cNvSpPr/>
          <p:nvPr/>
        </p:nvSpPr>
        <p:spPr>
          <a:xfrm>
            <a:off x="7205472" y="2670048"/>
            <a:ext cx="457200" cy="457200"/>
          </a:xfrm>
          <a:prstGeom prst="ellipse">
            <a:avLst/>
          </a:prstGeom>
          <a:solidFill>
            <a:srgbClr val="EEF5F1"/>
          </a:solidFill>
          <a:ln/>
        </p:spPr>
      </p:sp>
      <p:pic>
        <p:nvPicPr>
          <p:cNvPr id="21" name="Image 0" descr="preencoded.png"/>
          <p:cNvPicPr>
            <a:picLocks noChangeAspect="1"/>
          </p:cNvPicPr>
          <p:nvPr/>
        </p:nvPicPr>
        <p:blipFill>
          <a:blip r:embed="rId3"/>
          <a:stretch>
            <a:fillRect/>
          </a:stretch>
        </p:blipFill>
        <p:spPr>
          <a:xfrm>
            <a:off x="7310628" y="2775204"/>
            <a:ext cx="246888" cy="246888"/>
          </a:xfrm>
          <a:prstGeom prst="rect">
            <a:avLst/>
          </a:prstGeom>
        </p:spPr>
      </p:pic>
      <p:pic>
        <p:nvPicPr>
          <p:cNvPr id="22" name="Image 1" descr="preencoded.png"/>
          <p:cNvPicPr>
            <a:picLocks noChangeAspect="1"/>
          </p:cNvPicPr>
          <p:nvPr/>
        </p:nvPicPr>
        <p:blipFill>
          <a:blip r:embed="rId4"/>
          <a:stretch>
            <a:fillRect/>
          </a:stretch>
        </p:blipFill>
        <p:spPr>
          <a:xfrm>
            <a:off x="4389120" y="3419856"/>
            <a:ext cx="219456" cy="219456"/>
          </a:xfrm>
          <a:prstGeom prst="rect">
            <a:avLst/>
          </a:prstGeom>
        </p:spPr>
      </p:pic>
      <p:sp>
        <p:nvSpPr>
          <p:cNvPr id="23" name="Text 19"/>
          <p:cNvSpPr txBox="1"/>
          <p:nvPr/>
        </p:nvSpPr>
        <p:spPr>
          <a:xfrm>
            <a:off x="4709160" y="3328416"/>
            <a:ext cx="2057400" cy="402336"/>
          </a:xfrm>
          <a:prstGeom prst="rect">
            <a:avLst/>
          </a:prstGeom>
          <a:noFill/>
          <a:ln/>
        </p:spPr>
        <p:txBody>
          <a:bodyPr wrap="square" lIns="0" tIns="0" rIns="0" bIns="0" rtlCol="0" anchor="ctr"/>
          <a:lstStyle/>
          <a:p>
            <a:pPr marL="0" indent="0">
              <a:buNone/>
            </a:pPr>
            <a:r>
              <a:rPr lang="en-US" sz="1150" dirty="0">
                <a:solidFill>
                  <a:srgbClr val="13342A"/>
                </a:solidFill>
                <a:latin typeface="Calibri" pitchFamily="34" charset="0"/>
                <a:ea typeface="Calibri" pitchFamily="34" charset="-122"/>
                <a:cs typeface="Calibri" pitchFamily="34" charset="-120"/>
              </a:rPr>
              <a:t>Spinach has the shortest remaining shelf life.</a:t>
            </a:r>
            <a:endParaRPr lang="en-US" sz="1150" dirty="0"/>
          </a:p>
        </p:txBody>
      </p:sp>
      <p:sp>
        <p:nvSpPr>
          <p:cNvPr id="24" name="Text 20"/>
          <p:cNvSpPr/>
          <p:nvPr/>
        </p:nvSpPr>
        <p:spPr>
          <a:xfrm>
            <a:off x="6793992" y="3410712"/>
            <a:ext cx="868680" cy="237744"/>
          </a:xfrm>
          <a:prstGeom prst="roundRect">
            <a:avLst>
              <a:gd name="adj" fmla="val 30769"/>
            </a:avLst>
          </a:prstGeom>
          <a:solidFill>
            <a:srgbClr val="E3EFE8"/>
          </a:solidFill>
          <a:ln/>
        </p:spPr>
        <p:txBody>
          <a:bodyPr wrap="square" lIns="0" tIns="0" rIns="0" bIns="0" rtlCol="0" anchor="ctr"/>
          <a:lstStyle/>
          <a:p>
            <a:pPr marL="0" indent="0" algn="ctr">
              <a:buNone/>
            </a:pPr>
            <a:r>
              <a:rPr lang="en-US" sz="850" b="1" dirty="0">
                <a:solidFill>
                  <a:srgbClr val="1F5C45"/>
                </a:solidFill>
                <a:latin typeface="Calibri" pitchFamily="34" charset="0"/>
                <a:ea typeface="Calibri" pitchFamily="34" charset="-122"/>
                <a:cs typeface="Calibri" pitchFamily="34" charset="-120"/>
              </a:rPr>
              <a:t>EXPIRY</a:t>
            </a:r>
            <a:endParaRPr lang="en-US" sz="850" dirty="0"/>
          </a:p>
        </p:txBody>
      </p:sp>
      <p:pic>
        <p:nvPicPr>
          <p:cNvPr id="25" name="Image 2" descr="preencoded.png"/>
          <p:cNvPicPr>
            <a:picLocks noChangeAspect="1"/>
          </p:cNvPicPr>
          <p:nvPr/>
        </p:nvPicPr>
        <p:blipFill>
          <a:blip r:embed="rId4"/>
          <a:stretch>
            <a:fillRect/>
          </a:stretch>
        </p:blipFill>
        <p:spPr>
          <a:xfrm>
            <a:off x="4389120" y="3877056"/>
            <a:ext cx="219456" cy="219456"/>
          </a:xfrm>
          <a:prstGeom prst="rect">
            <a:avLst/>
          </a:prstGeom>
        </p:spPr>
      </p:pic>
      <p:sp>
        <p:nvSpPr>
          <p:cNvPr id="26" name="Text 21"/>
          <p:cNvSpPr txBox="1"/>
          <p:nvPr/>
        </p:nvSpPr>
        <p:spPr>
          <a:xfrm>
            <a:off x="4709160" y="3785616"/>
            <a:ext cx="2057400" cy="402336"/>
          </a:xfrm>
          <a:prstGeom prst="rect">
            <a:avLst/>
          </a:prstGeom>
          <a:noFill/>
          <a:ln/>
        </p:spPr>
        <p:txBody>
          <a:bodyPr wrap="square" lIns="0" tIns="0" rIns="0" bIns="0" rtlCol="0" anchor="ctr"/>
          <a:lstStyle/>
          <a:p>
            <a:pPr marL="0" indent="0">
              <a:buNone/>
            </a:pPr>
            <a:r>
              <a:rPr lang="en-US" sz="1150" dirty="0">
                <a:solidFill>
                  <a:srgbClr val="13342A"/>
                </a:solidFill>
                <a:latin typeface="Calibri" pitchFamily="34" charset="0"/>
                <a:ea typeface="Calibri" pitchFamily="34" charset="-122"/>
                <a:cs typeface="Calibri" pitchFamily="34" charset="-120"/>
              </a:rPr>
              <a:t>Uses 300g of existing pantry ingredients.</a:t>
            </a:r>
            <a:endParaRPr lang="en-US" sz="1150" dirty="0"/>
          </a:p>
        </p:txBody>
      </p:sp>
      <p:sp>
        <p:nvSpPr>
          <p:cNvPr id="27" name="Text 22"/>
          <p:cNvSpPr/>
          <p:nvPr/>
        </p:nvSpPr>
        <p:spPr>
          <a:xfrm>
            <a:off x="6793992" y="3867912"/>
            <a:ext cx="868680" cy="237744"/>
          </a:xfrm>
          <a:prstGeom prst="roundRect">
            <a:avLst>
              <a:gd name="adj" fmla="val 30769"/>
            </a:avLst>
          </a:prstGeom>
          <a:solidFill>
            <a:srgbClr val="E3EFE8"/>
          </a:solidFill>
          <a:ln/>
        </p:spPr>
        <p:txBody>
          <a:bodyPr wrap="square" lIns="0" tIns="0" rIns="0" bIns="0" rtlCol="0" anchor="ctr"/>
          <a:lstStyle/>
          <a:p>
            <a:pPr marL="0" indent="0" algn="ctr">
              <a:buNone/>
            </a:pPr>
            <a:r>
              <a:rPr lang="en-US" sz="850" b="1" dirty="0">
                <a:solidFill>
                  <a:srgbClr val="1F5C45"/>
                </a:solidFill>
                <a:latin typeface="Calibri" pitchFamily="34" charset="0"/>
                <a:ea typeface="Calibri" pitchFamily="34" charset="-122"/>
                <a:cs typeface="Calibri" pitchFamily="34" charset="-120"/>
              </a:rPr>
              <a:t>PANTRY</a:t>
            </a:r>
            <a:endParaRPr lang="en-US" sz="850" dirty="0"/>
          </a:p>
        </p:txBody>
      </p:sp>
      <p:pic>
        <p:nvPicPr>
          <p:cNvPr id="28" name="Image 3" descr="preencoded.png"/>
          <p:cNvPicPr>
            <a:picLocks noChangeAspect="1"/>
          </p:cNvPicPr>
          <p:nvPr/>
        </p:nvPicPr>
        <p:blipFill>
          <a:blip r:embed="rId4"/>
          <a:stretch>
            <a:fillRect/>
          </a:stretch>
        </p:blipFill>
        <p:spPr>
          <a:xfrm>
            <a:off x="4389120" y="4334256"/>
            <a:ext cx="219456" cy="219456"/>
          </a:xfrm>
          <a:prstGeom prst="rect">
            <a:avLst/>
          </a:prstGeom>
        </p:spPr>
      </p:pic>
      <p:sp>
        <p:nvSpPr>
          <p:cNvPr id="29" name="Text 23"/>
          <p:cNvSpPr txBox="1"/>
          <p:nvPr/>
        </p:nvSpPr>
        <p:spPr>
          <a:xfrm>
            <a:off x="4709160" y="4242816"/>
            <a:ext cx="2057400" cy="402336"/>
          </a:xfrm>
          <a:prstGeom prst="rect">
            <a:avLst/>
          </a:prstGeom>
          <a:noFill/>
          <a:ln/>
        </p:spPr>
        <p:txBody>
          <a:bodyPr wrap="square" lIns="0" tIns="0" rIns="0" bIns="0" rtlCol="0" anchor="ctr"/>
          <a:lstStyle/>
          <a:p>
            <a:pPr marL="0" indent="0">
              <a:buNone/>
            </a:pPr>
            <a:r>
              <a:rPr lang="en-US" sz="1150" dirty="0">
                <a:solidFill>
                  <a:srgbClr val="13342A"/>
                </a:solidFill>
                <a:latin typeface="Calibri" pitchFamily="34" charset="0"/>
                <a:ea typeface="Calibri" pitchFamily="34" charset="-122"/>
                <a:cs typeface="Calibri" pitchFamily="34" charset="-120"/>
              </a:rPr>
              <a:t>Matches your vegetarian preference.</a:t>
            </a:r>
            <a:endParaRPr lang="en-US" sz="1150" dirty="0"/>
          </a:p>
        </p:txBody>
      </p:sp>
      <p:sp>
        <p:nvSpPr>
          <p:cNvPr id="30" name="Text 24"/>
          <p:cNvSpPr/>
          <p:nvPr/>
        </p:nvSpPr>
        <p:spPr>
          <a:xfrm>
            <a:off x="6793992" y="4325112"/>
            <a:ext cx="868680" cy="237744"/>
          </a:xfrm>
          <a:prstGeom prst="roundRect">
            <a:avLst>
              <a:gd name="adj" fmla="val 30769"/>
            </a:avLst>
          </a:prstGeom>
          <a:solidFill>
            <a:srgbClr val="E3EFE8"/>
          </a:solidFill>
          <a:ln/>
        </p:spPr>
        <p:txBody>
          <a:bodyPr wrap="square" lIns="0" tIns="0" rIns="0" bIns="0" rtlCol="0" anchor="ctr"/>
          <a:lstStyle/>
          <a:p>
            <a:pPr marL="0" indent="0" algn="ctr">
              <a:buNone/>
            </a:pPr>
            <a:r>
              <a:rPr lang="en-US" sz="850" b="1" dirty="0">
                <a:solidFill>
                  <a:srgbClr val="1F5C45"/>
                </a:solidFill>
                <a:latin typeface="Calibri" pitchFamily="34" charset="0"/>
                <a:ea typeface="Calibri" pitchFamily="34" charset="-122"/>
                <a:cs typeface="Calibri" pitchFamily="34" charset="-120"/>
              </a:rPr>
              <a:t>PREFERENCE</a:t>
            </a:r>
            <a:endParaRPr lang="en-US" sz="850" dirty="0"/>
          </a:p>
        </p:txBody>
      </p:sp>
      <p:pic>
        <p:nvPicPr>
          <p:cNvPr id="31" name="Image 4" descr="preencoded.png"/>
          <p:cNvPicPr>
            <a:picLocks noChangeAspect="1"/>
          </p:cNvPicPr>
          <p:nvPr/>
        </p:nvPicPr>
        <p:blipFill>
          <a:blip r:embed="rId4"/>
          <a:stretch>
            <a:fillRect/>
          </a:stretch>
        </p:blipFill>
        <p:spPr>
          <a:xfrm>
            <a:off x="4389120" y="4791456"/>
            <a:ext cx="219456" cy="219456"/>
          </a:xfrm>
          <a:prstGeom prst="rect">
            <a:avLst/>
          </a:prstGeom>
        </p:spPr>
      </p:pic>
      <p:sp>
        <p:nvSpPr>
          <p:cNvPr id="32" name="Text 25"/>
          <p:cNvSpPr txBox="1"/>
          <p:nvPr/>
        </p:nvSpPr>
        <p:spPr>
          <a:xfrm>
            <a:off x="4709160" y="4700016"/>
            <a:ext cx="2057400" cy="402336"/>
          </a:xfrm>
          <a:prstGeom prst="rect">
            <a:avLst/>
          </a:prstGeom>
          <a:noFill/>
          <a:ln/>
        </p:spPr>
        <p:txBody>
          <a:bodyPr wrap="square" lIns="0" tIns="0" rIns="0" bIns="0" rtlCol="0" anchor="ctr"/>
          <a:lstStyle/>
          <a:p>
            <a:pPr marL="0" indent="0">
              <a:buNone/>
            </a:pPr>
            <a:r>
              <a:rPr lang="en-US" sz="1150" dirty="0">
                <a:solidFill>
                  <a:srgbClr val="13342A"/>
                </a:solidFill>
                <a:latin typeface="Calibri" pitchFamily="34" charset="0"/>
                <a:ea typeface="Calibri" pitchFamily="34" charset="-122"/>
                <a:cs typeface="Calibri" pitchFamily="34" charset="-120"/>
              </a:rPr>
              <a:t>Fits your selected calorie/nutrition target.</a:t>
            </a:r>
            <a:endParaRPr lang="en-US" sz="1150" dirty="0"/>
          </a:p>
        </p:txBody>
      </p:sp>
      <p:sp>
        <p:nvSpPr>
          <p:cNvPr id="33" name="Text 26"/>
          <p:cNvSpPr/>
          <p:nvPr/>
        </p:nvSpPr>
        <p:spPr>
          <a:xfrm>
            <a:off x="6793992" y="4782312"/>
            <a:ext cx="868680" cy="237744"/>
          </a:xfrm>
          <a:prstGeom prst="roundRect">
            <a:avLst>
              <a:gd name="adj" fmla="val 30769"/>
            </a:avLst>
          </a:prstGeom>
          <a:solidFill>
            <a:srgbClr val="E3EFE8"/>
          </a:solidFill>
          <a:ln/>
        </p:spPr>
        <p:txBody>
          <a:bodyPr wrap="square" lIns="0" tIns="0" rIns="0" bIns="0" rtlCol="0" anchor="ctr"/>
          <a:lstStyle/>
          <a:p>
            <a:pPr marL="0" indent="0" algn="ctr">
              <a:buNone/>
            </a:pPr>
            <a:r>
              <a:rPr lang="en-US" sz="850" b="1" dirty="0">
                <a:solidFill>
                  <a:srgbClr val="1F5C45"/>
                </a:solidFill>
                <a:latin typeface="Calibri" pitchFamily="34" charset="0"/>
                <a:ea typeface="Calibri" pitchFamily="34" charset="-122"/>
                <a:cs typeface="Calibri" pitchFamily="34" charset="-120"/>
              </a:rPr>
              <a:t>NUTRITION</a:t>
            </a:r>
            <a:endParaRPr lang="en-US" sz="850" dirty="0"/>
          </a:p>
        </p:txBody>
      </p:sp>
      <p:pic>
        <p:nvPicPr>
          <p:cNvPr id="34" name="Image 5" descr="preencoded.png"/>
          <p:cNvPicPr>
            <a:picLocks noChangeAspect="1"/>
          </p:cNvPicPr>
          <p:nvPr/>
        </p:nvPicPr>
        <p:blipFill>
          <a:blip r:embed="rId4"/>
          <a:stretch>
            <a:fillRect/>
          </a:stretch>
        </p:blipFill>
        <p:spPr>
          <a:xfrm>
            <a:off x="4389120" y="5248656"/>
            <a:ext cx="219456" cy="219456"/>
          </a:xfrm>
          <a:prstGeom prst="rect">
            <a:avLst/>
          </a:prstGeom>
        </p:spPr>
      </p:pic>
      <p:sp>
        <p:nvSpPr>
          <p:cNvPr id="35" name="Text 27"/>
          <p:cNvSpPr txBox="1"/>
          <p:nvPr/>
        </p:nvSpPr>
        <p:spPr>
          <a:xfrm>
            <a:off x="4709160" y="5157216"/>
            <a:ext cx="2057400" cy="402336"/>
          </a:xfrm>
          <a:prstGeom prst="rect">
            <a:avLst/>
          </a:prstGeom>
          <a:noFill/>
          <a:ln/>
        </p:spPr>
        <p:txBody>
          <a:bodyPr wrap="square" lIns="0" tIns="0" rIns="0" bIns="0" rtlCol="0" anchor="ctr"/>
          <a:lstStyle/>
          <a:p>
            <a:pPr marL="0" indent="0">
              <a:buNone/>
            </a:pPr>
            <a:r>
              <a:rPr lang="en-US" sz="1150" dirty="0">
                <a:solidFill>
                  <a:srgbClr val="13342A"/>
                </a:solidFill>
                <a:latin typeface="Calibri" pitchFamily="34" charset="0"/>
                <a:ea typeface="Calibri" pitchFamily="34" charset="-122"/>
                <a:cs typeface="Calibri" pitchFamily="34" charset="-120"/>
              </a:rPr>
              <a:t>Requires only one additional grocery ingredient.</a:t>
            </a:r>
            <a:endParaRPr lang="en-US" sz="1150" dirty="0"/>
          </a:p>
        </p:txBody>
      </p:sp>
      <p:sp>
        <p:nvSpPr>
          <p:cNvPr id="36" name="Text 28"/>
          <p:cNvSpPr/>
          <p:nvPr/>
        </p:nvSpPr>
        <p:spPr>
          <a:xfrm>
            <a:off x="6793992" y="5239512"/>
            <a:ext cx="868680" cy="237744"/>
          </a:xfrm>
          <a:prstGeom prst="roundRect">
            <a:avLst>
              <a:gd name="adj" fmla="val 30769"/>
            </a:avLst>
          </a:prstGeom>
          <a:solidFill>
            <a:srgbClr val="E3EFE8"/>
          </a:solidFill>
          <a:ln/>
        </p:spPr>
        <p:txBody>
          <a:bodyPr wrap="square" lIns="0" tIns="0" rIns="0" bIns="0" rtlCol="0" anchor="ctr"/>
          <a:lstStyle/>
          <a:p>
            <a:pPr marL="0" indent="0" algn="ctr">
              <a:buNone/>
            </a:pPr>
            <a:r>
              <a:rPr lang="en-US" sz="850" b="1" dirty="0">
                <a:solidFill>
                  <a:srgbClr val="1F5C45"/>
                </a:solidFill>
                <a:latin typeface="Calibri" pitchFamily="34" charset="0"/>
                <a:ea typeface="Calibri" pitchFamily="34" charset="-122"/>
                <a:cs typeface="Calibri" pitchFamily="34" charset="-120"/>
              </a:rPr>
              <a:t>GROCERIES</a:t>
            </a:r>
            <a:endParaRPr lang="en-US" sz="850" dirty="0"/>
          </a:p>
        </p:txBody>
      </p:sp>
      <p:sp>
        <p:nvSpPr>
          <p:cNvPr id="37" name="Text 29"/>
          <p:cNvSpPr txBox="1"/>
          <p:nvPr/>
        </p:nvSpPr>
        <p:spPr>
          <a:xfrm>
            <a:off x="4206240" y="5797296"/>
            <a:ext cx="3657600" cy="402336"/>
          </a:xfrm>
          <a:prstGeom prst="rect">
            <a:avLst/>
          </a:prstGeom>
          <a:noFill/>
          <a:ln/>
        </p:spPr>
        <p:txBody>
          <a:bodyPr wrap="square" lIns="0" tIns="0" rIns="0" bIns="0" rtlCol="0" anchor="t"/>
          <a:lstStyle/>
          <a:p>
            <a:pPr marL="0" indent="0">
              <a:buNone/>
            </a:pPr>
            <a:r>
              <a:rPr lang="en-US" sz="1050" i="1" dirty="0">
                <a:solidFill>
                  <a:srgbClr val="5A6B63"/>
                </a:solidFill>
                <a:latin typeface="Calibri" pitchFamily="34" charset="0"/>
                <a:ea typeface="Calibri" pitchFamily="34" charset="-122"/>
                <a:cs typeface="Calibri" pitchFamily="34" charset="-120"/>
              </a:rPr>
              <a:t>Each factor comes straight from an optimiser cost term or rule; the LLM only puts it into words.</a:t>
            </a:r>
            <a:endParaRPr lang="en-US" sz="1050" dirty="0"/>
          </a:p>
        </p:txBody>
      </p:sp>
      <p:sp>
        <p:nvSpPr>
          <p:cNvPr id="38" name="Shape 30"/>
          <p:cNvSpPr/>
          <p:nvPr/>
        </p:nvSpPr>
        <p:spPr>
          <a:xfrm>
            <a:off x="8229600" y="1417320"/>
            <a:ext cx="3413455" cy="4855464"/>
          </a:xfrm>
          <a:prstGeom prst="roundRect">
            <a:avLst>
              <a:gd name="adj" fmla="val 3215"/>
            </a:avLst>
          </a:prstGeom>
          <a:solidFill>
            <a:srgbClr val="EEF5F1"/>
          </a:solidFill>
          <a:ln/>
        </p:spPr>
      </p:sp>
      <p:sp>
        <p:nvSpPr>
          <p:cNvPr id="39" name="Text 31"/>
          <p:cNvSpPr txBox="1"/>
          <p:nvPr/>
        </p:nvSpPr>
        <p:spPr>
          <a:xfrm>
            <a:off x="8458200" y="1572768"/>
            <a:ext cx="3047695" cy="237744"/>
          </a:xfrm>
          <a:prstGeom prst="rect">
            <a:avLst/>
          </a:prstGeom>
          <a:noFill/>
          <a:ln/>
        </p:spPr>
        <p:txBody>
          <a:bodyPr wrap="square" lIns="0" tIns="0" rIns="0" bIns="0" rtlCol="0" anchor="t"/>
          <a:lstStyle/>
          <a:p>
            <a:pPr marL="0" indent="0">
              <a:buNone/>
            </a:pPr>
            <a:r>
              <a:rPr lang="en-US" sz="1100" b="1" kern="0" spc="100" dirty="0">
                <a:solidFill>
                  <a:srgbClr val="D2652A"/>
                </a:solidFill>
                <a:latin typeface="Calibri" pitchFamily="34" charset="0"/>
                <a:ea typeface="Calibri" pitchFamily="34" charset="-122"/>
                <a:cs typeface="Calibri" pitchFamily="34" charset="-120"/>
              </a:rPr>
              <a:t>TYPES OF EXPLANATIONS</a:t>
            </a:r>
            <a:endParaRPr lang="en-US" sz="1100" dirty="0"/>
          </a:p>
        </p:txBody>
      </p:sp>
      <p:pic>
        <p:nvPicPr>
          <p:cNvPr id="40" name="Image 6" descr="preencoded.png"/>
          <p:cNvPicPr>
            <a:picLocks noChangeAspect="1"/>
          </p:cNvPicPr>
          <p:nvPr/>
        </p:nvPicPr>
        <p:blipFill>
          <a:blip r:embed="rId5"/>
          <a:stretch>
            <a:fillRect/>
          </a:stretch>
        </p:blipFill>
        <p:spPr>
          <a:xfrm>
            <a:off x="8458200" y="1938528"/>
            <a:ext cx="237744" cy="237744"/>
          </a:xfrm>
          <a:prstGeom prst="rect">
            <a:avLst/>
          </a:prstGeom>
        </p:spPr>
      </p:pic>
      <p:sp>
        <p:nvSpPr>
          <p:cNvPr id="41" name="Text 32"/>
          <p:cNvSpPr txBox="1"/>
          <p:nvPr/>
        </p:nvSpPr>
        <p:spPr>
          <a:xfrm>
            <a:off x="8778240" y="1920240"/>
            <a:ext cx="2681935" cy="274320"/>
          </a:xfrm>
          <a:prstGeom prst="rect">
            <a:avLst/>
          </a:prstGeom>
          <a:noFill/>
          <a:ln/>
        </p:spPr>
        <p:txBody>
          <a:bodyPr wrap="square" lIns="0" tIns="0" rIns="0" bIns="0" rtlCol="0" anchor="ctr"/>
          <a:lstStyle/>
          <a:p>
            <a:pPr marL="0" indent="0">
              <a:buNone/>
            </a:pPr>
            <a:r>
              <a:rPr lang="en-US" sz="1250" b="1" dirty="0">
                <a:solidFill>
                  <a:srgbClr val="13342A"/>
                </a:solidFill>
                <a:latin typeface="Calibri" pitchFamily="34" charset="0"/>
                <a:ea typeface="Calibri" pitchFamily="34" charset="-122"/>
                <a:cs typeface="Calibri" pitchFamily="34" charset="-120"/>
              </a:rPr>
              <a:t>Expiry</a:t>
            </a:r>
            <a:endParaRPr lang="en-US" sz="1250" dirty="0"/>
          </a:p>
        </p:txBody>
      </p:sp>
      <p:sp>
        <p:nvSpPr>
          <p:cNvPr id="42" name="Text 33"/>
          <p:cNvSpPr txBox="1"/>
          <p:nvPr/>
        </p:nvSpPr>
        <p:spPr>
          <a:xfrm>
            <a:off x="8458200" y="2212848"/>
            <a:ext cx="3001975" cy="219456"/>
          </a:xfrm>
          <a:prstGeom prst="rect">
            <a:avLst/>
          </a:prstGeom>
          <a:noFill/>
          <a:ln/>
        </p:spPr>
        <p:txBody>
          <a:bodyPr wrap="square" lIns="0" tIns="0" rIns="0" bIns="0" rtlCol="0" anchor="t"/>
          <a:lstStyle/>
          <a:p>
            <a:pPr marL="0" indent="0">
              <a:buNone/>
            </a:pPr>
            <a:r>
              <a:rPr lang="en-US" sz="1100" i="1" dirty="0">
                <a:solidFill>
                  <a:srgbClr val="1E2B26"/>
                </a:solidFill>
                <a:latin typeface="Calibri" pitchFamily="34" charset="0"/>
                <a:ea typeface="Calibri" pitchFamily="34" charset="-122"/>
                <a:cs typeface="Calibri" pitchFamily="34" charset="-120"/>
              </a:rPr>
              <a:t>“Scheduled earlier because spinach expires first.”</a:t>
            </a:r>
            <a:endParaRPr lang="en-US" sz="1100" dirty="0"/>
          </a:p>
        </p:txBody>
      </p:sp>
      <p:pic>
        <p:nvPicPr>
          <p:cNvPr id="43" name="Image 7" descr="preencoded.png"/>
          <p:cNvPicPr>
            <a:picLocks noChangeAspect="1"/>
          </p:cNvPicPr>
          <p:nvPr/>
        </p:nvPicPr>
        <p:blipFill>
          <a:blip r:embed="rId6"/>
          <a:stretch>
            <a:fillRect/>
          </a:stretch>
        </p:blipFill>
        <p:spPr>
          <a:xfrm>
            <a:off x="8458200" y="2578608"/>
            <a:ext cx="237744" cy="237744"/>
          </a:xfrm>
          <a:prstGeom prst="rect">
            <a:avLst/>
          </a:prstGeom>
        </p:spPr>
      </p:pic>
      <p:sp>
        <p:nvSpPr>
          <p:cNvPr id="44" name="Text 34"/>
          <p:cNvSpPr txBox="1"/>
          <p:nvPr/>
        </p:nvSpPr>
        <p:spPr>
          <a:xfrm>
            <a:off x="8778240" y="2560320"/>
            <a:ext cx="2681935" cy="274320"/>
          </a:xfrm>
          <a:prstGeom prst="rect">
            <a:avLst/>
          </a:prstGeom>
          <a:noFill/>
          <a:ln/>
        </p:spPr>
        <p:txBody>
          <a:bodyPr wrap="square" lIns="0" tIns="0" rIns="0" bIns="0" rtlCol="0" anchor="ctr"/>
          <a:lstStyle/>
          <a:p>
            <a:pPr marL="0" indent="0">
              <a:buNone/>
            </a:pPr>
            <a:r>
              <a:rPr lang="en-US" sz="1250" b="1" dirty="0">
                <a:solidFill>
                  <a:srgbClr val="13342A"/>
                </a:solidFill>
                <a:latin typeface="Calibri" pitchFamily="34" charset="0"/>
                <a:ea typeface="Calibri" pitchFamily="34" charset="-122"/>
                <a:cs typeface="Calibri" pitchFamily="34" charset="-120"/>
              </a:rPr>
              <a:t>Nutrition</a:t>
            </a:r>
            <a:endParaRPr lang="en-US" sz="1250" dirty="0"/>
          </a:p>
        </p:txBody>
      </p:sp>
      <p:sp>
        <p:nvSpPr>
          <p:cNvPr id="45" name="Text 35"/>
          <p:cNvSpPr txBox="1"/>
          <p:nvPr/>
        </p:nvSpPr>
        <p:spPr>
          <a:xfrm>
            <a:off x="8458200" y="2852928"/>
            <a:ext cx="3001975" cy="219456"/>
          </a:xfrm>
          <a:prstGeom prst="rect">
            <a:avLst/>
          </a:prstGeom>
          <a:noFill/>
          <a:ln/>
        </p:spPr>
        <p:txBody>
          <a:bodyPr wrap="square" lIns="0" tIns="0" rIns="0" bIns="0" rtlCol="0" anchor="t"/>
          <a:lstStyle/>
          <a:p>
            <a:pPr marL="0" indent="0">
              <a:buNone/>
            </a:pPr>
            <a:r>
              <a:rPr lang="en-US" sz="1100" i="1" dirty="0">
                <a:solidFill>
                  <a:srgbClr val="1E2B26"/>
                </a:solidFill>
                <a:latin typeface="Calibri" pitchFamily="34" charset="0"/>
                <a:ea typeface="Calibri" pitchFamily="34" charset="-122"/>
                <a:cs typeface="Calibri" pitchFamily="34" charset="-120"/>
              </a:rPr>
              <a:t>“Selected to improve this week's protein target.”</a:t>
            </a:r>
            <a:endParaRPr lang="en-US" sz="1100" dirty="0"/>
          </a:p>
        </p:txBody>
      </p:sp>
      <p:pic>
        <p:nvPicPr>
          <p:cNvPr id="46" name="Image 8" descr="preencoded.png"/>
          <p:cNvPicPr>
            <a:picLocks noChangeAspect="1"/>
          </p:cNvPicPr>
          <p:nvPr/>
        </p:nvPicPr>
        <p:blipFill>
          <a:blip r:embed="rId7"/>
          <a:stretch>
            <a:fillRect/>
          </a:stretch>
        </p:blipFill>
        <p:spPr>
          <a:xfrm>
            <a:off x="8458200" y="3218688"/>
            <a:ext cx="237744" cy="237744"/>
          </a:xfrm>
          <a:prstGeom prst="rect">
            <a:avLst/>
          </a:prstGeom>
        </p:spPr>
      </p:pic>
      <p:sp>
        <p:nvSpPr>
          <p:cNvPr id="47" name="Text 36"/>
          <p:cNvSpPr txBox="1"/>
          <p:nvPr/>
        </p:nvSpPr>
        <p:spPr>
          <a:xfrm>
            <a:off x="8778240" y="3200400"/>
            <a:ext cx="2681935" cy="274320"/>
          </a:xfrm>
          <a:prstGeom prst="rect">
            <a:avLst/>
          </a:prstGeom>
          <a:noFill/>
          <a:ln/>
        </p:spPr>
        <p:txBody>
          <a:bodyPr wrap="square" lIns="0" tIns="0" rIns="0" bIns="0" rtlCol="0" anchor="ctr"/>
          <a:lstStyle/>
          <a:p>
            <a:pPr marL="0" indent="0">
              <a:buNone/>
            </a:pPr>
            <a:r>
              <a:rPr lang="en-US" sz="1250" b="1" dirty="0">
                <a:solidFill>
                  <a:srgbClr val="13342A"/>
                </a:solidFill>
                <a:latin typeface="Calibri" pitchFamily="34" charset="0"/>
                <a:ea typeface="Calibri" pitchFamily="34" charset="-122"/>
                <a:cs typeface="Calibri" pitchFamily="34" charset="-120"/>
              </a:rPr>
              <a:t>Pantry</a:t>
            </a:r>
            <a:endParaRPr lang="en-US" sz="1250" dirty="0"/>
          </a:p>
        </p:txBody>
      </p:sp>
      <p:sp>
        <p:nvSpPr>
          <p:cNvPr id="48" name="Text 37"/>
          <p:cNvSpPr txBox="1"/>
          <p:nvPr/>
        </p:nvSpPr>
        <p:spPr>
          <a:xfrm>
            <a:off x="8458200" y="3493008"/>
            <a:ext cx="3001975" cy="219456"/>
          </a:xfrm>
          <a:prstGeom prst="rect">
            <a:avLst/>
          </a:prstGeom>
          <a:noFill/>
          <a:ln/>
        </p:spPr>
        <p:txBody>
          <a:bodyPr wrap="square" lIns="0" tIns="0" rIns="0" bIns="0" rtlCol="0" anchor="t"/>
          <a:lstStyle/>
          <a:p>
            <a:pPr marL="0" indent="0">
              <a:buNone/>
            </a:pPr>
            <a:r>
              <a:rPr lang="en-US" sz="1100" i="1" dirty="0">
                <a:solidFill>
                  <a:srgbClr val="1E2B26"/>
                </a:solidFill>
                <a:latin typeface="Calibri" pitchFamily="34" charset="0"/>
                <a:ea typeface="Calibri" pitchFamily="34" charset="-122"/>
                <a:cs typeface="Calibri" pitchFamily="34" charset="-120"/>
              </a:rPr>
              <a:t>“Uses three ingredients already available.”</a:t>
            </a:r>
            <a:endParaRPr lang="en-US" sz="1100" dirty="0"/>
          </a:p>
        </p:txBody>
      </p:sp>
      <p:pic>
        <p:nvPicPr>
          <p:cNvPr id="49" name="Image 9" descr="preencoded.png"/>
          <p:cNvPicPr>
            <a:picLocks noChangeAspect="1"/>
          </p:cNvPicPr>
          <p:nvPr/>
        </p:nvPicPr>
        <p:blipFill>
          <a:blip r:embed="rId8"/>
          <a:stretch>
            <a:fillRect/>
          </a:stretch>
        </p:blipFill>
        <p:spPr>
          <a:xfrm>
            <a:off x="8458200" y="3858768"/>
            <a:ext cx="237744" cy="237744"/>
          </a:xfrm>
          <a:prstGeom prst="rect">
            <a:avLst/>
          </a:prstGeom>
        </p:spPr>
      </p:pic>
      <p:sp>
        <p:nvSpPr>
          <p:cNvPr id="50" name="Text 38"/>
          <p:cNvSpPr txBox="1"/>
          <p:nvPr/>
        </p:nvSpPr>
        <p:spPr>
          <a:xfrm>
            <a:off x="8778240" y="3840480"/>
            <a:ext cx="2681935" cy="274320"/>
          </a:xfrm>
          <a:prstGeom prst="rect">
            <a:avLst/>
          </a:prstGeom>
          <a:noFill/>
          <a:ln/>
        </p:spPr>
        <p:txBody>
          <a:bodyPr wrap="square" lIns="0" tIns="0" rIns="0" bIns="0" rtlCol="0" anchor="ctr"/>
          <a:lstStyle/>
          <a:p>
            <a:pPr marL="0" indent="0">
              <a:buNone/>
            </a:pPr>
            <a:r>
              <a:rPr lang="en-US" sz="1250" b="1" dirty="0">
                <a:solidFill>
                  <a:srgbClr val="13342A"/>
                </a:solidFill>
                <a:latin typeface="Calibri" pitchFamily="34" charset="0"/>
                <a:ea typeface="Calibri" pitchFamily="34" charset="-122"/>
                <a:cs typeface="Calibri" pitchFamily="34" charset="-120"/>
              </a:rPr>
              <a:t>Preference</a:t>
            </a:r>
            <a:endParaRPr lang="en-US" sz="1250" dirty="0"/>
          </a:p>
        </p:txBody>
      </p:sp>
      <p:sp>
        <p:nvSpPr>
          <p:cNvPr id="51" name="Text 39"/>
          <p:cNvSpPr txBox="1"/>
          <p:nvPr/>
        </p:nvSpPr>
        <p:spPr>
          <a:xfrm>
            <a:off x="8458200" y="4133088"/>
            <a:ext cx="3001975" cy="219456"/>
          </a:xfrm>
          <a:prstGeom prst="rect">
            <a:avLst/>
          </a:prstGeom>
          <a:noFill/>
          <a:ln/>
        </p:spPr>
        <p:txBody>
          <a:bodyPr wrap="square" lIns="0" tIns="0" rIns="0" bIns="0" rtlCol="0" anchor="t"/>
          <a:lstStyle/>
          <a:p>
            <a:pPr marL="0" indent="0">
              <a:buNone/>
            </a:pPr>
            <a:r>
              <a:rPr lang="en-US" sz="1100" i="1" dirty="0">
                <a:solidFill>
                  <a:srgbClr val="1E2B26"/>
                </a:solidFill>
                <a:latin typeface="Calibri" pitchFamily="34" charset="0"/>
                <a:ea typeface="Calibri" pitchFamily="34" charset="-122"/>
                <a:cs typeface="Calibri" pitchFamily="34" charset="-120"/>
              </a:rPr>
              <a:t>“Matches your preference for Indian cuisine.”</a:t>
            </a:r>
            <a:endParaRPr lang="en-US" sz="1100" dirty="0"/>
          </a:p>
        </p:txBody>
      </p:sp>
      <p:pic>
        <p:nvPicPr>
          <p:cNvPr id="52" name="Image 10" descr="preencoded.png"/>
          <p:cNvPicPr>
            <a:picLocks noChangeAspect="1"/>
          </p:cNvPicPr>
          <p:nvPr/>
        </p:nvPicPr>
        <p:blipFill>
          <a:blip r:embed="rId9"/>
          <a:stretch>
            <a:fillRect/>
          </a:stretch>
        </p:blipFill>
        <p:spPr>
          <a:xfrm>
            <a:off x="8458200" y="4498848"/>
            <a:ext cx="237744" cy="237744"/>
          </a:xfrm>
          <a:prstGeom prst="rect">
            <a:avLst/>
          </a:prstGeom>
        </p:spPr>
      </p:pic>
      <p:sp>
        <p:nvSpPr>
          <p:cNvPr id="53" name="Text 40"/>
          <p:cNvSpPr txBox="1"/>
          <p:nvPr/>
        </p:nvSpPr>
        <p:spPr>
          <a:xfrm>
            <a:off x="8778240" y="4480560"/>
            <a:ext cx="2681935" cy="274320"/>
          </a:xfrm>
          <a:prstGeom prst="rect">
            <a:avLst/>
          </a:prstGeom>
          <a:noFill/>
          <a:ln/>
        </p:spPr>
        <p:txBody>
          <a:bodyPr wrap="square" lIns="0" tIns="0" rIns="0" bIns="0" rtlCol="0" anchor="ctr"/>
          <a:lstStyle/>
          <a:p>
            <a:pPr marL="0" indent="0">
              <a:buNone/>
            </a:pPr>
            <a:r>
              <a:rPr lang="en-US" sz="1250" b="1" dirty="0">
                <a:solidFill>
                  <a:srgbClr val="13342A"/>
                </a:solidFill>
                <a:latin typeface="Calibri" pitchFamily="34" charset="0"/>
                <a:ea typeface="Calibri" pitchFamily="34" charset="-122"/>
                <a:cs typeface="Calibri" pitchFamily="34" charset="-120"/>
              </a:rPr>
              <a:t>Constraint</a:t>
            </a:r>
            <a:endParaRPr lang="en-US" sz="1250" dirty="0"/>
          </a:p>
        </p:txBody>
      </p:sp>
      <p:sp>
        <p:nvSpPr>
          <p:cNvPr id="54" name="Text 41"/>
          <p:cNvSpPr txBox="1"/>
          <p:nvPr/>
        </p:nvSpPr>
        <p:spPr>
          <a:xfrm>
            <a:off x="8458200" y="4773168"/>
            <a:ext cx="3001975" cy="402336"/>
          </a:xfrm>
          <a:prstGeom prst="rect">
            <a:avLst/>
          </a:prstGeom>
          <a:noFill/>
          <a:ln/>
        </p:spPr>
        <p:txBody>
          <a:bodyPr wrap="square" lIns="0" tIns="0" rIns="0" bIns="0" rtlCol="0" anchor="t"/>
          <a:lstStyle/>
          <a:p>
            <a:pPr marL="0" indent="0">
              <a:buNone/>
            </a:pPr>
            <a:r>
              <a:rPr lang="en-US" sz="1100" i="1" dirty="0">
                <a:solidFill>
                  <a:srgbClr val="1E2B26"/>
                </a:solidFill>
                <a:latin typeface="Calibri" pitchFamily="34" charset="0"/>
                <a:ea typeface="Calibri" pitchFamily="34" charset="-122"/>
                <a:cs typeface="Calibri" pitchFamily="34" charset="-120"/>
              </a:rPr>
              <a:t>“Recipe X was excluded because it violates your peanut allergy.”</a:t>
            </a:r>
            <a:endParaRPr lang="en-US" sz="1100" dirty="0"/>
          </a:p>
        </p:txBody>
      </p:sp>
      <p:pic>
        <p:nvPicPr>
          <p:cNvPr id="55" name="Image 11" descr="preencoded.png"/>
          <p:cNvPicPr>
            <a:picLocks noChangeAspect="1"/>
          </p:cNvPicPr>
          <p:nvPr/>
        </p:nvPicPr>
        <p:blipFill>
          <a:blip r:embed="rId10"/>
          <a:stretch>
            <a:fillRect/>
          </a:stretch>
        </p:blipFill>
        <p:spPr>
          <a:xfrm>
            <a:off x="8458200" y="5321808"/>
            <a:ext cx="237744" cy="237744"/>
          </a:xfrm>
          <a:prstGeom prst="rect">
            <a:avLst/>
          </a:prstGeom>
        </p:spPr>
      </p:pic>
      <p:sp>
        <p:nvSpPr>
          <p:cNvPr id="56" name="Text 42"/>
          <p:cNvSpPr txBox="1"/>
          <p:nvPr/>
        </p:nvSpPr>
        <p:spPr>
          <a:xfrm>
            <a:off x="8778240" y="5303520"/>
            <a:ext cx="2681935" cy="274320"/>
          </a:xfrm>
          <a:prstGeom prst="rect">
            <a:avLst/>
          </a:prstGeom>
          <a:noFill/>
          <a:ln/>
        </p:spPr>
        <p:txBody>
          <a:bodyPr wrap="square" lIns="0" tIns="0" rIns="0" bIns="0" rtlCol="0" anchor="ctr"/>
          <a:lstStyle/>
          <a:p>
            <a:pPr marL="0" indent="0">
              <a:buNone/>
            </a:pPr>
            <a:r>
              <a:rPr lang="en-US" sz="1250" b="1" dirty="0">
                <a:solidFill>
                  <a:srgbClr val="13342A"/>
                </a:solidFill>
                <a:latin typeface="Calibri" pitchFamily="34" charset="0"/>
                <a:ea typeface="Calibri" pitchFamily="34" charset="-122"/>
                <a:cs typeface="Calibri" pitchFamily="34" charset="-120"/>
              </a:rPr>
              <a:t>Substitution</a:t>
            </a:r>
            <a:endParaRPr lang="en-US" sz="1250" dirty="0"/>
          </a:p>
        </p:txBody>
      </p:sp>
      <p:sp>
        <p:nvSpPr>
          <p:cNvPr id="57" name="Text 43"/>
          <p:cNvSpPr txBox="1"/>
          <p:nvPr/>
        </p:nvSpPr>
        <p:spPr>
          <a:xfrm>
            <a:off x="8458200" y="5596128"/>
            <a:ext cx="3001975" cy="402336"/>
          </a:xfrm>
          <a:prstGeom prst="rect">
            <a:avLst/>
          </a:prstGeom>
          <a:noFill/>
          <a:ln/>
        </p:spPr>
        <p:txBody>
          <a:bodyPr wrap="square" lIns="0" tIns="0" rIns="0" bIns="0" rtlCol="0" anchor="t"/>
          <a:lstStyle/>
          <a:p>
            <a:pPr marL="0" indent="0">
              <a:buNone/>
            </a:pPr>
            <a:r>
              <a:rPr lang="en-US" sz="1100" i="1" dirty="0">
                <a:solidFill>
                  <a:srgbClr val="1E2B26"/>
                </a:solidFill>
                <a:latin typeface="Calibri" pitchFamily="34" charset="0"/>
                <a:ea typeface="Calibri" pitchFamily="34" charset="-122"/>
                <a:cs typeface="Calibri" pitchFamily="34" charset="-120"/>
              </a:rPr>
              <a:t>“Buttermilk replaced with milk + lemon using available ingredients.”</a:t>
            </a:r>
            <a:endParaRPr lang="en-US" sz="1100" dirty="0"/>
          </a:p>
        </p:txBody>
      </p:sp>
      <p:sp>
        <p:nvSpPr>
          <p:cNvPr id="58" name="Text 44"/>
          <p:cNvSpPr txBox="1"/>
          <p:nvPr/>
        </p:nvSpPr>
        <p:spPr>
          <a:xfrm>
            <a:off x="548640" y="6419088"/>
            <a:ext cx="5486400" cy="256032"/>
          </a:xfrm>
          <a:prstGeom prst="rect">
            <a:avLst/>
          </a:prstGeom>
          <a:noFill/>
          <a:ln/>
        </p:spPr>
        <p:txBody>
          <a:bodyPr wrap="square" lIns="0" tIns="0" rIns="0" bIns="0" rtlCol="0" anchor="t"/>
          <a:lstStyle/>
          <a:p>
            <a:pPr marL="0" indent="0">
              <a:buNone/>
            </a:pPr>
            <a:r>
              <a:rPr lang="en-US" sz="1000" dirty="0">
                <a:solidFill>
                  <a:srgbClr val="5A6B63"/>
                </a:solidFill>
                <a:latin typeface="Calibri" pitchFamily="34" charset="0"/>
                <a:ea typeface="Calibri" pitchFamily="34" charset="-122"/>
                <a:cs typeface="Calibri" pitchFamily="34" charset="-120"/>
              </a:rPr>
              <a:t>Pantry-to-Plate  ·  IRS Practice Module</a:t>
            </a:r>
            <a:endParaRPr lang="en-US" sz="1000" dirty="0"/>
          </a:p>
        </p:txBody>
      </p:sp>
      <p:sp>
        <p:nvSpPr>
          <p:cNvPr id="59" name="Text 45"/>
          <p:cNvSpPr txBox="1"/>
          <p:nvPr/>
        </p:nvSpPr>
        <p:spPr>
          <a:xfrm>
            <a:off x="10271455" y="6419088"/>
            <a:ext cx="1371600" cy="256032"/>
          </a:xfrm>
          <a:prstGeom prst="rect">
            <a:avLst/>
          </a:prstGeom>
          <a:noFill/>
          <a:ln/>
        </p:spPr>
        <p:txBody>
          <a:bodyPr wrap="square" lIns="0" tIns="0" rIns="0" bIns="0" rtlCol="0" anchor="t"/>
          <a:lstStyle/>
          <a:p>
            <a:pPr marL="0" indent="0" algn="r">
              <a:buNone/>
            </a:pPr>
            <a:r>
              <a:rPr lang="en-US" sz="1000" dirty="0">
                <a:solidFill>
                  <a:srgbClr val="5A6B63"/>
                </a:solidFill>
                <a:latin typeface="Calibri" pitchFamily="34" charset="0"/>
                <a:ea typeface="Calibri" pitchFamily="34" charset="-122"/>
                <a:cs typeface="Calibri" pitchFamily="34" charset="-120"/>
              </a:rPr>
              <a:t>9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3342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marL="0" indent="0">
              <a:buNone/>
            </a:pPr>
            <a:r>
              <a:rPr lang="en-US" sz="1200" b="1" kern="0" spc="150" dirty="0">
                <a:solidFill>
                  <a:srgbClr val="F4A261"/>
                </a:solidFill>
                <a:latin typeface="Calibri" pitchFamily="34" charset="0"/>
                <a:ea typeface="Calibri" pitchFamily="34" charset="-122"/>
                <a:cs typeface="Calibri" pitchFamily="34" charset="-120"/>
              </a:rPr>
              <a:t>DEMO &amp; NEXT STEPS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Demo flow and next steps</a:t>
            </a:r>
            <a:endParaRPr lang="en-US" sz="3200" dirty="0"/>
          </a:p>
        </p:txBody>
      </p:sp>
      <p:sp>
        <p:nvSpPr>
          <p:cNvPr id="4" name="Text 2"/>
          <p:cNvSpPr txBox="1"/>
          <p:nvPr/>
        </p:nvSpPr>
        <p:spPr>
          <a:xfrm>
            <a:off x="548640" y="1463040"/>
            <a:ext cx="5486400" cy="237744"/>
          </a:xfrm>
          <a:prstGeom prst="rect">
            <a:avLst/>
          </a:prstGeom>
          <a:noFill/>
          <a:ln/>
        </p:spPr>
        <p:txBody>
          <a:bodyPr wrap="square" lIns="0" tIns="0" rIns="0" bIns="0" rtlCol="0" anchor="t"/>
          <a:lstStyle/>
          <a:p>
            <a:pPr marL="0" indent="0">
              <a:buNone/>
            </a:pPr>
            <a:r>
              <a:rPr lang="en-US" sz="1100" b="1" kern="0" spc="100" dirty="0">
                <a:solidFill>
                  <a:srgbClr val="F4A261"/>
                </a:solidFill>
                <a:latin typeface="Calibri" pitchFamily="34" charset="0"/>
                <a:ea typeface="Calibri" pitchFamily="34" charset="-122"/>
                <a:cs typeface="Calibri" pitchFamily="34" charset="-120"/>
              </a:rPr>
              <a:t>EXPECTED DEMO</a:t>
            </a:r>
            <a:endParaRPr lang="en-US" sz="1100" dirty="0"/>
          </a:p>
        </p:txBody>
      </p:sp>
      <p:sp>
        <p:nvSpPr>
          <p:cNvPr id="5" name="Text 3"/>
          <p:cNvSpPr/>
          <p:nvPr/>
        </p:nvSpPr>
        <p:spPr>
          <a:xfrm>
            <a:off x="548640" y="1965960"/>
            <a:ext cx="384048" cy="384048"/>
          </a:xfrm>
          <a:prstGeom prst="ellipse">
            <a:avLst/>
          </a:prstGeom>
          <a:solidFill>
            <a:srgbClr val="D2652A"/>
          </a:solid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115568" y="1783080"/>
            <a:ext cx="5440680" cy="7498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Input: </a:t>
            </a:r>
            <a:r>
              <a:rPr lang="en-US" sz="1300" dirty="0">
                <a:solidFill>
                  <a:srgbClr val="CFE3D8"/>
                </a:solidFill>
                <a:latin typeface="Calibri" pitchFamily="34" charset="0"/>
                <a:ea typeface="Calibri" pitchFamily="34" charset="-122"/>
                <a:cs typeface="Calibri" pitchFamily="34" charset="-120"/>
              </a:rPr>
              <a:t>the user types “half a cabbage, paneer, four eggs and spinach getting old” and picks vegetarian, cuisines, dislikes, a nutrition target and a weekday time limit</a:t>
            </a:r>
            <a:endParaRPr lang="en-US" sz="1300" dirty="0"/>
          </a:p>
        </p:txBody>
      </p:sp>
      <p:sp>
        <p:nvSpPr>
          <p:cNvPr id="7" name="Text 5"/>
          <p:cNvSpPr/>
          <p:nvPr/>
        </p:nvSpPr>
        <p:spPr>
          <a:xfrm>
            <a:off x="548640" y="2862072"/>
            <a:ext cx="384048" cy="384048"/>
          </a:xfrm>
          <a:prstGeom prst="ellipse">
            <a:avLst/>
          </a:prstGeom>
          <a:solidFill>
            <a:srgbClr val="D2652A"/>
          </a:solid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8" name="Text 6"/>
          <p:cNvSpPr txBox="1"/>
          <p:nvPr/>
        </p:nvSpPr>
        <p:spPr>
          <a:xfrm>
            <a:off x="1115568" y="2679192"/>
            <a:ext cx="5440680" cy="7498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Reasoning: </a:t>
            </a:r>
            <a:r>
              <a:rPr lang="en-US" sz="1300" dirty="0">
                <a:solidFill>
                  <a:srgbClr val="CFE3D8"/>
                </a:solidFill>
                <a:latin typeface="Calibri" pitchFamily="34" charset="0"/>
                <a:ea typeface="Calibri" pitchFamily="34" charset="-122"/>
                <a:cs typeface="Calibri" pitchFamily="34" charset="-120"/>
              </a:rPr>
              <a:t>the system structures the pantry, flags urgent items, filters infeasible recipes and optimises the week</a:t>
            </a:r>
            <a:endParaRPr lang="en-US" sz="1300" dirty="0"/>
          </a:p>
        </p:txBody>
      </p:sp>
      <p:sp>
        <p:nvSpPr>
          <p:cNvPr id="9" name="Text 7"/>
          <p:cNvSpPr/>
          <p:nvPr/>
        </p:nvSpPr>
        <p:spPr>
          <a:xfrm>
            <a:off x="548640" y="3758184"/>
            <a:ext cx="384048" cy="384048"/>
          </a:xfrm>
          <a:prstGeom prst="ellipse">
            <a:avLst/>
          </a:prstGeom>
          <a:solidFill>
            <a:srgbClr val="D2652A"/>
          </a:solid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0" name="Text 8"/>
          <p:cNvSpPr txBox="1"/>
          <p:nvPr/>
        </p:nvSpPr>
        <p:spPr>
          <a:xfrm>
            <a:off x="1115568" y="3575304"/>
            <a:ext cx="5440680" cy="7498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Output: </a:t>
            </a:r>
            <a:r>
              <a:rPr lang="en-US" sz="1300" dirty="0">
                <a:solidFill>
                  <a:srgbClr val="CFE3D8"/>
                </a:solidFill>
                <a:latin typeface="Calibri" pitchFamily="34" charset="0"/>
                <a:ea typeface="Calibri" pitchFamily="34" charset="-122"/>
                <a:cs typeface="Calibri" pitchFamily="34" charset="-120"/>
              </a:rPr>
              <a:t>seven dinners with pantry utilisation, predicted unused food, extra groceries and weekly nutrition</a:t>
            </a:r>
            <a:endParaRPr lang="en-US" sz="1300" dirty="0"/>
          </a:p>
        </p:txBody>
      </p:sp>
      <p:sp>
        <p:nvSpPr>
          <p:cNvPr id="11" name="Text 9"/>
          <p:cNvSpPr/>
          <p:nvPr/>
        </p:nvSpPr>
        <p:spPr>
          <a:xfrm>
            <a:off x="548640" y="4654296"/>
            <a:ext cx="384048" cy="384048"/>
          </a:xfrm>
          <a:prstGeom prst="ellipse">
            <a:avLst/>
          </a:prstGeom>
          <a:solidFill>
            <a:srgbClr val="D2652A"/>
          </a:solid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2" name="Text 10"/>
          <p:cNvSpPr txBox="1"/>
          <p:nvPr/>
        </p:nvSpPr>
        <p:spPr>
          <a:xfrm>
            <a:off x="1115568" y="4471416"/>
            <a:ext cx="5440680" cy="7498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Explanation: </a:t>
            </a:r>
            <a:r>
              <a:rPr lang="en-US" sz="1300" dirty="0">
                <a:solidFill>
                  <a:srgbClr val="CFE3D8"/>
                </a:solidFill>
                <a:latin typeface="Calibri" pitchFamily="34" charset="0"/>
                <a:ea typeface="Calibri" pitchFamily="34" charset="-122"/>
                <a:cs typeface="Calibri" pitchFamily="34" charset="-120"/>
              </a:rPr>
              <a:t>each meal explains itself, and the final screen produces the personalised grocery box</a:t>
            </a:r>
            <a:endParaRPr lang="en-US" sz="1300" dirty="0"/>
          </a:p>
        </p:txBody>
      </p:sp>
      <p:sp>
        <p:nvSpPr>
          <p:cNvPr id="13" name="Shape 11"/>
          <p:cNvSpPr/>
          <p:nvPr/>
        </p:nvSpPr>
        <p:spPr>
          <a:xfrm>
            <a:off x="6812280" y="1463040"/>
            <a:ext cx="4830775" cy="4041648"/>
          </a:xfrm>
          <a:prstGeom prst="roundRect">
            <a:avLst>
              <a:gd name="adj" fmla="val 2715"/>
            </a:avLst>
          </a:prstGeom>
          <a:solidFill>
            <a:srgbClr val="1F5C45"/>
          </a:solidFill>
          <a:ln/>
        </p:spPr>
      </p:sp>
      <p:sp>
        <p:nvSpPr>
          <p:cNvPr id="14" name="Text 12"/>
          <p:cNvSpPr txBox="1"/>
          <p:nvPr/>
        </p:nvSpPr>
        <p:spPr>
          <a:xfrm>
            <a:off x="7086600" y="1664208"/>
            <a:ext cx="4373575" cy="237744"/>
          </a:xfrm>
          <a:prstGeom prst="rect">
            <a:avLst/>
          </a:prstGeom>
          <a:noFill/>
          <a:ln/>
        </p:spPr>
        <p:txBody>
          <a:bodyPr wrap="square" lIns="0" tIns="0" rIns="0" bIns="0" rtlCol="0" anchor="t"/>
          <a:lstStyle/>
          <a:p>
            <a:pPr marL="0" indent="0">
              <a:buNone/>
            </a:pPr>
            <a:r>
              <a:rPr lang="en-US" sz="1100" b="1" kern="0" spc="100" dirty="0">
                <a:solidFill>
                  <a:srgbClr val="F4A261"/>
                </a:solidFill>
                <a:latin typeface="Calibri" pitchFamily="34" charset="0"/>
                <a:ea typeface="Calibri" pitchFamily="34" charset="-122"/>
                <a:cs typeface="Calibri" pitchFamily="34" charset="-120"/>
              </a:rPr>
              <a:t>NEXT STEPS: DATA FIRST</a:t>
            </a:r>
            <a:endParaRPr lang="en-US" sz="1100" dirty="0"/>
          </a:p>
        </p:txBody>
      </p:sp>
      <p:sp>
        <p:nvSpPr>
          <p:cNvPr id="15" name="Text 13"/>
          <p:cNvSpPr/>
          <p:nvPr/>
        </p:nvSpPr>
        <p:spPr>
          <a:xfrm>
            <a:off x="7086600" y="2084832"/>
            <a:ext cx="310896" cy="310896"/>
          </a:xfrm>
          <a:prstGeom prst="ellipse">
            <a:avLst/>
          </a:prstGeom>
          <a:solidFill>
            <a:srgbClr val="2A6E55"/>
          </a:solid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6" name="Text 14"/>
          <p:cNvSpPr txBox="1"/>
          <p:nvPr/>
        </p:nvSpPr>
        <p:spPr>
          <a:xfrm>
            <a:off x="7525512" y="2011680"/>
            <a:ext cx="3916375" cy="4754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Inspect Food.com, USDA FoodData Central and FoodKeeper schemas and licences</a:t>
            </a:r>
            <a:endParaRPr lang="en-US" sz="1250" dirty="0"/>
          </a:p>
        </p:txBody>
      </p:sp>
      <p:sp>
        <p:nvSpPr>
          <p:cNvPr id="17" name="Text 15"/>
          <p:cNvSpPr/>
          <p:nvPr/>
        </p:nvSpPr>
        <p:spPr>
          <a:xfrm>
            <a:off x="7086600" y="2633472"/>
            <a:ext cx="310896" cy="310896"/>
          </a:xfrm>
          <a:prstGeom prst="ellipse">
            <a:avLst/>
          </a:prstGeom>
          <a:solidFill>
            <a:srgbClr val="2A6E55"/>
          </a:solid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8" name="Text 16"/>
          <p:cNvSpPr txBox="1"/>
          <p:nvPr/>
        </p:nvSpPr>
        <p:spPr>
          <a:xfrm>
            <a:off x="7525512" y="2560320"/>
            <a:ext cx="3916375" cy="4754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Define canonical schemas; build parsing and canonicalisation</a:t>
            </a:r>
            <a:endParaRPr lang="en-US" sz="1250" dirty="0"/>
          </a:p>
        </p:txBody>
      </p:sp>
      <p:sp>
        <p:nvSpPr>
          <p:cNvPr id="19" name="Text 17"/>
          <p:cNvSpPr/>
          <p:nvPr/>
        </p:nvSpPr>
        <p:spPr>
          <a:xfrm>
            <a:off x="7086600" y="3182112"/>
            <a:ext cx="310896" cy="310896"/>
          </a:xfrm>
          <a:prstGeom prst="ellipse">
            <a:avLst/>
          </a:prstGeom>
          <a:solidFill>
            <a:srgbClr val="2A6E55"/>
          </a:solid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525512" y="3108960"/>
            <a:ext cx="3916375" cy="4754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Join to USDA and FoodKeeper, keeping provenance and confidence</a:t>
            </a:r>
            <a:endParaRPr lang="en-US" sz="1250" dirty="0"/>
          </a:p>
        </p:txBody>
      </p:sp>
      <p:sp>
        <p:nvSpPr>
          <p:cNvPr id="21" name="Text 19"/>
          <p:cNvSpPr/>
          <p:nvPr/>
        </p:nvSpPr>
        <p:spPr>
          <a:xfrm>
            <a:off x="7086600" y="3730752"/>
            <a:ext cx="310896" cy="310896"/>
          </a:xfrm>
          <a:prstGeom prst="ellipse">
            <a:avLst/>
          </a:prstGeom>
          <a:solidFill>
            <a:srgbClr val="2A6E55"/>
          </a:solid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2" name="Text 20"/>
          <p:cNvSpPr txBox="1"/>
          <p:nvPr/>
        </p:nvSpPr>
        <p:spPr>
          <a:xfrm>
            <a:off x="7525512" y="3657600"/>
            <a:ext cx="3916375" cy="47548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Freeze the synthetic benchmark and the labelled NLP set</a:t>
            </a:r>
            <a:endParaRPr lang="en-US" sz="1250" dirty="0"/>
          </a:p>
        </p:txBody>
      </p:sp>
      <p:sp>
        <p:nvSpPr>
          <p:cNvPr id="23" name="Text 21"/>
          <p:cNvSpPr/>
          <p:nvPr/>
        </p:nvSpPr>
        <p:spPr>
          <a:xfrm>
            <a:off x="7086600" y="4279392"/>
            <a:ext cx="310896" cy="310896"/>
          </a:xfrm>
          <a:prstGeom prst="ellipse">
            <a:avLst/>
          </a:prstGeom>
          <a:solidFill>
            <a:srgbClr val="D2652A"/>
          </a:solid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24" name="Text 22"/>
          <p:cNvSpPr txBox="1"/>
          <p:nvPr/>
        </p:nvSpPr>
        <p:spPr>
          <a:xfrm>
            <a:off x="7525512" y="4206240"/>
            <a:ext cx="3916375" cy="47548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Then compare the NLP method, rules, preference model and optimiser</a:t>
            </a:r>
            <a:endParaRPr lang="en-US" sz="1250" dirty="0"/>
          </a:p>
        </p:txBody>
      </p:sp>
      <p:sp>
        <p:nvSpPr>
          <p:cNvPr id="25" name="Text 23"/>
          <p:cNvSpPr txBox="1"/>
          <p:nvPr/>
        </p:nvSpPr>
        <p:spPr>
          <a:xfrm>
            <a:off x="7086600" y="4809744"/>
            <a:ext cx="4327855" cy="566928"/>
          </a:xfrm>
          <a:prstGeom prst="rect">
            <a:avLst/>
          </a:prstGeom>
          <a:noFill/>
          <a:ln/>
        </p:spPr>
        <p:txBody>
          <a:bodyPr wrap="square" lIns="0" tIns="0" rIns="0" bIns="0" rtlCol="0" anchor="t"/>
          <a:lstStyle/>
          <a:p>
            <a:pPr marL="0" indent="0">
              <a:buNone/>
            </a:pPr>
            <a:r>
              <a:rPr lang="en-US" sz="1200" b="1" i="1" dirty="0">
                <a:solidFill>
                  <a:srgbClr val="F4A261"/>
                </a:solidFill>
                <a:latin typeface="Calibri" pitchFamily="34" charset="0"/>
                <a:ea typeface="Calibri" pitchFamily="34" charset="-122"/>
                <a:cs typeface="Calibri" pitchFamily="34" charset="-120"/>
              </a:rPr>
              <a:t>Aim: </a:t>
            </a:r>
            <a:r>
              <a:rPr lang="en-US" sz="1200" i="1" dirty="0">
                <a:solidFill>
                  <a:srgbClr val="CFE3D8"/>
                </a:solidFill>
                <a:latin typeface="Calibri" pitchFamily="34" charset="0"/>
                <a:ea typeface="Calibri" pitchFamily="34" charset="-122"/>
                <a:cs typeface="Calibri" pitchFamily="34" charset="-120"/>
              </a:rPr>
              <a:t>evidence that explicit reasoning plus optimisation beats simple recipe matching, while staying explainable.</a:t>
            </a:r>
            <a:endParaRPr lang="en-US" sz="1200" dirty="0"/>
          </a:p>
        </p:txBody>
      </p:sp>
      <p:sp>
        <p:nvSpPr>
          <p:cNvPr id="26" name="Text 24"/>
          <p:cNvSpPr txBox="1"/>
          <p:nvPr/>
        </p:nvSpPr>
        <p:spPr>
          <a:xfrm>
            <a:off x="548640" y="5760720"/>
            <a:ext cx="640080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Thank you. 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2878</Words>
  <Application>Microsoft Office PowerPoint</Application>
  <PresentationFormat>Widescreen</PresentationFormat>
  <Paragraphs>337</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Pantry-to-Plate: Intelligent Nutrition, Pantry &amp; Grocery Planning System</dc:title>
  <dc:subject>NUS-ISS Intelligent Reasoning Systems practice module</dc:subject>
  <dc:creator>Aryan Chopra, Shreyash Sarade</dc:creator>
  <cp:lastModifiedBy>Sarade Shreyash Jitendra</cp:lastModifiedBy>
  <cp:revision>2</cp:revision>
  <dcterms:created xsi:type="dcterms:W3CDTF">2026-09-28T09:31:50Z</dcterms:created>
  <dcterms:modified xsi:type="dcterms:W3CDTF">2026-09-29T10:25:08Z</dcterms:modified>
</cp:coreProperties>
</file>